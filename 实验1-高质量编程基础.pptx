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>
  <p:sldMasterIdLst>
    <p:sldMasterId id="2147483911" r:id="rId1"/>
    <p:sldMasterId id="2147483913" r:id="rId2"/>
    <p:sldMasterId id="2147483924" r:id="rId3"/>
    <p:sldMasterId id="2147483930" r:id="rId4"/>
  </p:sldMasterIdLst>
  <p:notesMasterIdLst>
    <p:notesMasterId r:id="rId57"/>
  </p:notesMasterIdLst>
  <p:handoutMasterIdLst>
    <p:handoutMasterId r:id="rId58"/>
  </p:handoutMasterIdLst>
  <p:sldIdLst>
    <p:sldId id="428" r:id="rId5"/>
    <p:sldId id="317" r:id="rId6"/>
    <p:sldId id="259" r:id="rId7"/>
    <p:sldId id="401" r:id="rId8"/>
    <p:sldId id="374" r:id="rId9"/>
    <p:sldId id="387" r:id="rId10"/>
    <p:sldId id="400" r:id="rId11"/>
    <p:sldId id="327" r:id="rId12"/>
    <p:sldId id="405" r:id="rId13"/>
    <p:sldId id="455" r:id="rId14"/>
    <p:sldId id="399" r:id="rId15"/>
    <p:sldId id="406" r:id="rId16"/>
    <p:sldId id="382" r:id="rId17"/>
    <p:sldId id="336" r:id="rId18"/>
    <p:sldId id="408" r:id="rId19"/>
    <p:sldId id="398" r:id="rId20"/>
    <p:sldId id="389" r:id="rId21"/>
    <p:sldId id="324" r:id="rId22"/>
    <p:sldId id="397" r:id="rId23"/>
    <p:sldId id="388" r:id="rId24"/>
    <p:sldId id="340" r:id="rId25"/>
    <p:sldId id="339" r:id="rId26"/>
    <p:sldId id="341" r:id="rId27"/>
    <p:sldId id="342" r:id="rId28"/>
    <p:sldId id="343" r:id="rId29"/>
    <p:sldId id="344" r:id="rId30"/>
    <p:sldId id="417" r:id="rId31"/>
    <p:sldId id="338" r:id="rId32"/>
    <p:sldId id="418" r:id="rId33"/>
    <p:sldId id="403" r:id="rId34"/>
    <p:sldId id="396" r:id="rId35"/>
    <p:sldId id="390" r:id="rId36"/>
    <p:sldId id="457" r:id="rId37"/>
    <p:sldId id="385" r:id="rId38"/>
    <p:sldId id="420" r:id="rId39"/>
    <p:sldId id="425" r:id="rId40"/>
    <p:sldId id="429" r:id="rId41"/>
    <p:sldId id="456" r:id="rId42"/>
    <p:sldId id="411" r:id="rId43"/>
    <p:sldId id="334" r:id="rId44"/>
    <p:sldId id="348" r:id="rId45"/>
    <p:sldId id="458" r:id="rId46"/>
    <p:sldId id="351" r:id="rId47"/>
    <p:sldId id="353" r:id="rId48"/>
    <p:sldId id="358" r:id="rId49"/>
    <p:sldId id="363" r:id="rId50"/>
    <p:sldId id="432" r:id="rId51"/>
    <p:sldId id="395" r:id="rId52"/>
    <p:sldId id="433" r:id="rId53"/>
    <p:sldId id="321" r:id="rId54"/>
    <p:sldId id="394" r:id="rId55"/>
    <p:sldId id="316" r:id="rId56"/>
  </p:sldIdLst>
  <p:sldSz cx="12192000" cy="6858000"/>
  <p:notesSz cx="6797675" cy="9926638"/>
  <p:embeddedFontLst>
    <p:embeddedFont>
      <p:font typeface="Consolas" panose="020B0609020204030204" pitchFamily="49" charset="0"/>
      <p:regular r:id="rId59"/>
      <p:bold r:id="rId60"/>
      <p:italic r:id="rId61"/>
      <p:boldItalic r:id="rId62"/>
    </p:embeddedFont>
    <p:embeddedFont>
      <p:font typeface="Huawei Sans" panose="020C0503030203020204" pitchFamily="34" charset="0"/>
      <p:regular r:id="rId63"/>
      <p:bold r:id="rId64"/>
    </p:embeddedFont>
    <p:embeddedFont>
      <p:font typeface="方正兰亭黑简体" panose="02000000000000000000" pitchFamily="2" charset="-122"/>
      <p:regular r:id="rId65"/>
    </p:embeddedFont>
    <p:embeddedFont>
      <p:font typeface="微软雅黑" panose="020B0503020204020204" pitchFamily="34" charset="-122"/>
      <p:regular r:id="rId66"/>
      <p:bold r:id="rId67"/>
    </p:embeddedFont>
    <p:embeddedFont>
      <p:font typeface="微软雅黑" panose="020B0503020204020204" pitchFamily="34" charset="-122"/>
      <p:regular r:id="rId66"/>
      <p:bold r:id="rId67"/>
    </p:embeddedFont>
  </p:embeddedFontLst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userDrawn="1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uailujun" initials="S" lastIdx="1" clrIdx="0">
    <p:extLst>
      <p:ext uri="{19B8F6BF-5375-455C-9EA6-DF929625EA0E}">
        <p15:presenceInfo xmlns:p15="http://schemas.microsoft.com/office/powerpoint/2012/main" userId="S-1-5-21-147214757-305610072-1517763936-402554" providerId="AD"/>
      </p:ext>
    </p:extLst>
  </p:cmAuthor>
  <p:cmAuthor id="2" name="Wuxiaojun" initials="W" lastIdx="4" clrIdx="1">
    <p:extLst>
      <p:ext uri="{19B8F6BF-5375-455C-9EA6-DF929625EA0E}">
        <p15:presenceInfo xmlns:p15="http://schemas.microsoft.com/office/powerpoint/2012/main" userId="S-1-5-21-147214757-305610072-1517763936-50748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99CCCC"/>
    <a:srgbClr val="151515"/>
    <a:srgbClr val="575756"/>
    <a:srgbClr val="FFFFFF"/>
    <a:srgbClr val="DD4654"/>
    <a:srgbClr val="F3D2D5"/>
    <a:srgbClr val="E6A8AD"/>
    <a:srgbClr val="E57B84"/>
    <a:srgbClr val="E579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03" autoAdjust="0"/>
    <p:restoredTop sz="81904" autoAdjust="0"/>
  </p:normalViewPr>
  <p:slideViewPr>
    <p:cSldViewPr snapToGrid="0" snapToObjects="1">
      <p:cViewPr varScale="1">
        <p:scale>
          <a:sx n="68" d="100"/>
          <a:sy n="68" d="100"/>
        </p:scale>
        <p:origin x="560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45" d="100"/>
          <a:sy n="45" d="100"/>
        </p:scale>
        <p:origin x="1832" y="56"/>
      </p:cViewPr>
      <p:guideLst>
        <p:guide orient="horz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font" Target="fonts/font5.fntdata"/><Relationship Id="rId68" Type="http://schemas.openxmlformats.org/officeDocument/2006/relationships/commentAuthors" Target="commentAuthors.xml"/><Relationship Id="rId7" Type="http://schemas.openxmlformats.org/officeDocument/2006/relationships/slide" Target="slides/slide3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handoutMaster" Target="handoutMasters/handoutMaster1.xml"/><Relationship Id="rId66" Type="http://schemas.openxmlformats.org/officeDocument/2006/relationships/font" Target="fonts/font8.fntdata"/><Relationship Id="rId5" Type="http://schemas.openxmlformats.org/officeDocument/2006/relationships/slide" Target="slides/slide1.xml"/><Relationship Id="rId61" Type="http://schemas.openxmlformats.org/officeDocument/2006/relationships/font" Target="fonts/font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font" Target="fonts/font6.fntdata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4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Huawei Sans" panose="020C0503030203020204" pitchFamily="34" charset="0"/>
              </a:rPr>
              <a:t>10/31/2024</a:t>
            </a:fld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Huawei Sans" panose="020C0503030203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Huawei Sans" panose="020C0503030203020204" pitchFamily="34" charset="0"/>
              </a:rPr>
              <a:t>‹#›</a:t>
            </a:fld>
            <a:endParaRPr lang="en-US" dirty="0">
              <a:latin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62880" y="766800"/>
            <a:ext cx="5932800" cy="333774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t" anchorCtr="0"/>
          <a:lstStyle/>
          <a:p>
            <a:endParaRPr lang="en-US"/>
          </a:p>
        </p:txBody>
      </p:sp>
      <p:sp>
        <p:nvSpPr>
          <p:cNvPr id="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791" tIns="48396" rIns="96791" bIns="48396" numCol="1" anchor="t" anchorCtr="0" compatLnSpc="1">
            <a:prstTxWarp prst="textNoShape">
              <a:avLst/>
            </a:prstTxWarp>
          </a:bodyPr>
          <a:lstStyle/>
          <a:p>
            <a:pPr marL="180975" lvl="0" indent="-180975" fontAlgn="base">
              <a:spcBef>
                <a:spcPct val="0"/>
              </a:spcBef>
              <a:buSzPct val="70000"/>
              <a:buFont typeface="Wingdings" pitchFamily="2" charset="2"/>
              <a:buChar char="l"/>
            </a:pPr>
            <a:r>
              <a:rPr lang="en-US" dirty="0"/>
              <a:t>Edit Master text styles</a:t>
            </a:r>
          </a:p>
          <a:p>
            <a:pPr marL="541338" lvl="1" indent="-180975" fontAlgn="base">
              <a:spcBef>
                <a:spcPct val="0"/>
              </a:spcBef>
              <a:buSzPct val="60000"/>
              <a:buFont typeface="Wingdings" pitchFamily="2" charset="2"/>
              <a:buChar char="p"/>
            </a:pPr>
            <a:r>
              <a:rPr lang="en-US" dirty="0"/>
              <a:t>Second level</a:t>
            </a:r>
          </a:p>
          <a:p>
            <a:pPr marL="895350" lvl="2" indent="-174625" fontAlgn="base">
              <a:spcBef>
                <a:spcPct val="0"/>
              </a:spcBef>
              <a:buSzPct val="50000"/>
              <a:buFont typeface="Wingdings" pitchFamily="2" charset="2"/>
              <a:buChar char="n"/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80000" indent="-180000" algn="l" defTabSz="1219304" rtl="0" eaLnBrk="1" fontAlgn="ctr" latinLnBrk="0" hangingPunct="1">
      <a:lnSpc>
        <a:spcPct val="125000"/>
      </a:lnSpc>
      <a:spcAft>
        <a:spcPts val="600"/>
      </a:spcAft>
      <a:buClr>
        <a:schemeClr val="bg1">
          <a:lumMod val="50000"/>
        </a:schemeClr>
      </a:buClr>
      <a:buSzPct val="60000"/>
      <a:buFont typeface="Huawei Sans" panose="020C0503030203020204" pitchFamily="34" charset="0"/>
      <a:buChar char="•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1pPr>
    <a:lvl2pPr marL="540000" indent="-180000" algn="l" defTabSz="1219304" rtl="0" eaLnBrk="1" fontAlgn="ctr" latinLnBrk="0" hangingPunct="1">
      <a:lnSpc>
        <a:spcPct val="125000"/>
      </a:lnSpc>
      <a:spcAft>
        <a:spcPts val="600"/>
      </a:spcAft>
      <a:buClrTx/>
      <a:buFont typeface="Huawei Sans" panose="020C0503030203020204" pitchFamily="34" charset="0"/>
      <a:buChar char="▫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2pPr>
    <a:lvl3pPr marL="900000" indent="-180000" algn="l" defTabSz="1219304" rtl="0" eaLnBrk="1" fontAlgn="ctr" latinLnBrk="0" hangingPunct="1">
      <a:lnSpc>
        <a:spcPct val="125000"/>
      </a:lnSpc>
      <a:spcAft>
        <a:spcPts val="600"/>
      </a:spcAft>
      <a:buFont typeface="微软雅黑" panose="020B0503020204020204" pitchFamily="34" charset="-122"/>
      <a:buChar char="▪"/>
      <a:defRPr lang="en-US" sz="1100" kern="1200" baseline="0" dirty="0">
        <a:solidFill>
          <a:schemeClr val="tx1"/>
        </a:solidFill>
        <a:latin typeface="Huawei Sans" panose="020C0503030203020204" pitchFamily="34" charset="0"/>
        <a:ea typeface="方正兰亭黑简体" panose="02000000000000000000" pitchFamily="2" charset="-122"/>
        <a:cs typeface="+mn-cs"/>
      </a:defRPr>
    </a:lvl3pPr>
    <a:lvl4pPr marL="1371600" indent="0" algn="l" defTabSz="1219304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itchFamily="2" charset="2"/>
      <a:buNone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620000" indent="-180000" algn="l" defTabSz="1219304" rtl="0" eaLnBrk="1" fontAlgn="base" latinLnBrk="0" hangingPunct="1">
      <a:lnSpc>
        <a:spcPct val="125000"/>
      </a:lnSpc>
      <a:spcBef>
        <a:spcPct val="0"/>
      </a:spcBef>
      <a:spcAft>
        <a:spcPts val="600"/>
      </a:spcAft>
      <a:buFont typeface="Wingdings" pitchFamily="2" charset="2"/>
      <a:buChar char="~"/>
      <a:defRPr lang="en-US" sz="1100" kern="1200" baseline="0" dirty="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2" orient="horz" pos="2886" userDrawn="1">
          <p15:clr>
            <a:srgbClr val="F26B43"/>
          </p15:clr>
        </p15:guide>
        <p15:guide id="3" orient="horz" pos="482" userDrawn="1">
          <p15:clr>
            <a:srgbClr val="F26B43"/>
          </p15:clr>
        </p15:guide>
        <p15:guide id="4" orient="horz" pos="2591" userDrawn="1">
          <p15:clr>
            <a:srgbClr val="F26B43"/>
          </p15:clr>
        </p15:guide>
        <p15:guide id="6" pos="4021" userDrawn="1">
          <p15:clr>
            <a:srgbClr val="F26B43"/>
          </p15:clr>
        </p15:guide>
        <p15:guide id="7" pos="279" userDrawn="1">
          <p15:clr>
            <a:srgbClr val="F26B43"/>
          </p15:clr>
        </p15:guide>
        <p15:guide id="8" pos="2162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3555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6763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Executor</a:t>
            </a:r>
            <a:r>
              <a:rPr lang="zh-CN" altLang="en-US" dirty="0"/>
              <a:t>作为高级驾驶辅助系统的一个执行器的组件，对外提供</a:t>
            </a:r>
            <a:r>
              <a:rPr lang="en-US" altLang="zh-CN" dirty="0"/>
              <a:t>2</a:t>
            </a:r>
            <a:r>
              <a:rPr lang="zh-CN" altLang="en-US" dirty="0"/>
              <a:t>个主要功能：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由配置器（</a:t>
            </a:r>
            <a:r>
              <a:rPr lang="en-US" altLang="zh-CN" dirty="0"/>
              <a:t>Config</a:t>
            </a:r>
            <a:r>
              <a:rPr lang="zh-CN" altLang="en-US" dirty="0"/>
              <a:t>）组件进行初始化及配置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接收控制器（</a:t>
            </a:r>
            <a:r>
              <a:rPr lang="en-US" altLang="zh-CN" dirty="0"/>
              <a:t>Controller</a:t>
            </a:r>
            <a:r>
              <a:rPr lang="zh-CN" altLang="en-US" dirty="0"/>
              <a:t>）组件的各种控制指令，执行并维护位置状态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我们的课程只负责设计执行器（</a:t>
            </a:r>
            <a:r>
              <a:rPr lang="en-US" altLang="zh-CN" dirty="0"/>
              <a:t>Executor</a:t>
            </a:r>
            <a:r>
              <a:rPr lang="zh-CN" altLang="en-US" dirty="0"/>
              <a:t>）组件的设计和开发，不需要关注其它组件。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需求澄清，对齐需求，一定要确认大家都已经理解（</a:t>
            </a:r>
            <a:r>
              <a:rPr lang="zh-CN" altLang="en-US" b="1" dirty="0"/>
              <a:t>理解需求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有四个方向、一次只能移动一格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4499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9705" indent="-17970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latin typeface="+mn-ea"/>
                <a:ea typeface="+mn-ea"/>
              </a:rPr>
              <a:t>学生思考环节，</a:t>
            </a:r>
            <a:r>
              <a:rPr lang="en-US" altLang="zh-CN" b="1" dirty="0">
                <a:latin typeface="+mn-ea"/>
                <a:ea typeface="+mn-ea"/>
              </a:rPr>
              <a:t>8</a:t>
            </a:r>
            <a:r>
              <a:rPr lang="zh-CN" altLang="en-US" b="1" dirty="0">
                <a:latin typeface="+mn-ea"/>
                <a:ea typeface="+mn-ea"/>
              </a:rPr>
              <a:t>分钟</a:t>
            </a:r>
            <a:r>
              <a:rPr lang="zh-CN" altLang="en-US" dirty="0">
                <a:latin typeface="+mn-ea"/>
                <a:ea typeface="+mn-ea"/>
              </a:rPr>
              <a:t>，提醒学生把想好的接口文字列出来</a:t>
            </a:r>
            <a:endParaRPr lang="en-US" altLang="zh-CN" dirty="0">
              <a:latin typeface="+mn-ea"/>
              <a:ea typeface="+mn-ea"/>
            </a:endParaRPr>
          </a:p>
          <a:p>
            <a:pPr marL="179705" indent="-179705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引导一下学生积极分享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179705" indent="-179705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让我们来思考一下这个问题，给大家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8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分钟时间，大家思考下如下这几个问题：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有哪些接口？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接口的参数、返回值分别是什么？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然后大家把想好的接口按如下表格通过文字方式表达出来，大家先思考一下，待会请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1~2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位同学上来分享下。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需求列表：</a:t>
            </a:r>
            <a:endParaRPr lang="en-US" altLang="zh-CN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marL="0" marR="0" lvl="0" indent="0" algn="l" defTabSz="1219304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1100" b="0" kern="120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rPr>
              <a:t>初始化车的位置和朝向</a:t>
            </a:r>
            <a:endParaRPr lang="en-US" altLang="zh-CN" sz="1100" b="0" kern="1200" dirty="0">
              <a:solidFill>
                <a:schemeClr val="tx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304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1100" b="0" kern="120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rPr>
              <a:t>执行移动、转向指令</a:t>
            </a:r>
          </a:p>
          <a:p>
            <a:pPr marL="0" marR="0" lvl="0" indent="0" algn="l" defTabSz="1219304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r>
              <a:rPr lang="zh-CN" altLang="en-US" sz="1100" b="0" kern="1200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cs"/>
              </a:rPr>
              <a:t>获取当前的坐标位置和朝向</a:t>
            </a:r>
          </a:p>
          <a:p>
            <a:pPr marL="0" marR="0" lvl="0" indent="0" algn="l" defTabSz="1219304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None/>
              <a:tabLst/>
              <a:defRPr/>
            </a:pPr>
            <a:endParaRPr lang="zh-CN" altLang="en-US" sz="1100" b="0" kern="1200" dirty="0">
              <a:solidFill>
                <a:schemeClr val="tx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  <a:cs typeface="+mn-cs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1100" b="1" kern="1200" baseline="0" dirty="0">
                <a:solidFill>
                  <a:srgbClr val="FF0000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1~2</a:t>
            </a:r>
            <a:r>
              <a:rPr lang="zh-CN" altLang="en-US" sz="1100" b="1" kern="1200" baseline="0" dirty="0">
                <a:solidFill>
                  <a:srgbClr val="FF0000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位同学分享</a:t>
            </a:r>
            <a:r>
              <a:rPr lang="zh-CN" altLang="en-US" sz="1100" b="0" kern="1200" baseline="0" dirty="0">
                <a:solidFill>
                  <a:srgbClr val="FF0000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，这时候讲师可以点评并做好总结</a:t>
            </a:r>
            <a:endParaRPr lang="zh-CN" altLang="en-US" sz="1100" b="1" kern="1200" baseline="0" dirty="0">
              <a:solidFill>
                <a:srgbClr val="FF0000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我们再来看下需求，先找找看需求描述中有哪些动词和名词，动词代表</a:t>
            </a:r>
            <a:r>
              <a:rPr lang="zh-CN" altLang="en-US" b="1" dirty="0"/>
              <a:t>执行的动作</a:t>
            </a:r>
            <a:r>
              <a:rPr lang="zh-CN" altLang="en-US" dirty="0"/>
              <a:t>（也就是我们要设计的</a:t>
            </a:r>
            <a:r>
              <a:rPr lang="zh-CN" altLang="en-US" b="1" dirty="0"/>
              <a:t>接口</a:t>
            </a:r>
            <a:r>
              <a:rPr lang="zh-CN" altLang="en-US" dirty="0"/>
              <a:t>），名字代表</a:t>
            </a:r>
            <a:r>
              <a:rPr lang="zh-CN" altLang="en-US" b="1" dirty="0"/>
              <a:t>动作作用的对象</a:t>
            </a:r>
            <a:r>
              <a:rPr lang="zh-CN" altLang="en-US" dirty="0"/>
              <a:t>（也就是接口操作的</a:t>
            </a:r>
            <a:r>
              <a:rPr lang="zh-CN" altLang="en-US" b="1" dirty="0"/>
              <a:t>数据</a:t>
            </a:r>
            <a:r>
              <a:rPr lang="zh-CN" altLang="en-US" dirty="0"/>
              <a:t>）。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一起来通过对需求的</a:t>
            </a:r>
            <a:r>
              <a:rPr lang="zh-CN" altLang="en-US" b="1" dirty="0"/>
              <a:t>动名词分析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（</a:t>
            </a: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Verb-Noun Analysis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</a:t>
            </a:r>
            <a:r>
              <a:rPr lang="zh-CN" altLang="en-US" dirty="0"/>
              <a:t>，理解分解需求。</a:t>
            </a:r>
            <a:endParaRPr lang="en-US" altLang="zh-CN" dirty="0"/>
          </a:p>
          <a:p>
            <a:r>
              <a:rPr lang="zh-CN" altLang="en-US" dirty="0"/>
              <a:t>蓝框：动词，接口</a:t>
            </a:r>
            <a:endParaRPr lang="en-US" altLang="zh-CN" dirty="0"/>
          </a:p>
          <a:p>
            <a:r>
              <a:rPr lang="zh-CN" altLang="en-US" dirty="0"/>
              <a:t>红框：名词，数据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动名词分析法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通过识别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执行的动作（动词）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动作作用的对象（名词）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，来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定义系统的行为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我们应用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动名词分析法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，得到如下的</a:t>
            </a:r>
            <a:r>
              <a:rPr lang="en-US" altLang="zh-CN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3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个接口的文字描述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接下来我们需要将接口文字描述转换为代码，大家先讨论下该如何实现？然后尝试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写一下接口定义的代码</a:t>
            </a:r>
            <a:endParaRPr lang="en-US" altLang="zh-CN" b="1" dirty="0"/>
          </a:p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866901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+mn-ea"/>
                <a:ea typeface="+mn-ea"/>
              </a:rPr>
              <a:t>命名风格：一般类型是大驼峰，其它是蛇形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  <a:ea typeface="+mn-ea"/>
              </a:rPr>
              <a:t>1</a:t>
            </a:r>
            <a:r>
              <a:rPr lang="zh-CN" altLang="en-US" dirty="0">
                <a:latin typeface="+mn-ea"/>
                <a:ea typeface="+mn-ea"/>
              </a:rPr>
              <a:t>）官方未给出对文件夹及文件命名风格，实际上如果文件夹或文件名使用了中划线，编译器会自动映射到下划线，如果在代码内引用模块则编译报错。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  <a:ea typeface="+mn-ea"/>
              </a:rPr>
              <a:t>2</a:t>
            </a:r>
            <a:r>
              <a:rPr lang="zh-CN" altLang="en-US" dirty="0">
                <a:latin typeface="+mn-ea"/>
                <a:ea typeface="+mn-ea"/>
              </a:rPr>
              <a:t>）文件夹和文件名在</a:t>
            </a:r>
            <a:r>
              <a:rPr lang="en-US" altLang="zh-CN" dirty="0">
                <a:latin typeface="+mn-ea"/>
                <a:ea typeface="+mn-ea"/>
              </a:rPr>
              <a:t>Rust</a:t>
            </a:r>
            <a:r>
              <a:rPr lang="zh-CN" altLang="en-US" dirty="0">
                <a:latin typeface="+mn-ea"/>
                <a:ea typeface="+mn-ea"/>
              </a:rPr>
              <a:t>中本质是个模块，建议都使用与模块相同的风格（蛇形）</a:t>
            </a:r>
          </a:p>
          <a:p>
            <a:pPr marL="0" indent="0">
              <a:buNone/>
            </a:pPr>
            <a:r>
              <a:rPr lang="en-US" altLang="zh-CN" dirty="0">
                <a:latin typeface="+mn-ea"/>
                <a:ea typeface="+mn-ea"/>
              </a:rPr>
              <a:t>3</a:t>
            </a:r>
            <a:r>
              <a:rPr lang="zh-CN" altLang="en-US" dirty="0">
                <a:latin typeface="+mn-ea"/>
                <a:ea typeface="+mn-ea"/>
              </a:rPr>
              <a:t>）</a:t>
            </a:r>
            <a:r>
              <a:rPr lang="en-US" altLang="zh-CN" dirty="0">
                <a:latin typeface="+mn-ea"/>
                <a:ea typeface="+mn-ea"/>
              </a:rPr>
              <a:t>Rust</a:t>
            </a:r>
            <a:r>
              <a:rPr lang="zh-CN" altLang="en-US" dirty="0">
                <a:latin typeface="+mn-ea"/>
                <a:ea typeface="+mn-ea"/>
              </a:rPr>
              <a:t>自带的工具链非常完善，使用</a:t>
            </a:r>
            <a:r>
              <a:rPr lang="en-US" altLang="zh-CN" dirty="0" err="1">
                <a:latin typeface="+mn-ea"/>
                <a:ea typeface="+mn-ea"/>
              </a:rPr>
              <a:t>clippy</a:t>
            </a:r>
            <a:r>
              <a:rPr lang="zh-CN" altLang="en-US" dirty="0">
                <a:latin typeface="+mn-ea"/>
                <a:ea typeface="+mn-ea"/>
              </a:rPr>
              <a:t>可以帮助我们检查命名风格，风格不对</a:t>
            </a:r>
            <a:r>
              <a:rPr lang="en-US" altLang="zh-CN" dirty="0">
                <a:latin typeface="+mn-ea"/>
                <a:ea typeface="+mn-ea"/>
              </a:rPr>
              <a:t>IDE</a:t>
            </a:r>
            <a:r>
              <a:rPr lang="zh-CN" altLang="en-US" dirty="0">
                <a:latin typeface="+mn-ea"/>
                <a:ea typeface="+mn-ea"/>
              </a:rPr>
              <a:t>就会给出告警（所以不用担心）</a:t>
            </a:r>
          </a:p>
        </p:txBody>
      </p:sp>
    </p:spTree>
    <p:extLst>
      <p:ext uri="{BB962C8B-B14F-4D97-AF65-F5344CB8AC3E}">
        <p14:creationId xmlns:p14="http://schemas.microsoft.com/office/powerpoint/2010/main" val="2179763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Pose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：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https://en.wikipedia.org/wiki/Pose_%28computer_vision%29</a:t>
            </a: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类型命名：</a:t>
            </a:r>
            <a:r>
              <a:rPr lang="zh-CN" altLang="en-US" sz="1100" b="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名词、名词短语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函数命名：使用</a:t>
            </a:r>
            <a:r>
              <a:rPr lang="zh-CN" altLang="en-US" sz="1100" b="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动词、动词短语、与参数组成动宾</a:t>
            </a:r>
            <a:endParaRPr lang="en-US" altLang="zh-CN" sz="1100" b="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接口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execute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的</a:t>
            </a:r>
            <a:r>
              <a:rPr lang="en-US" altLang="zh-CN" sz="1100" kern="1200" baseline="0" dirty="0" err="1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cmds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参数设计为引用类型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&amp;str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而不是引用自身类型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&amp;String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的好处：避免二次引用；可接收更多实参类型。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Executor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对外提供组件能力，为什么不直接将接口写入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lib.rs?</a:t>
            </a: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通常不宜在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lib.rs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中写具体实现，而是使用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lib.rs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进行统一导出；</a:t>
            </a: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中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文件夹和文件名都是合法的模块，文件名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就是一个模块。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语言内置宏：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1.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Pose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为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crate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外部使用的类型，宜实现</a:t>
            </a:r>
            <a:r>
              <a:rPr lang="en-US" altLang="zh-CN" sz="1100" b="1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Debug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这种常见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Trait</a:t>
            </a:r>
            <a:r>
              <a:rPr lang="zh-CN" altLang="en-US" sz="1100" b="1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以支持打印输出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2.Pose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类型不包含指针和引用，除非会成为性能瓶颈，通常会加上</a:t>
            </a:r>
            <a:r>
              <a:rPr lang="en-US" altLang="zh-CN" sz="1100" b="1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Copy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和</a:t>
            </a:r>
            <a:r>
              <a:rPr lang="en-US" altLang="zh-CN" sz="1100" b="1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Clone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这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个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Trait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3.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测试</a:t>
            </a:r>
            <a:r>
              <a:rPr lang="zh-CN" altLang="en-US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断言涉及相等比较和错误信息打印，需要实现</a:t>
            </a:r>
            <a:r>
              <a:rPr lang="en-US" altLang="zh-CN" sz="1100" b="1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PartialEq</a:t>
            </a:r>
            <a:r>
              <a:rPr lang="zh-CN" altLang="en-US" sz="11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和</a:t>
            </a:r>
            <a:r>
              <a:rPr lang="en-US" altLang="zh-CN" sz="1100" b="1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Debug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我们选择将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pose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对象注入到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中，还可以传入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(x, y, heading)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在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内部构造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pose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对象？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==》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不推荐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依赖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Pose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类型的内部数据，依赖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pose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对象更稳定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Pose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1.</a:t>
            </a:r>
            <a:r>
              <a:rPr lang="zh-CN" altLang="en-US" dirty="0">
                <a:solidFill>
                  <a:srgbClr val="FFC000"/>
                </a:solidFill>
              </a:rPr>
              <a:t>构建</a:t>
            </a:r>
            <a:r>
              <a:rPr lang="en-US" altLang="zh-CN" dirty="0">
                <a:solidFill>
                  <a:srgbClr val="FFC000"/>
                </a:solidFill>
              </a:rPr>
              <a:t>Pose</a:t>
            </a:r>
            <a:r>
              <a:rPr lang="zh-CN" altLang="en-US" dirty="0">
                <a:solidFill>
                  <a:srgbClr val="FFC000"/>
                </a:solidFill>
              </a:rPr>
              <a:t>对象应用了函数式更新（</a:t>
            </a:r>
            <a:r>
              <a:rPr lang="en-US" altLang="zh-CN" dirty="0">
                <a:solidFill>
                  <a:srgbClr val="FFC000"/>
                </a:solidFill>
              </a:rPr>
              <a:t>functional update</a:t>
            </a:r>
            <a:r>
              <a:rPr lang="zh-CN" altLang="en-US" dirty="0">
                <a:solidFill>
                  <a:srgbClr val="FFC000"/>
                </a:solidFill>
              </a:rPr>
              <a:t>）语法， 简化代码（语法糖）。</a:t>
            </a:r>
            <a:endParaRPr lang="en-US" altLang="zh-CN" dirty="0">
              <a:solidFill>
                <a:srgbClr val="D4D4D4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C000"/>
                </a:solidFill>
              </a:rPr>
              <a:t>2.Rust</a:t>
            </a:r>
            <a:r>
              <a:rPr lang="zh-CN" altLang="en-US" b="1" dirty="0">
                <a:solidFill>
                  <a:srgbClr val="FFC000"/>
                </a:solidFill>
              </a:rPr>
              <a:t>函数参数不支持默认值</a:t>
            </a:r>
            <a:r>
              <a:rPr lang="zh-CN" altLang="en-US" dirty="0">
                <a:solidFill>
                  <a:srgbClr val="FFC000"/>
                </a:solidFill>
              </a:rPr>
              <a:t>，也</a:t>
            </a:r>
            <a:r>
              <a:rPr lang="zh-CN" altLang="en-US" b="1" dirty="0">
                <a:solidFill>
                  <a:srgbClr val="FFC000"/>
                </a:solidFill>
              </a:rPr>
              <a:t>不支持函数重载</a:t>
            </a:r>
            <a:r>
              <a:rPr lang="zh-CN" altLang="en-US" dirty="0">
                <a:solidFill>
                  <a:srgbClr val="FFC000"/>
                </a:solidFill>
              </a:rPr>
              <a:t>，</a:t>
            </a:r>
            <a:r>
              <a:rPr lang="en-US" altLang="zh-CN" dirty="0">
                <a:solidFill>
                  <a:srgbClr val="FFC000"/>
                </a:solidFill>
              </a:rPr>
              <a:t>Rust</a:t>
            </a:r>
            <a:r>
              <a:rPr lang="zh-CN" altLang="en-US" dirty="0">
                <a:solidFill>
                  <a:srgbClr val="FFC000"/>
                </a:solidFill>
              </a:rPr>
              <a:t>解决方案：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C000"/>
                </a:solidFill>
              </a:rPr>
              <a:t>将函数的参数列表提取到一个结构体</a:t>
            </a:r>
            <a:r>
              <a:rPr lang="en-US" altLang="zh-CN" dirty="0">
                <a:solidFill>
                  <a:srgbClr val="FFC000"/>
                </a:solidFill>
              </a:rPr>
              <a:t>Pose</a:t>
            </a:r>
            <a:r>
              <a:rPr lang="zh-CN" altLang="en-US" dirty="0">
                <a:solidFill>
                  <a:srgbClr val="FFC000"/>
                </a:solidFill>
              </a:rPr>
              <a:t>，然后给结构体实现</a:t>
            </a:r>
            <a:r>
              <a:rPr lang="en-US" altLang="zh-CN" b="1" dirty="0">
                <a:solidFill>
                  <a:srgbClr val="FFC000"/>
                </a:solidFill>
              </a:rPr>
              <a:t>Default Trait</a:t>
            </a:r>
            <a:r>
              <a:rPr lang="zh-CN" altLang="en-US" dirty="0">
                <a:solidFill>
                  <a:srgbClr val="FFC000"/>
                </a:solidFill>
              </a:rPr>
              <a:t>（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只能为类型提供一个默认值</a:t>
            </a:r>
            <a:r>
              <a:rPr lang="zh-CN" altLang="en-US" dirty="0">
                <a:solidFill>
                  <a:srgbClr val="FFC000"/>
                </a:solidFill>
              </a:rPr>
              <a:t>）。</a:t>
            </a:r>
            <a:endParaRPr lang="en-US" altLang="zh-CN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3.</a:t>
            </a:r>
            <a:r>
              <a:rPr lang="en-US" altLang="zh-CN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 default</a:t>
            </a:r>
            <a:r>
              <a:rPr lang="zh-CN" altLang="en-US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函数不需要设置</a:t>
            </a:r>
            <a:r>
              <a:rPr lang="en-US" altLang="zh-CN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pub</a:t>
            </a:r>
            <a:r>
              <a:rPr lang="zh-CN" altLang="en-US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，这是由于</a:t>
            </a:r>
            <a:r>
              <a:rPr lang="en-US" altLang="zh-CN" b="1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pub Trait</a:t>
            </a:r>
            <a:r>
              <a:rPr lang="zh-CN" altLang="en-US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的项目默认是对外公开的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 algn="l">
              <a:buNone/>
            </a:pPr>
            <a:r>
              <a:rPr lang="zh-CN" altLang="en-US" sz="1100" b="1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本</a:t>
            </a:r>
            <a:r>
              <a:rPr lang="en-US" altLang="zh-CN" sz="1100" b="1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PPT</a:t>
            </a:r>
            <a:r>
              <a:rPr lang="zh-CN" altLang="en-US" sz="1100" b="1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页展示了实验</a:t>
            </a:r>
            <a:r>
              <a:rPr lang="en-US" altLang="zh-CN" sz="1100" b="1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1</a:t>
            </a:r>
            <a:r>
              <a:rPr lang="zh-CN" altLang="en-US" sz="1100" b="1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的重点内容，主要涉及接口定义。</a:t>
            </a:r>
            <a:endParaRPr lang="zh-CN" altLang="en-US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algn="l" defTabSz="72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1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核心要点</a:t>
            </a: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：如何合理应用</a:t>
            </a:r>
            <a:r>
              <a:rPr lang="en-US" altLang="zh-CN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特性，提供简洁、清晰的接口约定，同时确保代码的安全性和可靠性。</a:t>
            </a:r>
          </a:p>
          <a:p>
            <a:pPr algn="l" defTabSz="72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1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引导时间</a:t>
            </a: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：</a:t>
            </a:r>
          </a:p>
          <a:p>
            <a:pPr marL="382905" lvl="0" indent="-285750" algn="l" defTabSz="72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使用</a:t>
            </a:r>
            <a:r>
              <a:rPr lang="en-US" altLang="zh-CN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PPT</a:t>
            </a: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播放：建议</a:t>
            </a:r>
            <a:r>
              <a:rPr lang="en-US" altLang="zh-CN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20</a:t>
            </a: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分钟</a:t>
            </a:r>
          </a:p>
          <a:p>
            <a:pPr marL="382905" lvl="0" indent="-285750" algn="l" defTabSz="720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手敲代码演示：建议</a:t>
            </a:r>
            <a:r>
              <a:rPr lang="en-US" altLang="zh-CN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40</a:t>
            </a: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分钟</a:t>
            </a: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382905" lvl="0" indent="-285750" algn="l" defTabSz="7200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模块：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1.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文件夹和文件名都是合法的模块，在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lib.rs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中使用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mod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加载模块一般不直接导出</a:t>
            </a: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2.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其它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crate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可见的项目必须在根模块中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pub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导出，推荐使用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pub use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重导出以隐藏内部结构</a:t>
            </a: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kern="1200" baseline="0" dirty="0">
              <a:solidFill>
                <a:schemeClr val="tx1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5695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9189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为什么要做开发者测试？</a:t>
            </a:r>
            <a:endParaRPr lang="en-US" altLang="zh-CN" b="1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开发者测试是确保代码质量和功能正确性的关键步骤。它有助于：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早期发现问题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：在开发过程中尽早发现并修复错误，减少后期修复成本。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提高代码质量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：通过测试，确保代码符合预期功能和性能要求。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增强信心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：开发者对自己的代码更有信心，减少发布后的不确定性。</a:t>
            </a:r>
          </a:p>
          <a:p>
            <a:pPr algn="l">
              <a:buFont typeface="+mj-lt"/>
              <a:buAutoNum type="arabicPeriod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文档作用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：测试用例可以作为代码的文档，帮助理解代码的预期行为。</a:t>
            </a:r>
          </a:p>
          <a:p>
            <a:pPr marL="0" indent="0">
              <a:buNone/>
            </a:pPr>
            <a:endParaRPr lang="en-US" altLang="zh-CN" dirty="0">
              <a:latin typeface="+mn-ea"/>
              <a:ea typeface="+mn-ea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为什么做开发者测试？</a:t>
            </a:r>
            <a:endParaRPr lang="en-US" altLang="zh-CN" sz="28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效率</a:t>
            </a:r>
            <a:endParaRPr lang="en-US" altLang="zh-CN" sz="28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提前确认需求，减少开发中的中断和等待</a:t>
            </a:r>
            <a:endParaRPr lang="en-US" altLang="zh-CN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小步快走，节省调试时间</a:t>
            </a:r>
            <a:endParaRPr lang="en-US" altLang="zh-CN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8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质量</a:t>
            </a:r>
            <a:endParaRPr lang="en-US" altLang="zh-CN" sz="28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高测试覆盖率</a:t>
            </a:r>
            <a:endParaRPr lang="en-US" altLang="zh-CN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自动回归测试</a:t>
            </a:r>
          </a:p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74720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如何快速有效地构建一个高效的测试防护网？首先，我们需要明确什么是一个好的测试防护网。</a:t>
            </a:r>
            <a:endParaRPr lang="en-US" altLang="zh-CN" sz="12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 algn="l">
              <a:buNone/>
            </a:pPr>
            <a:endParaRPr lang="en-US" altLang="zh-CN" sz="12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这里需要补充以下：</a:t>
            </a:r>
            <a:r>
              <a:rPr lang="zh-CN" altLang="en-US" sz="1200" dirty="0"/>
              <a:t>正交分解是</a:t>
            </a:r>
            <a:r>
              <a:rPr lang="zh-CN" altLang="en-US" sz="1200" b="1" dirty="0"/>
              <a:t>设计高效测试用例的方法</a:t>
            </a:r>
            <a:r>
              <a:rPr lang="zh-CN" altLang="en-US" sz="1200" dirty="0"/>
              <a:t>，这里的</a:t>
            </a:r>
            <a:r>
              <a:rPr lang="zh-CN" altLang="en-US" sz="1200" b="1" dirty="0"/>
              <a:t>高效</a:t>
            </a:r>
            <a:r>
              <a:rPr lang="zh-CN" altLang="en-US" sz="1200" dirty="0"/>
              <a:t>指的是用</a:t>
            </a:r>
            <a:r>
              <a:rPr lang="zh-CN" altLang="en-US" sz="1200" b="1" dirty="0"/>
              <a:t>最小化的测试用例获得最大化的测试覆盖率（场景覆盖而非代码覆盖率）。</a:t>
            </a:r>
            <a:endParaRPr lang="en-US" altLang="zh-CN" sz="1200" dirty="0"/>
          </a:p>
          <a:p>
            <a:pPr marL="0" indent="0" algn="l">
              <a:buNone/>
            </a:pPr>
            <a:endParaRPr lang="zh-CN" altLang="en-US" sz="12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 algn="l">
              <a:buNone/>
            </a:pP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接下来，我们将从以下三个角度进行探讨：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易维护性</a:t>
            </a: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：测试防护网应当易于更新和维护，以适应不断变化的需求和代码。（对应</a:t>
            </a:r>
            <a:r>
              <a:rPr lang="en-US" altLang="zh-CN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FIRST</a:t>
            </a: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原则）</a:t>
            </a:r>
          </a:p>
          <a:p>
            <a:pPr algn="l"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高覆盖率</a:t>
            </a: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：确保测试覆盖尽可能多的代码路径，以最大限度地发现潜在问题。（对应正交分解）</a:t>
            </a:r>
            <a:endParaRPr lang="en-US" altLang="zh-CN" sz="12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179705" marR="0" lvl="0" indent="-179705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/>
              <a:defRPr/>
            </a:pPr>
            <a:r>
              <a:rPr lang="zh-CN" altLang="en-US" sz="12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易读性</a:t>
            </a: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：代码和测试用例应当清晰易懂，便于团队成员理解和使用。</a:t>
            </a:r>
            <a:r>
              <a:rPr lang="en-US" altLang="zh-CN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(</a:t>
            </a: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对应测试命名规则</a:t>
            </a:r>
            <a:r>
              <a:rPr lang="en-US" altLang="zh-CN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)</a:t>
            </a:r>
            <a:endParaRPr lang="zh-CN" altLang="en-US" sz="12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 algn="l">
              <a:buFont typeface="+mj-lt"/>
              <a:buNone/>
            </a:pPr>
            <a:endParaRPr lang="zh-CN" altLang="en-US" sz="12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 algn="l">
              <a:buNone/>
            </a:pPr>
            <a:r>
              <a:rPr lang="zh-CN" altLang="en-US" sz="12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通过这三个方面的探讨，我们将逐步构建一个高效、可靠的测试防护网。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dirty="0"/>
              <a:t>FIRST</a:t>
            </a:r>
            <a:r>
              <a:rPr lang="zh-CN" altLang="en-US" dirty="0"/>
              <a:t>这个</a:t>
            </a:r>
            <a:r>
              <a:rPr lang="en-US" altLang="zh-CN" dirty="0"/>
              <a:t>T</a:t>
            </a:r>
            <a:r>
              <a:rPr lang="zh-CN" altLang="en-US" dirty="0"/>
              <a:t>有些地方解释为</a:t>
            </a:r>
            <a:r>
              <a:rPr lang="en-US" altLang="zh-CN" dirty="0"/>
              <a:t>Timely</a:t>
            </a:r>
            <a:r>
              <a:rPr lang="zh-CN" altLang="en-US" dirty="0"/>
              <a:t>（测试编写尽可能</a:t>
            </a:r>
            <a:r>
              <a:rPr lang="zh-CN" altLang="en-US" b="1" dirty="0"/>
              <a:t>提前</a:t>
            </a:r>
            <a:r>
              <a:rPr lang="zh-CN" altLang="en-US" dirty="0"/>
              <a:t>）</a:t>
            </a:r>
            <a:r>
              <a:rPr lang="en-US" altLang="zh-CN" dirty="0"/>
              <a:t>+Thorough</a:t>
            </a:r>
            <a:r>
              <a:rPr lang="zh-CN" altLang="en-US" dirty="0"/>
              <a:t>（测试用例要尽可能</a:t>
            </a:r>
            <a:r>
              <a:rPr lang="zh-CN" altLang="en-US" b="1" dirty="0"/>
              <a:t>全面</a:t>
            </a:r>
            <a:r>
              <a:rPr lang="zh-CN" altLang="en-US" dirty="0"/>
              <a:t>）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正交分解是设计高效测试用例的方法，核心是用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最小化的测试用例获得最大化的测试覆盖率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。当可能的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输入数据的组合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数量很大时，由于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不可能为每个输入组合都创建测试用例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，可以采用这种方法。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b="0" dirty="0"/>
              <a:t>一般从需求出发，</a:t>
            </a:r>
            <a:r>
              <a:rPr lang="zh-CN" altLang="en-US" b="1" dirty="0"/>
              <a:t>寻找影响被测对象行为的外部因素</a:t>
            </a:r>
            <a:r>
              <a:rPr lang="zh-CN" altLang="en-US" b="0" dirty="0"/>
              <a:t>（因子）及</a:t>
            </a:r>
            <a:r>
              <a:rPr lang="zh-CN" altLang="en-US" b="1" dirty="0"/>
              <a:t>每个因子的取值</a:t>
            </a:r>
            <a:r>
              <a:rPr lang="zh-CN" altLang="en-US" b="0" dirty="0"/>
              <a:t>（状态）。我们可以需求找到</a:t>
            </a:r>
            <a:r>
              <a:rPr lang="en-US" altLang="zh-CN" b="0" dirty="0"/>
              <a:t>`</a:t>
            </a:r>
            <a:r>
              <a:rPr lang="zh-CN" altLang="en-US" b="1" dirty="0"/>
              <a:t>命令</a:t>
            </a:r>
            <a:r>
              <a:rPr lang="en-US" altLang="zh-CN" b="0" dirty="0"/>
              <a:t>`</a:t>
            </a:r>
            <a:r>
              <a:rPr lang="zh-CN" altLang="en-US" b="0" dirty="0"/>
              <a:t>和</a:t>
            </a:r>
            <a:r>
              <a:rPr lang="en-US" altLang="zh-CN" b="0" dirty="0"/>
              <a:t>`</a:t>
            </a:r>
            <a:r>
              <a:rPr lang="zh-CN" altLang="en-US" b="1" dirty="0"/>
              <a:t>方向</a:t>
            </a:r>
            <a:r>
              <a:rPr lang="en-US" altLang="zh-CN" b="0" dirty="0"/>
              <a:t>`</a:t>
            </a:r>
            <a:r>
              <a:rPr lang="zh-CN" altLang="en-US" b="0" dirty="0"/>
              <a:t>这两个因子，命令有</a:t>
            </a:r>
            <a:r>
              <a:rPr lang="en-US" altLang="zh-CN" b="0" dirty="0"/>
              <a:t>`M`</a:t>
            </a:r>
            <a:r>
              <a:rPr lang="zh-CN" altLang="en-US" b="0" dirty="0"/>
              <a:t>、</a:t>
            </a:r>
            <a:r>
              <a:rPr lang="en-US" altLang="zh-CN" b="0" dirty="0"/>
              <a:t>`L`</a:t>
            </a:r>
            <a:r>
              <a:rPr lang="zh-CN" altLang="en-US" b="0" dirty="0"/>
              <a:t>和</a:t>
            </a:r>
            <a:r>
              <a:rPr lang="en-US" altLang="zh-CN" b="0" dirty="0"/>
              <a:t>`R`</a:t>
            </a:r>
            <a:r>
              <a:rPr lang="zh-CN" altLang="en-US" b="0" dirty="0"/>
              <a:t>这三种取值，方向有</a:t>
            </a:r>
            <a:r>
              <a:rPr lang="en-US" altLang="zh-CN" b="0" dirty="0"/>
              <a:t>`E`</a:t>
            </a:r>
            <a:r>
              <a:rPr lang="zh-CN" altLang="en-US" b="0" dirty="0"/>
              <a:t>、</a:t>
            </a:r>
            <a:r>
              <a:rPr lang="en-US" altLang="zh-CN" b="0" dirty="0"/>
              <a:t>`S`</a:t>
            </a:r>
            <a:r>
              <a:rPr lang="zh-CN" altLang="en-US" b="0" dirty="0"/>
              <a:t>、</a:t>
            </a:r>
            <a:r>
              <a:rPr lang="en-US" altLang="zh-CN" b="0" dirty="0"/>
              <a:t>`W`</a:t>
            </a:r>
            <a:r>
              <a:rPr lang="zh-CN" altLang="en-US" b="0" dirty="0"/>
              <a:t>、</a:t>
            </a:r>
            <a:r>
              <a:rPr lang="en-US" altLang="zh-CN" b="0" dirty="0"/>
              <a:t>`N`</a:t>
            </a:r>
            <a:r>
              <a:rPr lang="zh-CN" altLang="en-US" b="0" dirty="0"/>
              <a:t>这四种取值，两两组合至少有</a:t>
            </a:r>
            <a:r>
              <a:rPr lang="en-US" altLang="zh-CN" b="0" dirty="0"/>
              <a:t>`12`</a:t>
            </a:r>
            <a:r>
              <a:rPr lang="zh-CN" altLang="en-US" b="0" dirty="0"/>
              <a:t>个基础用例。</a:t>
            </a:r>
            <a:endParaRPr lang="en-US" altLang="zh-CN" b="0" dirty="0"/>
          </a:p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endParaRPr lang="en-US" altLang="zh-CN" b="1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b="1" dirty="0"/>
              <a:t>为什么使用正交分解构建测试防护网？</a:t>
            </a:r>
            <a:endParaRPr lang="zh-CN" alt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覆盖全面</a:t>
            </a:r>
            <a:r>
              <a:rPr lang="zh-CN" altLang="en-US" dirty="0"/>
              <a:t>：系统覆盖所有测试组合，确保测试有效性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减少冗余</a:t>
            </a:r>
            <a:r>
              <a:rPr lang="zh-CN" altLang="en-US" dirty="0"/>
              <a:t>：减少测试用例数量，提高效率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发现边界问题</a:t>
            </a:r>
            <a:r>
              <a:rPr lang="zh-CN" altLang="en-US" dirty="0"/>
              <a:t>：识别系统边界问题，提升可靠性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提高测试质量</a:t>
            </a:r>
            <a:r>
              <a:rPr lang="zh-CN" altLang="en-US" dirty="0"/>
              <a:t>：早期发现缺陷，提升测试质量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理论与实践结合</a:t>
            </a:r>
            <a:r>
              <a:rPr lang="zh-CN" altLang="en-US" dirty="0"/>
              <a:t>：将理论知识应用于实际项目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培养系统思维</a:t>
            </a:r>
            <a:r>
              <a:rPr lang="zh-CN" altLang="en-US" dirty="0"/>
              <a:t>：全面分析系统，增强解决复杂问题的能力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39396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我们这里选择</a:t>
            </a:r>
            <a:r>
              <a:rPr lang="en-US" altLang="zh-CN" sz="1100" dirty="0" err="1">
                <a:solidFill>
                  <a:srgbClr val="C00000"/>
                </a:solidFill>
                <a:latin typeface="方正兰亭黑简体" panose="02000000000000000000" pitchFamily="2" charset="-122"/>
              </a:rPr>
              <a:t>expected_behavior_condition</a:t>
            </a:r>
            <a:r>
              <a:rPr lang="zh-CN" altLang="en-US" sz="1100" dirty="0">
                <a:latin typeface="方正兰亭黑简体" panose="02000000000000000000" pitchFamily="2" charset="-122"/>
              </a:rPr>
              <a:t>格式写测试函数名（</a:t>
            </a:r>
            <a:r>
              <a:rPr lang="en-US" altLang="zh-CN" sz="1100" dirty="0">
                <a:latin typeface="方正兰亭黑简体" panose="02000000000000000000" pitchFamily="2" charset="-122"/>
              </a:rPr>
              <a:t>should/given</a:t>
            </a:r>
            <a:r>
              <a:rPr lang="zh-CN" altLang="en-US" sz="1100" dirty="0">
                <a:latin typeface="方正兰亭黑简体" panose="02000000000000000000" pitchFamily="2" charset="-122"/>
              </a:rPr>
              <a:t>），通过不同的指令和不同的方向区分不同的测试用例。</a:t>
            </a:r>
            <a:endParaRPr lang="en-US" altLang="zh-CN" sz="1100" dirty="0">
              <a:latin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这</a:t>
            </a:r>
            <a:r>
              <a:rPr lang="en-US" altLang="zh-CN" dirty="0"/>
              <a:t>12</a:t>
            </a:r>
            <a:r>
              <a:rPr lang="zh-CN" altLang="en-US" dirty="0"/>
              <a:t>个用例覆盖了主要的业务逻辑，用例即文档，我们需要给每一个测试用例根据命名原则起好名字。</a:t>
            </a:r>
          </a:p>
          <a:p>
            <a:pPr marL="0" indent="0">
              <a:buNone/>
            </a:pPr>
            <a:endParaRPr lang="en-US" altLang="zh-CN" sz="1100" dirty="0">
              <a:latin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dirty="0">
                <a:latin typeface="方正兰亭黑简体" panose="02000000000000000000" pitchFamily="2" charset="-122"/>
              </a:rPr>
              <a:t>测试函数命名中包含方向和指令，从可读性来说与实际取值保持大小写一致会更好，但是这样代码会告警，如下两种方案都是可行：</a:t>
            </a:r>
            <a:endParaRPr lang="en-US" altLang="zh-CN" sz="1100" dirty="0">
              <a:latin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latin typeface="方正兰亭黑简体" panose="02000000000000000000" pitchFamily="2" charset="-122"/>
              </a:rPr>
              <a:t>1.</a:t>
            </a:r>
            <a:r>
              <a:rPr lang="zh-CN" altLang="en-US" sz="1100" dirty="0">
                <a:latin typeface="方正兰亭黑简体" panose="02000000000000000000" pitchFamily="2" charset="-122"/>
              </a:rPr>
              <a:t> 全部改为小写，满足蛇形命名风格</a:t>
            </a:r>
            <a:endParaRPr lang="en-US" altLang="zh-CN" sz="1100" dirty="0">
              <a:latin typeface="方正兰亭黑简体" panose="02000000000000000000" pitchFamily="2" charset="-122"/>
            </a:endParaRPr>
          </a:p>
          <a:p>
            <a:pPr marL="0" marR="0" lvl="0" indent="0" algn="l" defTabSz="1219200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1100" dirty="0">
                <a:latin typeface="方正兰亭黑简体" panose="02000000000000000000" pitchFamily="2" charset="-122"/>
              </a:rPr>
              <a:t>2.</a:t>
            </a:r>
            <a:r>
              <a:rPr lang="zh-CN" altLang="en-US" sz="1100" dirty="0">
                <a:latin typeface="方正兰亭黑简体" panose="02000000000000000000" pitchFamily="2" charset="-122"/>
              </a:rPr>
              <a:t> 在每个函数前添加</a:t>
            </a:r>
            <a:r>
              <a:rPr lang="en-US" altLang="zh-CN" sz="1100" b="1" dirty="0">
                <a:latin typeface="方正兰亭黑简体" panose="02000000000000000000" pitchFamily="2" charset="-122"/>
              </a:rPr>
              <a:t>allow</a:t>
            </a:r>
            <a:r>
              <a:rPr lang="zh-CN" altLang="en-US" sz="1100" b="1" dirty="0">
                <a:latin typeface="方正兰亭黑简体" panose="02000000000000000000" pitchFamily="2" charset="-122"/>
              </a:rPr>
              <a:t>属性</a:t>
            </a:r>
            <a:r>
              <a:rPr lang="zh-CN" altLang="en-US" sz="1100" dirty="0">
                <a:latin typeface="方正兰亭黑简体" panose="02000000000000000000" pitchFamily="2" charset="-122"/>
              </a:rPr>
              <a:t>：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#[allow(</a:t>
            </a:r>
            <a:r>
              <a:rPr lang="en-US" altLang="zh-CN" sz="1100" b="1" kern="1200" baseline="0" dirty="0" err="1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non_snake_case</a:t>
            </a:r>
            <a:r>
              <a:rPr lang="en-US" altLang="zh-CN" sz="11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)]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1100">
                <a:latin typeface="方正兰亭黑简体" panose="02000000000000000000" pitchFamily="2" charset="-122"/>
              </a:rPr>
              <a:t>测试防护网应当易于更新和维护，以适应不断变化的需求和代码 </a:t>
            </a:r>
            <a:r>
              <a:rPr lang="en-US" altLang="zh-CN" sz="1100">
                <a:latin typeface="方正兰亭黑简体" panose="02000000000000000000" pitchFamily="2" charset="-122"/>
              </a:rPr>
              <a:t>– FIRST</a:t>
            </a:r>
            <a:r>
              <a:rPr lang="zh-CN" altLang="en-US" sz="1100">
                <a:latin typeface="方正兰亭黑简体" panose="02000000000000000000" pitchFamily="2" charset="-122"/>
              </a:rPr>
              <a:t>原则</a:t>
            </a:r>
            <a:endParaRPr lang="en-US" altLang="zh-CN" sz="1100">
              <a:latin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>
                <a:latin typeface="方正兰亭黑简体" panose="02000000000000000000" pitchFamily="2" charset="-122"/>
              </a:rPr>
              <a:t>确保测试覆盖尽可能多的代码路径，以最大限度地发现潜在问题</a:t>
            </a:r>
            <a:endParaRPr lang="en-US" altLang="zh-CN" sz="1100">
              <a:latin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100">
                <a:latin typeface="方正兰亭黑简体" panose="02000000000000000000" pitchFamily="2" charset="-122"/>
              </a:rPr>
              <a:t>代码和测试用例应当清晰易懂，便于团队成员理解和使用</a:t>
            </a:r>
            <a:endParaRPr lang="en-US" altLang="zh-CN" sz="1100">
              <a:latin typeface="方正兰亭黑简体" panose="02000000000000000000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29409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21574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821423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工作区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的</a:t>
            </a:r>
            <a:r>
              <a:rPr lang="zh-CN" altLang="en-US" sz="1100" b="1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关系及相关命令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</a:t>
            </a:r>
            <a:endParaRPr lang="en-US" altLang="zh-CN" sz="1100" b="0" i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Workspace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：工作区，电脑里能看到的目录</a:t>
            </a:r>
            <a:br>
              <a:rPr lang="zh-CN" altLang="en-US" dirty="0"/>
            </a:b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Index/Stage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：暂存区，存放在</a:t>
            </a: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.git/index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中，所以暂存区有时也叫作索引（</a:t>
            </a: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index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）。</a:t>
            </a:r>
            <a:br>
              <a:rPr lang="en-US" altLang="zh-CN" dirty="0"/>
            </a:b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Repository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：版本库（本地仓库），工作区的隐藏目录</a:t>
            </a: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.git</a:t>
            </a:r>
            <a:br>
              <a:rPr lang="en-US" altLang="zh-CN" dirty="0"/>
            </a:br>
            <a:r>
              <a:rPr lang="en-US" altLang="zh-CN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Remote</a:t>
            </a:r>
            <a:r>
              <a:rPr lang="zh-CN" altLang="en-US" sz="1100" b="0" i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：远程仓库，托管代码的服务器</a:t>
            </a:r>
            <a:endParaRPr lang="en-US" altLang="zh-CN" sz="1100" b="1" dirty="0"/>
          </a:p>
          <a:p>
            <a:pPr marL="0" indent="0">
              <a:buNone/>
            </a:pPr>
            <a:endParaRPr lang="en-US" altLang="zh-CN" sz="1100" b="1" dirty="0"/>
          </a:p>
          <a:p>
            <a:pPr marL="0" indent="0">
              <a:buNone/>
            </a:pPr>
            <a:endParaRPr lang="en-US" altLang="zh-CN" sz="1100" b="1" dirty="0"/>
          </a:p>
          <a:p>
            <a:pPr marL="0" indent="0">
              <a:buNone/>
            </a:pPr>
            <a:r>
              <a:rPr lang="zh-CN" altLang="en-US" sz="1100" b="1" dirty="0"/>
              <a:t>为什么要在课程中应用</a:t>
            </a:r>
            <a:r>
              <a:rPr lang="en-US" altLang="zh-CN" sz="1100" b="1" dirty="0"/>
              <a:t>Git</a:t>
            </a:r>
            <a:r>
              <a:rPr lang="zh-CN" altLang="en-US" sz="1100" b="1" dirty="0"/>
              <a:t>进行源码管理？</a:t>
            </a:r>
            <a:endParaRPr lang="zh-CN" altLang="en-US" sz="1100" dirty="0"/>
          </a:p>
          <a:p>
            <a:pPr>
              <a:buFont typeface="+mj-lt"/>
              <a:buAutoNum type="arabicPeriod"/>
            </a:pPr>
            <a:r>
              <a:rPr lang="zh-CN" altLang="en-US" sz="1100" b="1" dirty="0"/>
              <a:t>版本控制</a:t>
            </a:r>
            <a:r>
              <a:rPr lang="zh-CN" altLang="en-US" sz="1100" dirty="0"/>
              <a:t>：</a:t>
            </a:r>
            <a:r>
              <a:rPr lang="en-US" altLang="zh-CN" sz="1100" dirty="0"/>
              <a:t>Git</a:t>
            </a:r>
            <a:r>
              <a:rPr lang="zh-CN" altLang="en-US" sz="1100" dirty="0"/>
              <a:t>允许开发者跟踪代码的所有更改，记录每个版本的历史。这不仅有助于回溯和恢复到之前的版本，还能帮助同学们理解代码演变的过程</a:t>
            </a:r>
          </a:p>
          <a:p>
            <a:pPr>
              <a:buFont typeface="+mj-lt"/>
              <a:buAutoNum type="arabicPeriod"/>
            </a:pPr>
            <a:r>
              <a:rPr lang="zh-CN" altLang="en-US" sz="1100" b="1" dirty="0"/>
              <a:t>协作开发</a:t>
            </a:r>
            <a:r>
              <a:rPr lang="zh-CN" altLang="en-US" sz="1100" dirty="0"/>
              <a:t>：</a:t>
            </a:r>
            <a:r>
              <a:rPr lang="en-US" altLang="zh-CN" sz="1100" dirty="0"/>
              <a:t>Git</a:t>
            </a:r>
            <a:r>
              <a:rPr lang="zh-CN" altLang="en-US" sz="1100" dirty="0"/>
              <a:t>支持多人协作开发，学习如何处理代码合并冲突，提升团队合作能力</a:t>
            </a:r>
          </a:p>
          <a:p>
            <a:pPr>
              <a:buFont typeface="+mj-lt"/>
              <a:buAutoNum type="arabicPeriod"/>
            </a:pPr>
            <a:r>
              <a:rPr lang="zh-CN" altLang="en-US" sz="1100" b="1" dirty="0"/>
              <a:t>代码质量</a:t>
            </a:r>
            <a:r>
              <a:rPr lang="zh-CN" altLang="en-US" sz="1100" dirty="0"/>
              <a:t>：通过</a:t>
            </a:r>
            <a:r>
              <a:rPr lang="en-US" altLang="zh-CN" sz="1100" dirty="0"/>
              <a:t>Git</a:t>
            </a:r>
            <a:r>
              <a:rPr lang="zh-CN" altLang="en-US" sz="1100" dirty="0"/>
              <a:t>的分支管理，同学们可以在独立的分支上进行实验和开发，确保主分支的代码质量。这培养了良好的开发习惯和代码管理意识</a:t>
            </a:r>
          </a:p>
          <a:p>
            <a:pPr>
              <a:buFont typeface="+mj-lt"/>
              <a:buAutoNum type="arabicPeriod"/>
            </a:pPr>
            <a:r>
              <a:rPr lang="zh-CN" altLang="en-US" sz="1100" b="1" dirty="0"/>
              <a:t>备份与恢复</a:t>
            </a:r>
            <a:r>
              <a:rPr lang="zh-CN" altLang="en-US" sz="1100" dirty="0"/>
              <a:t>：</a:t>
            </a:r>
            <a:r>
              <a:rPr lang="en-US" altLang="zh-CN" sz="1100" dirty="0"/>
              <a:t>Git</a:t>
            </a:r>
            <a:r>
              <a:rPr lang="zh-CN" altLang="en-US" sz="1100" dirty="0"/>
              <a:t>提供了强大的备份和恢复功能，防止代码丢失。同学们可以学会如何在意外情况下恢复代码，增强项目的可靠性</a:t>
            </a:r>
          </a:p>
          <a:p>
            <a:pPr>
              <a:buFont typeface="+mj-lt"/>
              <a:buAutoNum type="arabicPeriod"/>
            </a:pPr>
            <a:r>
              <a:rPr lang="zh-CN" altLang="en-US" sz="1100" b="1" dirty="0"/>
              <a:t>持续集成</a:t>
            </a:r>
            <a:r>
              <a:rPr lang="zh-CN" altLang="en-US" sz="1100" dirty="0"/>
              <a:t>：</a:t>
            </a:r>
            <a:r>
              <a:rPr lang="en-US" altLang="zh-CN" sz="1100" dirty="0"/>
              <a:t>Git</a:t>
            </a:r>
            <a:r>
              <a:rPr lang="zh-CN" altLang="en-US" sz="1100" dirty="0"/>
              <a:t>与持续集成工具结合，可以实现自动化测试和部署，帮助同学们了解现代软件开发流程</a:t>
            </a:r>
            <a:endParaRPr lang="en-US" altLang="zh-CN" sz="1100" dirty="0"/>
          </a:p>
          <a:p>
            <a:pPr>
              <a:buFont typeface="+mj-lt"/>
              <a:buAutoNum type="arabicPeriod"/>
            </a:pPr>
            <a:endParaRPr lang="en-US" altLang="zh-CN" sz="1100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这里列出了一些</a:t>
            </a:r>
            <a:r>
              <a:rPr lang="en-US" altLang="zh-CN" dirty="0"/>
              <a:t>git</a:t>
            </a:r>
            <a:r>
              <a:rPr lang="zh-CN" altLang="en-US" dirty="0"/>
              <a:t>的常用命令，前</a:t>
            </a:r>
            <a:r>
              <a:rPr lang="en-US" altLang="zh-CN" dirty="0"/>
              <a:t>3</a:t>
            </a:r>
            <a:r>
              <a:rPr lang="zh-CN" altLang="en-US" dirty="0"/>
              <a:t>个命令我们课程中会用到（简单介绍）：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新家代码仓</a:t>
            </a:r>
            <a:r>
              <a:rPr lang="en-US" altLang="zh-CN" dirty="0"/>
              <a:t>git </a:t>
            </a:r>
            <a:r>
              <a:rPr lang="en-US" altLang="zh-CN" dirty="0" err="1"/>
              <a:t>init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将修改的文件添加到暂存区</a:t>
            </a:r>
            <a:r>
              <a:rPr lang="en-US" altLang="zh-CN" dirty="0"/>
              <a:t>git add .</a:t>
            </a:r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提交文件到版本库</a:t>
            </a:r>
            <a:r>
              <a:rPr lang="en-US" altLang="zh-CN" dirty="0"/>
              <a:t>git commit –m ‘comment’</a:t>
            </a:r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785117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800" b="1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需提醒学生注意：</a:t>
            </a:r>
            <a:endParaRPr lang="en-US" altLang="zh-CN" sz="1800" b="1" dirty="0"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windows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下非</a:t>
            </a:r>
            <a:r>
              <a:rPr lang="en-US" altLang="zh-CN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PowerShell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</a:t>
            </a:r>
            <a:r>
              <a:rPr lang="en-US" altLang="zh-CN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commit -m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提交代码时，</a:t>
            </a:r>
            <a:r>
              <a:rPr lang="en-US" altLang="zh-CN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comment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信息不支持</a:t>
            </a:r>
            <a:r>
              <a:rPr lang="en-US" altLang="zh-CN" sz="1800" b="0" dirty="0">
                <a:solidFill>
                  <a:srgbClr val="FF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''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，需要使用</a:t>
            </a:r>
            <a:r>
              <a:rPr lang="en-US" altLang="zh-CN" sz="1800" b="0" dirty="0">
                <a:solidFill>
                  <a:srgbClr val="FF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""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本课程后续演示涉及</a:t>
            </a:r>
            <a:r>
              <a:rPr lang="en-US" altLang="zh-CN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的操作均为</a:t>
            </a:r>
            <a:r>
              <a:rPr lang="en-US" altLang="zh-CN" sz="1800" b="0" dirty="0" err="1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linux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环境，用</a:t>
            </a:r>
            <a:r>
              <a:rPr lang="en-US" altLang="zh-CN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windows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完成课程的同学需自行适配使用</a:t>
            </a:r>
            <a:r>
              <a:rPr lang="en-US" altLang="zh-CN" sz="1800" b="0" dirty="0">
                <a:solidFill>
                  <a:srgbClr val="FF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""</a:t>
            </a:r>
            <a:r>
              <a:rPr lang="zh-CN" altLang="en-US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提交</a:t>
            </a:r>
            <a:r>
              <a:rPr lang="en-US" altLang="zh-CN" sz="1800" b="0" dirty="0"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commit comment</a:t>
            </a:r>
          </a:p>
        </p:txBody>
      </p:sp>
    </p:spTree>
    <p:extLst>
      <p:ext uri="{BB962C8B-B14F-4D97-AF65-F5344CB8AC3E}">
        <p14:creationId xmlns:p14="http://schemas.microsoft.com/office/powerpoint/2010/main" val="422861084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86426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238777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24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这里需要注意：</a:t>
            </a:r>
            <a:endParaRPr lang="en-US" altLang="zh-CN" sz="24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24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1.</a:t>
            </a:r>
            <a:r>
              <a:rPr lang="zh-CN" altLang="en-US" sz="24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这里有两次代码入库，第一次代码入库并没有实现需求，但要确保可以编译通过。</a:t>
            </a:r>
            <a:endParaRPr lang="en-US" altLang="zh-CN" sz="24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24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特殊场景如通过测试驱动接口设计（从用户角度来设计接口），这时接口还没有（编译失败），可以在实现功能后再提交入库。</a:t>
            </a:r>
            <a:endParaRPr lang="en-US" altLang="zh-CN" sz="24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marR="0" lvl="0" indent="0" algn="l" defTabSz="1219200" rtl="0" eaLnBrk="1" fontAlgn="ctr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en-US" altLang="zh-CN" sz="24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2.</a:t>
            </a:r>
            <a:r>
              <a:rPr lang="zh-CN" altLang="en-US" sz="24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实际完成</a:t>
            </a:r>
            <a:r>
              <a:rPr lang="zh-CN" altLang="en-US" sz="2400" b="1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实现功能</a:t>
            </a:r>
            <a:r>
              <a:rPr lang="zh-CN" altLang="en-US" sz="2400" b="0" kern="1200" baseline="0" dirty="0">
                <a:solidFill>
                  <a:schemeClr val="tx1"/>
                </a:solidFill>
                <a:effectLst/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rPr>
              <a:t>后如果需要可以对代码进行重构优化以提高其质量，每个用例通过后，需要将测试和业务的更改提交上库。</a:t>
            </a:r>
            <a:endParaRPr lang="en-US" altLang="zh-CN" sz="2400" b="0" kern="1200" baseline="0" dirty="0">
              <a:solidFill>
                <a:schemeClr val="tx1"/>
              </a:solidFill>
              <a:effectLst/>
              <a:latin typeface="Huawei Sans" panose="020C0503030203020204" pitchFamily="34" charset="0"/>
              <a:ea typeface="方正兰亭黑简体" panose="02000000000000000000" pitchFamily="2" charset="-122"/>
              <a:cs typeface="+mn-cs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2400" b="1" dirty="0">
              <a:solidFill>
                <a:srgbClr val="FF0000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 algn="l">
              <a:buNone/>
            </a:pPr>
            <a:r>
              <a:rPr lang="zh-CN" altLang="en-US" sz="32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为什么选择先写用例后写代码？</a:t>
            </a:r>
            <a:endParaRPr lang="zh-CN" altLang="en-US" sz="3200" b="0" i="0" dirty="0">
              <a:solidFill>
                <a:srgbClr val="111111"/>
              </a:solidFill>
              <a:effectLst/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zh-CN" altLang="en-US" sz="32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这种方法通常被称为测试驱动开发（</a:t>
            </a:r>
            <a:r>
              <a:rPr lang="en-US" altLang="zh-CN" sz="32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TDD</a:t>
            </a:r>
            <a:r>
              <a:rPr lang="zh-CN" altLang="en-US" sz="32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），其优势包括：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明确需求</a:t>
            </a:r>
            <a:r>
              <a:rPr lang="zh-CN" altLang="en-US" sz="32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：先写测试用例可以帮助明确需求和预期行为，确保开发目标清晰。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驱动设计</a:t>
            </a:r>
            <a:r>
              <a:rPr lang="zh-CN" altLang="en-US" sz="32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：测试用例驱动代码设计，促使开发者编写更简洁、可测试的代码。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持续反馈</a:t>
            </a:r>
            <a:r>
              <a:rPr lang="zh-CN" altLang="en-US" sz="32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：通过不断运行测试用例，开发者可以即时获得反馈，确保每个功能模块都按预期工作。</a:t>
            </a:r>
          </a:p>
          <a:p>
            <a:pPr algn="l">
              <a:buFont typeface="+mj-lt"/>
              <a:buAutoNum type="arabicPeriod"/>
            </a:pPr>
            <a:r>
              <a:rPr lang="zh-CN" altLang="en-US" sz="3200" b="1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减少回归</a:t>
            </a:r>
            <a:r>
              <a:rPr lang="zh-CN" altLang="en-US" sz="3200" b="0" i="0" dirty="0">
                <a:solidFill>
                  <a:srgbClr val="111111"/>
                </a:solidFill>
                <a:effectLst/>
                <a:latin typeface="+mn-ea"/>
                <a:ea typeface="+mn-ea"/>
              </a:rPr>
              <a:t>：先写测试用例可以防止新代码引入的错误影响已有功能，减少回归问题。</a:t>
            </a:r>
          </a:p>
        </p:txBody>
      </p:sp>
    </p:spTree>
    <p:extLst>
      <p:ext uri="{BB962C8B-B14F-4D97-AF65-F5344CB8AC3E}">
        <p14:creationId xmlns:p14="http://schemas.microsoft.com/office/powerpoint/2010/main" val="217960753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Rust</a:t>
            </a:r>
            <a:r>
              <a:rPr lang="zh-CN" altLang="en-US" dirty="0"/>
              <a:t>自带测试框架，测试分组方式有除了</a:t>
            </a:r>
            <a:r>
              <a:rPr lang="zh-CN" altLang="en-US" b="1" dirty="0"/>
              <a:t>同一文件中创建多个测试模块</a:t>
            </a:r>
            <a:r>
              <a:rPr lang="zh-CN" altLang="en-US" dirty="0"/>
              <a:t>外，还可以通过创建多个不同的测试文件进行分组，或者测试文件</a:t>
            </a:r>
            <a:r>
              <a:rPr lang="en-US" altLang="zh-CN" dirty="0"/>
              <a:t>+</a:t>
            </a:r>
            <a:r>
              <a:rPr lang="zh-CN" altLang="en-US" dirty="0"/>
              <a:t>测试模块组合方式。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--</a:t>
            </a:r>
            <a:r>
              <a:rPr lang="zh-CN" altLang="en-US" dirty="0"/>
              <a:t>测试文件本质就是测试模块，与</a:t>
            </a:r>
            <a:r>
              <a:rPr lang="en-US" altLang="zh-CN" dirty="0" err="1"/>
              <a:t>src</a:t>
            </a:r>
            <a:r>
              <a:rPr lang="zh-CN" altLang="en-US" dirty="0"/>
              <a:t>同级的</a:t>
            </a:r>
            <a:r>
              <a:rPr lang="en-US" altLang="zh-CN" dirty="0"/>
              <a:t>tests</a:t>
            </a:r>
            <a:r>
              <a:rPr lang="zh-CN" altLang="en-US" dirty="0"/>
              <a:t>目录每一个都会被作为独立的</a:t>
            </a:r>
            <a:r>
              <a:rPr lang="en-US" altLang="zh-CN" dirty="0"/>
              <a:t>crate</a:t>
            </a:r>
            <a:r>
              <a:rPr lang="zh-CN" altLang="en-US" dirty="0"/>
              <a:t>编译运行，每一个文件也会在测试结果单独展示。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183079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我们在前置课程学习测试框架的知识，</a:t>
            </a:r>
            <a:r>
              <a:rPr lang="en-US" altLang="zh-CN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Rust</a:t>
            </a: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有单元测试和集成测试，单元测试测试对象是函数（包括私有函数），集成测试的测试对象是库项目的接口。</a:t>
            </a: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集成测试针对稳定的接口进行测试，测试相对稳定，因此本课程我们选择集成测试，大部分产品都会选择集成测试。</a:t>
            </a: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r>
              <a:rPr lang="zh-CN" altLang="en-US" sz="1100" b="0" i="0" kern="1200" baseline="0" dirty="0">
                <a:solidFill>
                  <a:srgbClr val="111111"/>
                </a:solidFill>
                <a:effectLst/>
                <a:latin typeface="+mn-ea"/>
                <a:ea typeface="方正兰亭黑简体" panose="02000000000000000000" pitchFamily="2" charset="-122"/>
                <a:cs typeface="+mn-cs"/>
              </a:rPr>
              <a:t>测试用例在命名和结构方面都很清晰和有效，有助于代码的可读性和可维护性。</a:t>
            </a:r>
            <a:endParaRPr lang="en-US" altLang="zh-CN" sz="1100" b="0" i="0" kern="1200" baseline="0" dirty="0">
              <a:solidFill>
                <a:srgbClr val="111111"/>
              </a:solidFill>
              <a:effectLst/>
              <a:latin typeface="+mn-ea"/>
              <a:ea typeface="方正兰亭黑简体" panose="02000000000000000000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接下来我们需要确保：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1.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可以编译通过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2.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测试得到预期失败，确保用例有效</a:t>
            </a: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en-US" altLang="zh-CN" sz="1100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tests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目录下的多个文件都会作为一个独立的</a:t>
            </a:r>
            <a:r>
              <a:rPr lang="en-US" altLang="zh-CN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crate</a:t>
            </a:r>
            <a:r>
              <a:rPr lang="zh-CN" altLang="en-US" sz="1100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进行编译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96655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b="0" dirty="0">
                <a:latin typeface="方正兰亭黑简体" panose="02000000000000000000" pitchFamily="2" charset="-122"/>
              </a:rPr>
              <a:t>这里提交的代码只有测试代码，功能并没有实现但需要确保编译是能够通过的，</a:t>
            </a:r>
            <a:r>
              <a:rPr lang="en-US" altLang="zh-CN" sz="1100" b="0" dirty="0">
                <a:latin typeface="方正兰亭黑简体" panose="02000000000000000000" pitchFamily="2" charset="-122"/>
              </a:rPr>
              <a:t>commit</a:t>
            </a:r>
            <a:r>
              <a:rPr lang="zh-CN" altLang="en-US" sz="1100" b="0" dirty="0">
                <a:latin typeface="方正兰亭黑简体" panose="02000000000000000000" pitchFamily="2" charset="-122"/>
              </a:rPr>
              <a:t>只会提交到本地库并不会影响使用远端库的其它人，测试单独提交可以确保测试代码和业务代码是分开的。</a:t>
            </a:r>
            <a:endParaRPr lang="zh-CN" altLang="en-US" b="0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2594205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dirty="0"/>
              <a:t>实现功能，</a:t>
            </a:r>
            <a:r>
              <a:rPr lang="zh-CN" altLang="en-US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编写</a:t>
            </a:r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刚好让测试通过</a:t>
            </a:r>
            <a:r>
              <a:rPr lang="zh-CN" altLang="en-US" dirty="0">
                <a:solidFill>
                  <a:schemeClr val="tx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的代码，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用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最简单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的方式满足当前需求，不考虑其他需求</a:t>
            </a:r>
            <a:endParaRPr lang="en-US" altLang="zh-CN" dirty="0">
              <a:solidFill>
                <a:schemeClr val="tx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094351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编译并执行测试，验证功能实现的正确性</a:t>
            </a:r>
            <a:endParaRPr lang="en-US" altLang="zh-CN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endParaRPr lang="en-US" altLang="zh-CN" dirty="0">
              <a:solidFill>
                <a:srgbClr val="FFC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FFC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每个测试都在一个新线程中运行，因此多个用例执行顺序与函数定义的顺序并不一致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1728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b="0" dirty="0"/>
              <a:t>已完成移动指令在东向时的功能，小步提交，方便回溯和管理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880579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304" rtl="0" eaLnBrk="1" fontAlgn="ctr" latinLnBrk="0" hangingPunct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buClr>
                <a:schemeClr val="bg1">
                  <a:lumMod val="50000"/>
                </a:schemeClr>
              </a:buClr>
              <a:buSzPct val="60000"/>
              <a:buFont typeface="Huawei Sans" panose="020C0503030203020204" pitchFamily="34" charset="0"/>
              <a:buNone/>
              <a:tabLst/>
              <a:defRPr/>
            </a:pPr>
            <a:r>
              <a:rPr lang="zh-CN" altLang="en-US" sz="1100" kern="1200" baseline="0" dirty="0">
                <a:solidFill>
                  <a:schemeClr val="tx1"/>
                </a:solidFill>
                <a:latin typeface="+mn-ea"/>
                <a:ea typeface="方正兰亭黑简体" panose="02000000000000000000" pitchFamily="2" charset="-122"/>
                <a:cs typeface="+mn-cs"/>
              </a:rPr>
              <a:t>强调练习要求</a:t>
            </a:r>
            <a:endParaRPr lang="zh-CN" altLang="en-US" sz="1100" b="1" kern="1200" baseline="0" dirty="0">
              <a:solidFill>
                <a:srgbClr val="FF0000"/>
              </a:solidFill>
              <a:latin typeface="+mn-ea"/>
              <a:ea typeface="方正兰亭黑简体" panose="02000000000000000000" pitchFamily="2" charset="-122"/>
              <a:cs typeface="+mn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831687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我们对本章做个总结：</a:t>
            </a:r>
            <a:endParaRPr lang="en-US" altLang="zh-CN" b="1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首先测试的重要性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：即使是失败的测试也有其价值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然后小步迭代的优势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：逐步推进可以提高代码质量和开发效率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最后命名规范的必要性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：良好的命名习惯可以大大提升代码的可读性和维护性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方正兰亭黑简体" panose="02000000000000000000" pitchFamily="2" charset="-122"/>
              </a:rPr>
              <a:t>代码的命名体现在</a:t>
            </a:r>
            <a:r>
              <a:rPr lang="en-US" altLang="zh-CN" sz="3200" b="1" dirty="0">
                <a:latin typeface="方正兰亭黑简体" panose="02000000000000000000" pitchFamily="2" charset="-122"/>
              </a:rPr>
              <a:t>3</a:t>
            </a:r>
            <a:r>
              <a:rPr lang="zh-CN" altLang="en-US" sz="3200" b="1" dirty="0">
                <a:latin typeface="方正兰亭黑简体" panose="02000000000000000000" pitchFamily="2" charset="-122"/>
              </a:rPr>
              <a:t>个地方</a:t>
            </a:r>
            <a:r>
              <a:rPr lang="en-US" altLang="zh-CN" sz="3200" b="1" dirty="0">
                <a:latin typeface="方正兰亭黑简体" panose="02000000000000000000" pitchFamily="2" charset="-122"/>
              </a:rPr>
              <a:t>:</a:t>
            </a:r>
            <a:endParaRPr lang="en-US" altLang="zh-CN" sz="3200" b="1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功能代码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r>
              <a:rPr lang="zh-CN" altLang="en-US" dirty="0">
                <a:cs typeface="+mn-ea"/>
                <a:sym typeface="Huawei Sans" panose="020C0503030203020204" pitchFamily="34" charset="0"/>
              </a:rPr>
              <a:t>测试代码</a:t>
            </a:r>
            <a:endParaRPr lang="en-US" altLang="zh-CN" dirty="0">
              <a:cs typeface="+mn-ea"/>
              <a:sym typeface="Huawei Sans" panose="020C0503030203020204" pitchFamily="34" charset="0"/>
            </a:endParaRPr>
          </a:p>
          <a:p>
            <a:r>
              <a:rPr lang="en-US" altLang="zh-CN" dirty="0">
                <a:cs typeface="+mn-ea"/>
                <a:sym typeface="Huawei Sans" panose="020C0503030203020204" pitchFamily="34" charset="0"/>
              </a:rPr>
              <a:t>git commit comment</a:t>
            </a:r>
            <a:r>
              <a:rPr lang="zh-CN" altLang="en-US" dirty="0">
                <a:cs typeface="+mn-ea"/>
                <a:sym typeface="Huawei Sans" panose="020C0503030203020204" pitchFamily="34" charset="0"/>
              </a:rPr>
              <a:t>，要体现出本次代码提交的业务信息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zh-CN" altLang="en-US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56831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682097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63550" y="766763"/>
            <a:ext cx="5932488" cy="3338512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462880" y="4603168"/>
            <a:ext cx="5932800" cy="469724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44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#总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1"/>
            <a:ext cx="12192000" cy="5602224"/>
          </a:xfrm>
          <a:prstGeom prst="rect">
            <a:avLst/>
          </a:prstGeom>
          <a:ln>
            <a:noFill/>
            <a:prstDash val="dash"/>
          </a:ln>
        </p:spPr>
      </p:pic>
      <p:sp>
        <p:nvSpPr>
          <p:cNvPr id="8" name="L 形 7"/>
          <p:cNvSpPr/>
          <p:nvPr userDrawn="1"/>
        </p:nvSpPr>
        <p:spPr>
          <a:xfrm rot="16200000" flipH="1">
            <a:off x="6634196" y="2578036"/>
            <a:ext cx="701032" cy="71765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 baseline="0">
              <a:latin typeface="Huawei Sans" panose="020C0503030203020204" pitchFamily="34" charset="0"/>
              <a:ea typeface="方正兰亭黑简体" panose="02000000000000000000" pitchFamily="2" charset="-122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6560" y="907092"/>
            <a:ext cx="812583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>
              <a:defRPr lang="en-US" sz="3200" b="0" i="0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lvl="0" defTabSz="914034">
              <a:lnSpc>
                <a:spcPts val="3439"/>
              </a:lnSpc>
            </a:pPr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6561" y="1949372"/>
            <a:ext cx="8125840" cy="643926"/>
          </a:xfrm>
        </p:spPr>
        <p:txBody>
          <a:bodyPr vert="horz" lIns="0" tIns="0" rIns="0" bIns="0" rtlCol="0">
            <a:noAutofit/>
          </a:bodyPr>
          <a:lstStyle>
            <a:lvl1pPr marL="228600" indent="-228600">
              <a:buNone/>
              <a:defRPr lang="en-US" sz="1400" baseline="0" dirty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</a:pPr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18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#修订记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3"/>
          <p:cNvGraphicFramePr>
            <a:graphicFrameLocks noGrp="1"/>
          </p:cNvGraphicFramePr>
          <p:nvPr userDrawn="1"/>
        </p:nvGraphicFramePr>
        <p:xfrm>
          <a:off x="1007140" y="1398424"/>
          <a:ext cx="10194260" cy="1082675"/>
        </p:xfrm>
        <a:graphic>
          <a:graphicData uri="http://schemas.openxmlformats.org/drawingml/2006/table">
            <a:tbl>
              <a:tblPr/>
              <a:tblGrid>
                <a:gridCol w="3119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6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课程编码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适用产品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产品版本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课程版本</a:t>
                      </a:r>
                      <a:endParaRPr kumimoji="1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" name="Group 21"/>
          <p:cNvGraphicFramePr>
            <a:graphicFrameLocks noGrp="1"/>
          </p:cNvGraphicFramePr>
          <p:nvPr userDrawn="1"/>
        </p:nvGraphicFramePr>
        <p:xfrm>
          <a:off x="1007140" y="2920836"/>
          <a:ext cx="10177327" cy="3038475"/>
        </p:xfrm>
        <a:graphic>
          <a:graphicData uri="http://schemas.openxmlformats.org/drawingml/2006/table">
            <a:tbl>
              <a:tblPr/>
              <a:tblGrid>
                <a:gridCol w="31190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31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76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78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作者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时间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审核人</a:t>
                      </a:r>
                      <a:r>
                        <a:rPr kumimoji="1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/</a:t>
                      </a:r>
                      <a:r>
                        <a:rPr kumimoji="1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工号</a:t>
                      </a: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Huawei Sans" panose="020C0503030203020204" pitchFamily="34" charset="0"/>
                          <a:ea typeface="方正兰亭黑简体" panose="02000000000000000000" pitchFamily="2" charset="-122"/>
                        </a:rPr>
                        <a:t>新开发/优化</a:t>
                      </a:r>
                      <a:endParaRPr kumimoji="1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2659" marR="102659" marT="40053" marB="40053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>
                          <a:srgbClr val="808080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uawei Sans" panose="020C0503030203020204" pitchFamily="34" charset="0"/>
                        <a:ea typeface="方正兰亭黑简体" panose="02000000000000000000" pitchFamily="2" charset="-122"/>
                      </a:endParaRPr>
                    </a:p>
                  </a:txBody>
                  <a:tcPr marL="104303" marR="104303" marT="39127" marB="391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007139" y="1969626"/>
            <a:ext cx="311903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课程编码</a:t>
            </a:r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4126170" y="1969626"/>
            <a:ext cx="1967450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适用的产品</a:t>
            </a:r>
          </a:p>
        </p:txBody>
      </p:sp>
      <p:sp>
        <p:nvSpPr>
          <p:cNvPr id="7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6093619" y="1969626"/>
            <a:ext cx="302315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V5R2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9116775" y="1969626"/>
            <a:ext cx="2084625" cy="504887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V1R1</a:t>
            </a:r>
            <a:endParaRPr lang="zh-CN" altLang="en-US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007042" y="351779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0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4126170" y="351779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1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6093619" y="351779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9116775" y="3481792"/>
            <a:ext cx="2056050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新开发</a:t>
            </a:r>
          </a:p>
        </p:txBody>
      </p:sp>
      <p:sp>
        <p:nvSpPr>
          <p:cNvPr id="13" name="Rectangle 2"/>
          <p:cNvSpPr>
            <a:spLocks noChangeArrowheads="1"/>
          </p:cNvSpPr>
          <p:nvPr userDrawn="1"/>
        </p:nvSpPr>
        <p:spPr bwMode="auto">
          <a:xfrm>
            <a:off x="952130" y="368661"/>
            <a:ext cx="2802144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8227" tIns="39112" rIns="78227" bIns="39112" anchor="ctr"/>
          <a:lstStyle/>
          <a:p>
            <a:pPr algn="l" defTabSz="1001223" rtl="0" eaLnBrk="0" fontAlgn="ctr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499" b="0" kern="12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修订记录</a:t>
            </a:r>
          </a:p>
        </p:txBody>
      </p:sp>
      <p:sp>
        <p:nvSpPr>
          <p:cNvPr id="14" name="Text Box 58"/>
          <p:cNvSpPr txBox="1">
            <a:spLocks noChangeArrowheads="1"/>
          </p:cNvSpPr>
          <p:nvPr userDrawn="1"/>
        </p:nvSpPr>
        <p:spPr bwMode="auto">
          <a:xfrm>
            <a:off x="8900835" y="296652"/>
            <a:ext cx="2771225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ctr">
              <a:spcBef>
                <a:spcPct val="50000"/>
              </a:spcBef>
            </a:pPr>
            <a:r>
              <a:rPr lang="zh-CN" altLang="en-US" sz="3998" i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本页不打印</a:t>
            </a:r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007042" y="4021852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6" name="文本占位符 7"/>
          <p:cNvSpPr>
            <a:spLocks noGrp="1"/>
          </p:cNvSpPr>
          <p:nvPr>
            <p:ph type="body" sz="quarter" idx="22" hasCustomPrompt="1"/>
          </p:nvPr>
        </p:nvSpPr>
        <p:spPr>
          <a:xfrm>
            <a:off x="4126170" y="4021852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17" name="文本占位符 7"/>
          <p:cNvSpPr>
            <a:spLocks noGrp="1"/>
          </p:cNvSpPr>
          <p:nvPr>
            <p:ph type="body" sz="quarter" idx="23" hasCustomPrompt="1"/>
          </p:nvPr>
        </p:nvSpPr>
        <p:spPr>
          <a:xfrm>
            <a:off x="6093619" y="4021852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24" hasCustomPrompt="1"/>
          </p:nvPr>
        </p:nvSpPr>
        <p:spPr>
          <a:xfrm>
            <a:off x="9116775" y="3985848"/>
            <a:ext cx="2084625" cy="504056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25" hasCustomPrompt="1"/>
          </p:nvPr>
        </p:nvSpPr>
        <p:spPr>
          <a:xfrm>
            <a:off x="1007042" y="448990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0" name="文本占位符 7"/>
          <p:cNvSpPr>
            <a:spLocks noGrp="1"/>
          </p:cNvSpPr>
          <p:nvPr>
            <p:ph type="body" sz="quarter" idx="26" hasCustomPrompt="1"/>
          </p:nvPr>
        </p:nvSpPr>
        <p:spPr>
          <a:xfrm>
            <a:off x="4126170" y="448990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1" name="文本占位符 7"/>
          <p:cNvSpPr>
            <a:spLocks noGrp="1"/>
          </p:cNvSpPr>
          <p:nvPr>
            <p:ph type="body" sz="quarter" idx="27" hasCustomPrompt="1"/>
          </p:nvPr>
        </p:nvSpPr>
        <p:spPr>
          <a:xfrm>
            <a:off x="6093619" y="448990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28" hasCustomPrompt="1"/>
          </p:nvPr>
        </p:nvSpPr>
        <p:spPr>
          <a:xfrm>
            <a:off x="9116775" y="4489904"/>
            <a:ext cx="20560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29" hasCustomPrompt="1"/>
          </p:nvPr>
        </p:nvSpPr>
        <p:spPr>
          <a:xfrm>
            <a:off x="1007042" y="5029964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30" hasCustomPrompt="1"/>
          </p:nvPr>
        </p:nvSpPr>
        <p:spPr>
          <a:xfrm>
            <a:off x="4126170" y="5029964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31" hasCustomPrompt="1"/>
          </p:nvPr>
        </p:nvSpPr>
        <p:spPr>
          <a:xfrm>
            <a:off x="6093619" y="5029964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32" hasCustomPrompt="1"/>
          </p:nvPr>
        </p:nvSpPr>
        <p:spPr>
          <a:xfrm>
            <a:off x="9116775" y="5029964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33" hasCustomPrompt="1"/>
          </p:nvPr>
        </p:nvSpPr>
        <p:spPr>
          <a:xfrm>
            <a:off x="1007042" y="5498016"/>
            <a:ext cx="3119128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28" name="文本占位符 7"/>
          <p:cNvSpPr>
            <a:spLocks noGrp="1"/>
          </p:cNvSpPr>
          <p:nvPr>
            <p:ph type="body" sz="quarter" idx="34" hasCustomPrompt="1"/>
          </p:nvPr>
        </p:nvSpPr>
        <p:spPr>
          <a:xfrm>
            <a:off x="4126170" y="5498016"/>
            <a:ext cx="1967450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en-US" altLang="zh-CN" dirty="0"/>
              <a:t>2019.01.25</a:t>
            </a:r>
            <a:endParaRPr lang="zh-CN" altLang="en-US" dirty="0"/>
          </a:p>
        </p:txBody>
      </p:sp>
      <p:sp>
        <p:nvSpPr>
          <p:cNvPr id="29" name="文本占位符 7"/>
          <p:cNvSpPr>
            <a:spLocks noGrp="1"/>
          </p:cNvSpPr>
          <p:nvPr>
            <p:ph type="body" sz="quarter" idx="35" hasCustomPrompt="1"/>
          </p:nvPr>
        </p:nvSpPr>
        <p:spPr>
          <a:xfrm>
            <a:off x="6093619" y="5498016"/>
            <a:ext cx="302315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姓名</a:t>
            </a:r>
            <a:r>
              <a:rPr lang="en-US" altLang="zh-CN" dirty="0"/>
              <a:t>/</a:t>
            </a:r>
            <a:r>
              <a:rPr lang="zh-CN" altLang="en-US" dirty="0"/>
              <a:t>工号</a:t>
            </a:r>
          </a:p>
        </p:txBody>
      </p:sp>
      <p:sp>
        <p:nvSpPr>
          <p:cNvPr id="30" name="文本占位符 7"/>
          <p:cNvSpPr>
            <a:spLocks noGrp="1"/>
          </p:cNvSpPr>
          <p:nvPr>
            <p:ph type="body" sz="quarter" idx="36" hasCustomPrompt="1"/>
          </p:nvPr>
        </p:nvSpPr>
        <p:spPr>
          <a:xfrm>
            <a:off x="9116775" y="5498016"/>
            <a:ext cx="2084625" cy="468052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100000"/>
              </a:lnSpc>
              <a:buNone/>
              <a:defRPr sz="1599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/>
              <a:t>优化</a:t>
            </a:r>
          </a:p>
        </p:txBody>
      </p:sp>
    </p:spTree>
    <p:extLst>
      <p:ext uri="{BB962C8B-B14F-4D97-AF65-F5344CB8AC3E}">
        <p14:creationId xmlns:p14="http://schemas.microsoft.com/office/powerpoint/2010/main" val="381341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#前言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本章主要讲述</a:t>
            </a:r>
            <a:r>
              <a:rPr lang="en-US" altLang="zh-CN" dirty="0"/>
              <a:t>...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17614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前言</a:t>
            </a:r>
          </a:p>
        </p:txBody>
      </p:sp>
    </p:spTree>
    <p:extLst>
      <p:ext uri="{BB962C8B-B14F-4D97-AF65-F5344CB8AC3E}">
        <p14:creationId xmlns:p14="http://schemas.microsoft.com/office/powerpoint/2010/main" val="1568485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#目标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eaLnBrk="1" fontAlgn="ctr" hangingPunct="1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eaLnBrk="1" hangingPunct="1"/>
            <a:r>
              <a:rPr lang="zh-CN" altLang="en-US" dirty="0"/>
              <a:t>学完本课程后，您将能够：</a:t>
            </a:r>
            <a:endParaRPr lang="en-US" altLang="zh-CN" dirty="0"/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20820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目标</a:t>
            </a:r>
            <a:endParaRPr lang="en-US" altLang="zh-CN" sz="3640" b="0" baseline="0" dirty="0">
              <a:solidFill>
                <a:srgbClr val="404040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402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076579"/>
            <a:ext cx="10153650" cy="5150485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837191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282901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3027281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6#本节概述和学习目标(可选)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4" y="1844675"/>
            <a:ext cx="10153651" cy="4082668"/>
          </a:xfrm>
          <a:prstGeom prst="rect">
            <a:avLst/>
          </a:prstGeom>
        </p:spPr>
        <p:txBody>
          <a:bodyPr/>
          <a:lstStyle>
            <a:lvl1pPr marL="302279" indent="-302279" algn="just" fontAlgn="ctr">
              <a:buClrTx/>
              <a:buSzPct val="50000"/>
              <a:buFont typeface="Wingdings" panose="05000000000000000000" pitchFamily="2" charset="2"/>
              <a:buChar char="l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938" indent="-251899" fontAlgn="ctr">
              <a:buClrTx/>
              <a:buSzPct val="50000"/>
              <a:buFont typeface="Wingdings" panose="05000000000000000000" pitchFamily="2" charset="2"/>
              <a:buChar char="p"/>
              <a:defRPr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 marL="1003998" indent="-201519" fontAlgn="ctr">
              <a:buSzPct val="50000"/>
              <a:buFont typeface="Wingdings" panose="05000000000000000000" pitchFamily="2" charset="2"/>
              <a:buChar char="n"/>
              <a:defRPr lang="zh-CN" altLang="en-US" baseline="0" dirty="0" smtClean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</a:defRPr>
            </a:lvl3pPr>
            <a:lvl4pPr fontAlgn="ctr"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4pPr>
            <a:lvl5pPr marL="1802879" indent="-201519" fontAlgn="ctr">
              <a:buClrTx/>
              <a:buFont typeface="Huawei Sans" panose="020C0503030203020204" pitchFamily="34" charset="0"/>
              <a:buChar char="~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  <a:p>
            <a:pPr eaLnBrk="1" hangingPunct="1"/>
            <a:endParaRPr lang="en-US" altLang="zh-CN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414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4397358" cy="6524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001223" eaLnBrk="0" fontAlgn="ctr" hangingPunct="0"/>
            <a:r>
              <a:rPr lang="zh-CN" altLang="en-US" sz="3640" b="0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本节概述和学习目标</a:t>
            </a:r>
          </a:p>
        </p:txBody>
      </p:sp>
    </p:spTree>
    <p:extLst>
      <p:ext uri="{BB962C8B-B14F-4D97-AF65-F5344CB8AC3E}">
        <p14:creationId xmlns:p14="http://schemas.microsoft.com/office/powerpoint/2010/main" val="17919754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0#思考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6" y="1844675"/>
            <a:ext cx="10153650" cy="4068812"/>
          </a:xfrm>
          <a:prstGeom prst="rect">
            <a:avLst/>
          </a:prstGeom>
        </p:spPr>
        <p:txBody>
          <a:bodyPr/>
          <a:lstStyle>
            <a:lvl1pPr marL="457200" marR="0" indent="-457200" algn="just" defTabSz="801688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+mj-lt"/>
              <a:buAutoNum type="arabicPeriod"/>
              <a:tabLst/>
              <a:defRPr sz="2000"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744537" indent="-342900" algn="just" fontAlgn="ctr">
              <a:buSzPct val="100000"/>
              <a:buFont typeface="+mj-lt"/>
              <a:buAutoNum type="alphaUcPeriod"/>
              <a:defRPr sz="1800" baseline="0">
                <a:latin typeface="Huawei Sans" panose="020C0503030203020204" pitchFamily="34" charset="0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r>
              <a:rPr lang="zh-CN" altLang="en-US" dirty="0"/>
              <a:t>此版式用于思考题</a:t>
            </a:r>
            <a:r>
              <a:rPr lang="en-US" altLang="zh-CN" dirty="0"/>
              <a:t>-201501</a:t>
            </a:r>
            <a:r>
              <a:rPr lang="zh-CN" altLang="en-US" dirty="0"/>
              <a:t>具体格式（序号格式需以模板展示）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cxnSp>
        <p:nvCxnSpPr>
          <p:cNvPr id="2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368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584088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思考题</a:t>
            </a:r>
          </a:p>
        </p:txBody>
      </p:sp>
    </p:spTree>
    <p:extLst>
      <p:ext uri="{BB962C8B-B14F-4D97-AF65-F5344CB8AC3E}">
        <p14:creationId xmlns:p14="http://schemas.microsoft.com/office/powerpoint/2010/main" val="161407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1#本节小结（可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此版式用于每一节的小结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11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本节小结</a:t>
            </a:r>
          </a:p>
        </p:txBody>
      </p:sp>
    </p:spTree>
    <p:extLst>
      <p:ext uri="{BB962C8B-B14F-4D97-AF65-F5344CB8AC3E}">
        <p14:creationId xmlns:p14="http://schemas.microsoft.com/office/powerpoint/2010/main" val="716646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2#本章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内容占位符 6"/>
          <p:cNvSpPr>
            <a:spLocks noGrp="1"/>
          </p:cNvSpPr>
          <p:nvPr>
            <p:ph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2pPr>
            <a:lvl3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3pPr>
            <a:lvl4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4pPr>
            <a:lvl5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cxnSp>
        <p:nvCxnSpPr>
          <p:cNvPr id="9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本章总结</a:t>
            </a:r>
          </a:p>
        </p:txBody>
      </p:sp>
    </p:spTree>
    <p:extLst>
      <p:ext uri="{BB962C8B-B14F-4D97-AF65-F5344CB8AC3E}">
        <p14:creationId xmlns:p14="http://schemas.microsoft.com/office/powerpoint/2010/main" val="2071008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#更多信息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5pPr>
              <a:buNone/>
              <a:defRPr/>
            </a:lvl5pPr>
          </a:lstStyle>
          <a:p>
            <a:r>
              <a:rPr lang="zh-CN" altLang="en-US" dirty="0"/>
              <a:t>此版式用于提供给学员更多学习信息。</a:t>
            </a:r>
          </a:p>
        </p:txBody>
      </p:sp>
      <p:cxnSp>
        <p:nvCxnSpPr>
          <p:cNvPr id="12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更多信息</a:t>
            </a:r>
          </a:p>
        </p:txBody>
      </p:sp>
    </p:spTree>
    <p:extLst>
      <p:ext uri="{BB962C8B-B14F-4D97-AF65-F5344CB8AC3E}">
        <p14:creationId xmlns:p14="http://schemas.microsoft.com/office/powerpoint/2010/main" val="619705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4#学习推荐(可选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6"/>
          <p:cNvSpPr>
            <a:spLocks noGrp="1"/>
          </p:cNvSpPr>
          <p:nvPr>
            <p:ph type="body" sz="quarter" idx="10"/>
          </p:nvPr>
        </p:nvSpPr>
        <p:spPr>
          <a:xfrm>
            <a:off x="1019175" y="1844675"/>
            <a:ext cx="10153650" cy="4082880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endParaRPr lang="zh-CN" altLang="en-US" dirty="0"/>
          </a:p>
        </p:txBody>
      </p:sp>
      <p:cxnSp>
        <p:nvCxnSpPr>
          <p:cNvPr id="14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7" y="1349255"/>
            <a:ext cx="1800000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2050561" cy="6518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baseline="0" dirty="0">
                <a:solidFill>
                  <a:srgbClr val="40404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Microsoft YaHei" charset="-122"/>
              </a:rPr>
              <a:t>学习推荐</a:t>
            </a:r>
          </a:p>
        </p:txBody>
      </p:sp>
    </p:spTree>
    <p:extLst>
      <p:ext uri="{BB962C8B-B14F-4D97-AF65-F5344CB8AC3E}">
        <p14:creationId xmlns:p14="http://schemas.microsoft.com/office/powerpoint/2010/main" val="3100959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#标题和内容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484312"/>
            <a:ext cx="10728326" cy="4443243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743125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7*#标题和内容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8598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>
                <a:latin typeface="Huawei Sans" panose="020C0503030203020204" pitchFamily="34" charset="0"/>
                <a:ea typeface="方正兰亭黑简体" panose="02000000000000000000" pitchFamily="2" charset="-122"/>
              </a:defRPr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31838" y="1047750"/>
            <a:ext cx="10728326" cy="4879805"/>
          </a:xfrm>
          <a:prstGeom prst="rect">
            <a:avLst/>
          </a:prstGeom>
        </p:spPr>
        <p:txBody>
          <a:bodyPr/>
          <a:lstStyle>
            <a:lvl1pPr algn="just" fontAlgn="ctr">
              <a:buClrTx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r>
              <a:rPr lang="zh-CN" altLang="en-US" dirty="0"/>
              <a:t>单击此处输入文字</a:t>
            </a:r>
          </a:p>
        </p:txBody>
      </p:sp>
    </p:spTree>
    <p:extLst>
      <p:ext uri="{BB962C8B-B14F-4D97-AF65-F5344CB8AC3E}">
        <p14:creationId xmlns:p14="http://schemas.microsoft.com/office/powerpoint/2010/main" val="29301326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  <p15:guide id="2" orient="horz" pos="66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#仅标题（两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100192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948024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8*#仅标题（一行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49709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lang="zh-CN" altLang="en-US" baseline="0" dirty="0"/>
            </a:lvl1pPr>
          </a:lstStyle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760736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9#全白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6014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5#目录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1019175" y="1844675"/>
            <a:ext cx="10153650" cy="4068811"/>
          </a:xfrm>
          <a:prstGeom prst="rect">
            <a:avLst/>
          </a:prstGeom>
        </p:spPr>
        <p:txBody>
          <a:bodyPr/>
          <a:lstStyle>
            <a:lvl1pPr marL="457017" marR="0" indent="-457017" algn="just" defTabSz="801367" rtl="0" eaLnBrk="1" fontAlgn="ctr" latinLnBrk="0" hangingPunct="1">
              <a:lnSpc>
                <a:spcPct val="140000"/>
              </a:lnSpc>
              <a:spcBef>
                <a:spcPct val="30000"/>
              </a:spcBef>
              <a:spcAft>
                <a:spcPct val="0"/>
              </a:spcAft>
              <a:buClrTx/>
              <a:buSzPct val="100000"/>
              <a:buFont typeface="+mj-lt"/>
              <a:buAutoNum type="arabicPeriod"/>
              <a:tabLst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fontAlgn="ctr">
              <a:buClrTx/>
              <a:buSzPct val="100000"/>
              <a:buFont typeface="Huawei Sans" panose="020C0503030203020204" pitchFamily="34" charset="0"/>
              <a:buChar char="▫"/>
              <a:defRPr baseline="0">
                <a:latin typeface="Huawei Sans" panose="020C0503030203020204" pitchFamily="34" charset="0"/>
                <a:ea typeface="方正兰亭黑简体" panose="02000000000000000000" pitchFamily="2" charset="-122"/>
              </a:defRPr>
            </a:lvl2pPr>
            <a:lvl3pPr>
              <a:defRPr/>
            </a:lvl3pPr>
            <a:lvl5pPr>
              <a:buNone/>
              <a:defRPr/>
            </a:lvl5pPr>
          </a:lstStyle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一级目录一</a:t>
            </a:r>
            <a:endParaRPr lang="en-US" altLang="zh-CN" dirty="0"/>
          </a:p>
          <a:p>
            <a:pPr marL="653788" lvl="1" indent="-457017">
              <a:buSzPct val="100000"/>
              <a:buFont typeface="+mj-lt"/>
              <a:buAutoNum type="arabicPeriod"/>
            </a:pP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一级目录二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一级目录三</a:t>
            </a:r>
            <a:endParaRPr lang="en-US" altLang="zh-CN" dirty="0"/>
          </a:p>
          <a:p>
            <a:pPr marL="457200" indent="-457200">
              <a:buSzPct val="100000"/>
              <a:buFont typeface="+mj-lt"/>
              <a:buAutoNum type="arabicPeriod"/>
            </a:pPr>
            <a:r>
              <a:rPr lang="zh-CN" altLang="en-US" dirty="0"/>
              <a:t>一级目录四</a:t>
            </a:r>
            <a:endParaRPr lang="en-US" altLang="zh-CN" dirty="0"/>
          </a:p>
          <a:p>
            <a:endParaRPr lang="zh-CN" altLang="en-US" dirty="0"/>
          </a:p>
        </p:txBody>
      </p:sp>
      <p:cxnSp>
        <p:nvCxnSpPr>
          <p:cNvPr id="28" name="直线连接符 14">
            <a:extLst>
              <a:ext uri="{FF2B5EF4-FFF2-40B4-BE49-F238E27FC236}">
                <a16:creationId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文本框 16">
            <a:extLst>
              <a:ext uri="{FF2B5EF4-FFF2-40B4-BE49-F238E27FC236}">
                <a16:creationId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defTabSz="1001223" eaLnBrk="0" fontAlgn="ctr" hangingPunct="0">
              <a:defRPr sz="364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</a:lstStyle>
          <a:p>
            <a:pPr lvl="0"/>
            <a:r>
              <a:rPr lang="zh-CN" altLang="en-US" dirty="0">
                <a:solidFill>
                  <a:srgbClr val="404040"/>
                </a:solidFill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0697169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42">
          <p15:clr>
            <a:srgbClr val="FBAE40"/>
          </p15:clr>
        </p15:guide>
        <p15:guide id="2" pos="7038">
          <p15:clr>
            <a:srgbClr val="FBAE40"/>
          </p15:clr>
        </p15:guide>
        <p15:guide id="3" orient="horz" pos="116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5#谢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45141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8954" y="6270652"/>
            <a:ext cx="1981542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3089" y="5976169"/>
            <a:ext cx="2257507" cy="482533"/>
          </a:xfrm>
          <a:prstGeom prst="rect">
            <a:avLst/>
          </a:prstGeom>
        </p:spPr>
      </p:pic>
      <p:grpSp>
        <p:nvGrpSpPr>
          <p:cNvPr id="30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2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9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260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748">
          <p15:clr>
            <a:srgbClr val="F26B43"/>
          </p15:clr>
        </p15:guide>
        <p15:guide id="2" pos="574">
          <p15:clr>
            <a:srgbClr val="F26B43"/>
          </p15:clr>
        </p15:guide>
        <p15:guide id="3" orient="horz" pos="572">
          <p15:clr>
            <a:srgbClr val="F26B43"/>
          </p15:clr>
        </p15:guide>
        <p15:guide id="4" orient="horz" pos="1230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7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28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29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1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6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38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333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4" r:id="rId1"/>
    <p:sldLayoutId id="2147483915" r:id="rId2"/>
    <p:sldLayoutId id="2147483916" r:id="rId3"/>
    <p:sldLayoutId id="2147483917" r:id="rId4"/>
    <p:sldLayoutId id="2147483918" r:id="rId5"/>
    <p:sldLayoutId id="2147483919" r:id="rId6"/>
    <p:sldLayoutId id="2147483920" r:id="rId7"/>
    <p:sldLayoutId id="2147483921" r:id="rId8"/>
    <p:sldLayoutId id="2147483922" r:id="rId9"/>
    <p:sldLayoutId id="2147483923" r:id="rId10"/>
  </p:sldLayoutIdLst>
  <p:txStyles>
    <p:titleStyle>
      <a:lvl1pPr algn="l" defTabSz="914034" rtl="0" eaLnBrk="1" fontAlgn="ctr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642">
          <p15:clr>
            <a:srgbClr val="F26B43"/>
          </p15:clr>
        </p15:guide>
        <p15:guide id="4" pos="7038">
          <p15:clr>
            <a:srgbClr val="F26B43"/>
          </p15:clr>
        </p15:guide>
        <p15:guide id="5" orient="horz" pos="2341">
          <p15:clr>
            <a:srgbClr val="F26B43"/>
          </p15:clr>
        </p15:guide>
        <p15:guide id="6" orient="horz" pos="3906">
          <p15:clr>
            <a:srgbClr val="F26B43"/>
          </p15:clr>
        </p15:guide>
        <p15:guide id="7" orient="horz" pos="1162">
          <p15:clr>
            <a:srgbClr val="F26B43"/>
          </p15:clr>
        </p15:guide>
        <p15:guide id="8" pos="3840">
          <p15:clr>
            <a:srgbClr val="F26B43"/>
          </p15:clr>
        </p15:guide>
        <p15:guide id="9" orient="horz" pos="731">
          <p15:clr>
            <a:srgbClr val="F26B43"/>
          </p15:clr>
        </p15:guide>
        <p15:guide id="10" orient="horz" pos="86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34131" y="457499"/>
            <a:ext cx="10726032" cy="98011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/>
          <a:p>
            <a:pPr marL="0" lvl="0" indent="0" defTabSz="1187798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zh-CN" altLang="en-US" dirty="0"/>
              <a:t>单击此处编辑母版标题样式</a:t>
            </a:r>
          </a:p>
        </p:txBody>
      </p:sp>
      <p:sp>
        <p:nvSpPr>
          <p:cNvPr id="28" name="Rectangle 57"/>
          <p:cNvSpPr>
            <a:spLocks noGrp="1" noChangeArrowheads="1"/>
          </p:cNvSpPr>
          <p:nvPr>
            <p:ph type="body" idx="1"/>
          </p:nvPr>
        </p:nvSpPr>
        <p:spPr bwMode="auto">
          <a:xfrm>
            <a:off x="731838" y="1484313"/>
            <a:ext cx="10728325" cy="4443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t>Huawei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baseline="0" smtClean="0">
                <a:solidFill>
                  <a:srgbClr val="1D1D1B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baseline="0" dirty="0">
              <a:solidFill>
                <a:srgbClr val="1D1D1B"/>
              </a:solidFill>
              <a:latin typeface="Huawei Sans" panose="020C0503030203020204" pitchFamily="34" charset="0"/>
              <a:ea typeface="方正兰亭黑简体" panose="02000000000000000000" pitchFamily="2" charset="-122"/>
              <a:cs typeface="Huawei Sans" panose="020C0503030203020204" pitchFamily="34" charset="0"/>
            </a:endParaRPr>
          </a:p>
        </p:txBody>
      </p:sp>
      <p:pic>
        <p:nvPicPr>
          <p:cNvPr id="25" name="图片 24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7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7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7294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2" r:id="rId6"/>
  </p:sldLayoutIdLst>
  <p:txStyles>
    <p:titleStyle>
      <a:lvl1pPr algn="l" defTabSz="914034" rtl="0" eaLnBrk="1" fontAlgn="base" latinLnBrk="0" hangingPunct="1">
        <a:lnSpc>
          <a:spcPct val="90000"/>
        </a:lnSpc>
        <a:spcBef>
          <a:spcPct val="0"/>
        </a:spcBef>
        <a:buNone/>
        <a:defRPr lang="zh-CN" altLang="en-US" sz="3200" kern="1200" baseline="0" dirty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</p:titleStyle>
    <p:bodyStyle>
      <a:lvl1pPr marL="302279" indent="-302279" algn="l" defTabSz="914034" rtl="0" eaLnBrk="1" fontAlgn="ctr" latinLnBrk="0" hangingPunct="1">
        <a:lnSpc>
          <a:spcPct val="140000"/>
        </a:lnSpc>
        <a:spcBef>
          <a:spcPts val="792"/>
        </a:spcBef>
        <a:buSzPct val="50000"/>
        <a:buFont typeface="Wingdings" panose="05000000000000000000" pitchFamily="2" charset="2"/>
        <a:buChar char="l"/>
        <a:defRPr sz="21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1pPr>
      <a:lvl2pPr marL="654938" indent="-251899" algn="l" defTabSz="914034" rtl="0" eaLnBrk="1" fontAlgn="ctr" latinLnBrk="0" hangingPunct="1">
        <a:lnSpc>
          <a:spcPct val="140000"/>
        </a:lnSpc>
        <a:spcBef>
          <a:spcPts val="720"/>
        </a:spcBef>
        <a:buClrTx/>
        <a:buSzPct val="50000"/>
        <a:buFont typeface="Wingdings" panose="05000000000000000000" pitchFamily="2" charset="2"/>
        <a:buChar char="p"/>
        <a:defRPr sz="19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2pPr>
      <a:lvl3pPr marL="1003998" indent="-201519" algn="l" defTabSz="914034" rtl="0" eaLnBrk="1" fontAlgn="ctr" latinLnBrk="0" hangingPunct="1">
        <a:lnSpc>
          <a:spcPct val="140000"/>
        </a:lnSpc>
        <a:spcBef>
          <a:spcPts val="648"/>
        </a:spcBef>
        <a:buClrTx/>
        <a:buSzPct val="50000"/>
        <a:buFont typeface="Wingdings" panose="05000000000000000000" pitchFamily="2" charset="2"/>
        <a:buChar char="n"/>
        <a:defRPr sz="17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3pPr>
      <a:lvl4pPr marL="1399840" indent="-197921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−"/>
        <a:defRPr sz="15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4pPr>
      <a:lvl5pPr marL="1802879" indent="-201519" algn="l" defTabSz="914034" rtl="0" eaLnBrk="1" fontAlgn="ctr" latinLnBrk="0" hangingPunct="1">
        <a:lnSpc>
          <a:spcPct val="140000"/>
        </a:lnSpc>
        <a:spcBef>
          <a:spcPts val="576"/>
        </a:spcBef>
        <a:buFont typeface="Huawei Sans" panose="020C0503030203020204" pitchFamily="34" charset="0"/>
        <a:buChar char="~"/>
        <a:defRPr sz="1399" kern="1200" baseline="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+mn-cs"/>
        </a:defRPr>
      </a:lvl5pPr>
      <a:lvl6pPr marL="2513594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611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628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646" indent="-228509" algn="l" defTabSz="9140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1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3906">
          <p15:clr>
            <a:srgbClr val="F26B43"/>
          </p15:clr>
        </p15:guide>
        <p15:guide id="6" pos="3840">
          <p15:clr>
            <a:srgbClr val="F26B43"/>
          </p15:clr>
        </p15:guide>
        <p15:guide id="7" pos="461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87">
            <a:extLst>
              <a:ext uri="{FF2B5EF4-FFF2-40B4-BE49-F238E27FC236}">
                <a16:creationId xmlns:a16="http://schemas.microsoft.com/office/drawing/2014/main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71" y="2625389"/>
            <a:ext cx="1963323" cy="4233515"/>
            <a:chOff x="5343885" y="-48857"/>
            <a:chExt cx="3263586" cy="7037279"/>
          </a:xfrm>
        </p:grpSpPr>
        <p:sp>
          <p:nvSpPr>
            <p:cNvPr id="30" name="矩形 13">
              <a:extLst>
                <a:ext uri="{FF2B5EF4-FFF2-40B4-BE49-F238E27FC236}">
                  <a16:creationId xmlns:a16="http://schemas.microsoft.com/office/drawing/2014/main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31" name="文本框 15">
              <a:extLst>
                <a:ext uri="{FF2B5EF4-FFF2-40B4-BE49-F238E27FC236}">
                  <a16:creationId xmlns:a16="http://schemas.microsoft.com/office/drawing/2014/main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32" name="矩形 13">
              <a:extLst>
                <a:ext uri="{FF2B5EF4-FFF2-40B4-BE49-F238E27FC236}">
                  <a16:creationId xmlns:a16="http://schemas.microsoft.com/office/drawing/2014/main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33" name="矩形 13">
              <a:extLst>
                <a:ext uri="{FF2B5EF4-FFF2-40B4-BE49-F238E27FC236}">
                  <a16:creationId xmlns:a16="http://schemas.microsoft.com/office/drawing/2014/main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34" name="矩形 13">
              <a:extLst>
                <a:ext uri="{FF2B5EF4-FFF2-40B4-BE49-F238E27FC236}">
                  <a16:creationId xmlns:a16="http://schemas.microsoft.com/office/drawing/2014/main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35" name="矩形 13">
              <a:extLst>
                <a:ext uri="{FF2B5EF4-FFF2-40B4-BE49-F238E27FC236}">
                  <a16:creationId xmlns:a16="http://schemas.microsoft.com/office/drawing/2014/main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36" name="矩形 13">
              <a:extLst>
                <a:ext uri="{FF2B5EF4-FFF2-40B4-BE49-F238E27FC236}">
                  <a16:creationId xmlns:a16="http://schemas.microsoft.com/office/drawing/2014/main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37" name="矩形 13">
              <a:extLst>
                <a:ext uri="{FF2B5EF4-FFF2-40B4-BE49-F238E27FC236}">
                  <a16:creationId xmlns:a16="http://schemas.microsoft.com/office/drawing/2014/main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38" name="文本框 15">
              <a:extLst>
                <a:ext uri="{FF2B5EF4-FFF2-40B4-BE49-F238E27FC236}">
                  <a16:creationId xmlns:a16="http://schemas.microsoft.com/office/drawing/2014/main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39" name="矩形 13">
              <a:extLst>
                <a:ext uri="{FF2B5EF4-FFF2-40B4-BE49-F238E27FC236}">
                  <a16:creationId xmlns:a16="http://schemas.microsoft.com/office/drawing/2014/main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40" name="矩形 13">
              <a:extLst>
                <a:ext uri="{FF2B5EF4-FFF2-40B4-BE49-F238E27FC236}">
                  <a16:creationId xmlns:a16="http://schemas.microsoft.com/office/drawing/2014/main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41" name="矩形 13">
              <a:extLst>
                <a:ext uri="{FF2B5EF4-FFF2-40B4-BE49-F238E27FC236}">
                  <a16:creationId xmlns:a16="http://schemas.microsoft.com/office/drawing/2014/main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42" name="矩形 13">
              <a:extLst>
                <a:ext uri="{FF2B5EF4-FFF2-40B4-BE49-F238E27FC236}">
                  <a16:creationId xmlns:a16="http://schemas.microsoft.com/office/drawing/2014/main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43" name="矩形 13">
              <a:extLst>
                <a:ext uri="{FF2B5EF4-FFF2-40B4-BE49-F238E27FC236}">
                  <a16:creationId xmlns:a16="http://schemas.microsoft.com/office/drawing/2014/main" id="{371A8520-F934-304C-B57F-B49F768694E2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44" name="矩形 13">
              <a:extLst>
                <a:ext uri="{FF2B5EF4-FFF2-40B4-BE49-F238E27FC236}">
                  <a16:creationId xmlns:a16="http://schemas.microsoft.com/office/drawing/2014/main" id="{B83004D7-279B-C14E-9FCF-870FA1B74FDF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45" name="矩形 13">
              <a:extLst>
                <a:ext uri="{FF2B5EF4-FFF2-40B4-BE49-F238E27FC236}">
                  <a16:creationId xmlns:a16="http://schemas.microsoft.com/office/drawing/2014/main" id="{99635968-4E69-CC41-9D78-6DF253FE3035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46" name="矩形 13">
              <a:extLst>
                <a:ext uri="{FF2B5EF4-FFF2-40B4-BE49-F238E27FC236}">
                  <a16:creationId xmlns:a16="http://schemas.microsoft.com/office/drawing/2014/main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47" name="矩形 13">
              <a:extLst>
                <a:ext uri="{FF2B5EF4-FFF2-40B4-BE49-F238E27FC236}">
                  <a16:creationId xmlns:a16="http://schemas.microsoft.com/office/drawing/2014/main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48" name="矩形 13">
              <a:extLst>
                <a:ext uri="{FF2B5EF4-FFF2-40B4-BE49-F238E27FC236}">
                  <a16:creationId xmlns:a16="http://schemas.microsoft.com/office/drawing/2014/main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49" name="矩形 13">
              <a:extLst>
                <a:ext uri="{FF2B5EF4-FFF2-40B4-BE49-F238E27FC236}">
                  <a16:creationId xmlns:a16="http://schemas.microsoft.com/office/drawing/2014/main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50" name="矩形 13">
              <a:extLst>
                <a:ext uri="{FF2B5EF4-FFF2-40B4-BE49-F238E27FC236}">
                  <a16:creationId xmlns:a16="http://schemas.microsoft.com/office/drawing/2014/main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1" name="矩形 13">
              <a:extLst>
                <a:ext uri="{FF2B5EF4-FFF2-40B4-BE49-F238E27FC236}">
                  <a16:creationId xmlns:a16="http://schemas.microsoft.com/office/drawing/2014/main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52" name="矩形 13">
              <a:extLst>
                <a:ext uri="{FF2B5EF4-FFF2-40B4-BE49-F238E27FC236}">
                  <a16:creationId xmlns:a16="http://schemas.microsoft.com/office/drawing/2014/main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53" name="矩形 13">
              <a:extLst>
                <a:ext uri="{FF2B5EF4-FFF2-40B4-BE49-F238E27FC236}">
                  <a16:creationId xmlns:a16="http://schemas.microsoft.com/office/drawing/2014/main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54" name="矩形 13">
              <a:extLst>
                <a:ext uri="{FF2B5EF4-FFF2-40B4-BE49-F238E27FC236}">
                  <a16:creationId xmlns:a16="http://schemas.microsoft.com/office/drawing/2014/main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55" name="矩形 13">
              <a:extLst>
                <a:ext uri="{FF2B5EF4-FFF2-40B4-BE49-F238E27FC236}">
                  <a16:creationId xmlns:a16="http://schemas.microsoft.com/office/drawing/2014/main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56" name="矩形 13">
              <a:extLst>
                <a:ext uri="{FF2B5EF4-FFF2-40B4-BE49-F238E27FC236}">
                  <a16:creationId xmlns:a16="http://schemas.microsoft.com/office/drawing/2014/main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57" name="矩形 13">
              <a:extLst>
                <a:ext uri="{FF2B5EF4-FFF2-40B4-BE49-F238E27FC236}">
                  <a16:creationId xmlns:a16="http://schemas.microsoft.com/office/drawing/2014/main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58" name="矩形 13">
              <a:extLst>
                <a:ext uri="{FF2B5EF4-FFF2-40B4-BE49-F238E27FC236}">
                  <a16:creationId xmlns:a16="http://schemas.microsoft.com/office/drawing/2014/main" id="{20725C9F-31AE-DB44-B70A-B4ECDEC0BC00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59" name="矩形 13">
              <a:extLst>
                <a:ext uri="{FF2B5EF4-FFF2-40B4-BE49-F238E27FC236}">
                  <a16:creationId xmlns:a16="http://schemas.microsoft.com/office/drawing/2014/main" id="{AC5BCC27-B68D-0743-8E0B-E25F8D01C3A4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60" name="矩形 13">
              <a:extLst>
                <a:ext uri="{FF2B5EF4-FFF2-40B4-BE49-F238E27FC236}">
                  <a16:creationId xmlns:a16="http://schemas.microsoft.com/office/drawing/2014/main" id="{51C2E83A-C975-6945-B2FD-5B22BBB53DB7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61" name="矩形 13">
              <a:extLst>
                <a:ext uri="{FF2B5EF4-FFF2-40B4-BE49-F238E27FC236}">
                  <a16:creationId xmlns:a16="http://schemas.microsoft.com/office/drawing/2014/main" id="{BEE9A95F-6965-354F-A2C7-2E8C81DDA52F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190/23/238</a:t>
              </a:r>
            </a:p>
          </p:txBody>
        </p:sp>
        <p:sp>
          <p:nvSpPr>
            <p:cNvPr id="62" name="矩形 13">
              <a:extLst>
                <a:ext uri="{FF2B5EF4-FFF2-40B4-BE49-F238E27FC236}">
                  <a16:creationId xmlns:a16="http://schemas.microsoft.com/office/drawing/2014/main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63" name="矩形 13">
              <a:extLst>
                <a:ext uri="{FF2B5EF4-FFF2-40B4-BE49-F238E27FC236}">
                  <a16:creationId xmlns:a16="http://schemas.microsoft.com/office/drawing/2014/main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64" name="矩形 13">
              <a:extLst>
                <a:ext uri="{FF2B5EF4-FFF2-40B4-BE49-F238E27FC236}">
                  <a16:creationId xmlns:a16="http://schemas.microsoft.com/office/drawing/2014/main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35/24/21</a:t>
              </a:r>
            </a:p>
          </p:txBody>
        </p:sp>
        <p:sp>
          <p:nvSpPr>
            <p:cNvPr id="65" name="矩形 13">
              <a:extLst>
                <a:ext uri="{FF2B5EF4-FFF2-40B4-BE49-F238E27FC236}">
                  <a16:creationId xmlns:a16="http://schemas.microsoft.com/office/drawing/2014/main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66" name="矩形 13">
              <a:extLst>
                <a:ext uri="{FF2B5EF4-FFF2-40B4-BE49-F238E27FC236}">
                  <a16:creationId xmlns:a16="http://schemas.microsoft.com/office/drawing/2014/main" id="{0B0545C9-147F-584F-80D2-EF13876D7D33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67" name="矩形 13">
              <a:extLst>
                <a:ext uri="{FF2B5EF4-FFF2-40B4-BE49-F238E27FC236}">
                  <a16:creationId xmlns:a16="http://schemas.microsoft.com/office/drawing/2014/main" id="{44FD0A0B-0D45-3340-A523-465AC24134BF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68" name="矩形 13">
              <a:extLst>
                <a:ext uri="{FF2B5EF4-FFF2-40B4-BE49-F238E27FC236}">
                  <a16:creationId xmlns:a16="http://schemas.microsoft.com/office/drawing/2014/main" id="{2C404A07-276B-3648-BB25-4EDB5905448C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72B0F29C-A346-8946-9B8E-8F1B9DFF7AD0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sp>
        <p:nvSpPr>
          <p:cNvPr id="70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1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Copyright©2020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72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3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74" name="图片 7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284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1" r:id="rId1"/>
  </p:sldLayoutIdLst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4998" b="0" kern="1200">
          <a:solidFill>
            <a:schemeClr val="tx1"/>
          </a:solidFill>
          <a:latin typeface="Huawei Sans" panose="020C0503030203020204" pitchFamily="34" charset="0"/>
          <a:ea typeface="方正兰亭黑简体" panose="02000000000000000000" pitchFamily="2" charset="-122"/>
          <a:cs typeface="Huawei Sans" panose="020C0503030203020204" pitchFamily="34" charset="0"/>
        </a:defRPr>
      </a:lvl1pPr>
    </p:titleStyle>
    <p:bodyStyle>
      <a:lvl1pPr marL="0" indent="0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None/>
        <a:defRPr sz="1818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662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indent="0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>
          <p15:clr>
            <a:srgbClr val="F26B43"/>
          </p15:clr>
        </p15:guide>
        <p15:guide id="2" pos="3842">
          <p15:clr>
            <a:srgbClr val="F26B43"/>
          </p15:clr>
        </p15:guide>
        <p15:guide id="3" pos="461">
          <p15:clr>
            <a:srgbClr val="F26B43"/>
          </p15:clr>
        </p15:guide>
        <p15:guide id="4" pos="719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ust-lang/rfcs/blob/master/text/0430-finalizing-naming-conventions.m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rust-lang.org/reference/introduction.html" TargetMode="External"/><Relationship Id="rId2" Type="http://schemas.openxmlformats.org/officeDocument/2006/relationships/hyperlink" Target="https://doc.rust-lang.org/stable/book/" TargetMode="Externa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doc.rust-lang.org/stable/std/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ED9BB-DBB4-463C-9A92-BC3B302050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Rust</a:t>
            </a:r>
            <a:r>
              <a:rPr lang="zh-CN" altLang="en-US" dirty="0"/>
              <a:t>语言企业软件开发实践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026725-BE1A-46D8-A334-B4238BD66C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/>
              <a:t>实验</a:t>
            </a:r>
            <a:r>
              <a:rPr lang="en-US" altLang="zh-CN"/>
              <a:t>1 </a:t>
            </a:r>
            <a:r>
              <a:rPr lang="zh-CN" altLang="en-US"/>
              <a:t>高质量编程基础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072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639054"/>
          </a:xfrm>
        </p:spPr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i="0">
                <a:solidFill>
                  <a:srgbClr val="000000"/>
                </a:solidFill>
              </a:rPr>
              <a:t>前言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000" y="1188000"/>
            <a:ext cx="11160000" cy="481396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i="0" dirty="0">
                <a:solidFill>
                  <a:srgbClr val="000000"/>
                </a:solidFill>
              </a:rPr>
              <a:t>欢迎参加</a:t>
            </a:r>
            <a:r>
              <a:rPr lang="en-US" altLang="zh-CN" i="0" dirty="0">
                <a:solidFill>
                  <a:srgbClr val="000000"/>
                </a:solidFill>
              </a:rPr>
              <a:t>Rust</a:t>
            </a:r>
            <a:r>
              <a:rPr i="0" dirty="0">
                <a:solidFill>
                  <a:srgbClr val="000000"/>
                </a:solidFill>
              </a:rPr>
              <a:t>语言企业软件开发课程实践课程。本课程旨在通过完整开发案例，分享企业软件开发中的实践、经验和要求，帮助在校学生提升软件开发技能，养成良好的软件开发习惯。</a:t>
            </a:r>
          </a:p>
          <a:p>
            <a:pPr algn="l" fontAlgn="base">
              <a:lnSpc>
                <a:spcPct val="160000"/>
              </a:lnSpc>
              <a:defRPr sz="2200">
                <a:latin typeface="方正兰亭黑简体"/>
              </a:defRPr>
            </a:pPr>
            <a:r>
              <a:rPr sz="2000" i="0" dirty="0">
                <a:solidFill>
                  <a:srgbClr val="000000"/>
                </a:solidFill>
              </a:rPr>
              <a:t>实践课程共有</a:t>
            </a:r>
            <a:r>
              <a:rPr sz="2000" i="0" dirty="0">
                <a:solidFill>
                  <a:srgbClr val="C7000B"/>
                </a:solidFill>
              </a:rPr>
              <a:t>4次</a:t>
            </a:r>
            <a:r>
              <a:rPr sz="2000" i="0" dirty="0">
                <a:solidFill>
                  <a:srgbClr val="000000"/>
                </a:solidFill>
              </a:rPr>
              <a:t>实验，本课程为</a:t>
            </a:r>
            <a:r>
              <a:rPr sz="2000" i="0" dirty="0">
                <a:solidFill>
                  <a:srgbClr val="C7000B"/>
                </a:solidFill>
              </a:rPr>
              <a:t>实验1</a:t>
            </a:r>
            <a:r>
              <a:rPr sz="2000" i="0" dirty="0">
                <a:solidFill>
                  <a:srgbClr val="000000"/>
                </a:solidFill>
              </a:rPr>
              <a:t>，您将学习</a:t>
            </a:r>
            <a:r>
              <a:rPr sz="2000" dirty="0">
                <a:solidFill>
                  <a:srgbClr val="C7000B"/>
                </a:solidFill>
                <a:latin typeface="方正兰亭黑简体"/>
              </a:rPr>
              <a:t>高质量编程</a:t>
            </a:r>
            <a:r>
              <a:rPr sz="2000" i="0" dirty="0">
                <a:solidFill>
                  <a:srgbClr val="000000"/>
                </a:solidFill>
              </a:rPr>
              <a:t>的基础知识，包括：</a:t>
            </a:r>
          </a:p>
          <a:p>
            <a:pPr marL="342900" indent="-342900" fontAlgn="base">
              <a:lnSpc>
                <a:spcPct val="16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C7000B"/>
                </a:solidFill>
              </a:rPr>
              <a:t>开发者测试</a:t>
            </a:r>
            <a:r>
              <a:rPr lang="zh-CN" altLang="en-US" sz="2000" i="0" dirty="0">
                <a:solidFill>
                  <a:srgbClr val="000000"/>
                </a:solidFill>
              </a:rPr>
              <a:t>：</a:t>
            </a:r>
            <a:r>
              <a:rPr lang="zh-CN" altLang="en-US" sz="2000" dirty="0">
                <a:solidFill>
                  <a:srgbClr val="000000"/>
                </a:solidFill>
              </a:rPr>
              <a:t>掌握确保需求的完整性和代码的正确性的</a:t>
            </a:r>
            <a:r>
              <a:rPr lang="zh-CN" altLang="en-US" sz="2000" i="0" dirty="0">
                <a:solidFill>
                  <a:srgbClr val="000000"/>
                </a:solidFill>
              </a:rPr>
              <a:t>测试方法</a:t>
            </a:r>
            <a:endParaRPr sz="2000" i="0" dirty="0">
              <a:solidFill>
                <a:srgbClr val="000000"/>
              </a:solidFill>
            </a:endParaRPr>
          </a:p>
          <a:p>
            <a:pPr marL="342900" indent="-342900" algn="l" fontAlgn="base">
              <a:lnSpc>
                <a:spcPct val="16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C7000B"/>
                </a:solidFill>
              </a:rPr>
              <a:t>命名</a:t>
            </a:r>
            <a:r>
              <a:rPr lang="zh-CN" altLang="en-US" sz="2000" i="0" dirty="0">
                <a:solidFill>
                  <a:srgbClr val="000000"/>
                </a:solidFill>
              </a:rPr>
              <a:t>：了解提高代码可读性的命名原则、规范和最佳实践</a:t>
            </a:r>
            <a:endParaRPr sz="2000" i="0" dirty="0">
              <a:solidFill>
                <a:srgbClr val="000000"/>
              </a:solidFill>
            </a:endParaRPr>
          </a:p>
          <a:p>
            <a:pPr marL="342900" indent="-342900" algn="l" fontAlgn="base">
              <a:lnSpc>
                <a:spcPct val="160000"/>
              </a:lnSpc>
              <a:buChar char="•"/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C7000B"/>
                </a:solidFill>
              </a:rPr>
              <a:t>代码版本管理</a:t>
            </a:r>
            <a:r>
              <a:rPr lang="zh-CN" altLang="en-US" sz="2000" i="0" dirty="0">
                <a:solidFill>
                  <a:srgbClr val="000000"/>
                </a:solidFill>
              </a:rPr>
              <a:t>：学习使用</a:t>
            </a:r>
            <a:r>
              <a:rPr lang="en-US" altLang="zh-CN" sz="2000" i="0" dirty="0">
                <a:solidFill>
                  <a:srgbClr val="000000"/>
                </a:solidFill>
              </a:rPr>
              <a:t>git</a:t>
            </a:r>
            <a:r>
              <a:rPr lang="zh-CN" altLang="en-US" sz="2000" i="0" dirty="0">
                <a:solidFill>
                  <a:srgbClr val="000000"/>
                </a:solidFill>
              </a:rPr>
              <a:t>进行代码版本管理的规范和实践</a:t>
            </a:r>
            <a:endParaRPr lang="en-US" altLang="zh-CN" sz="2000" i="0" dirty="0">
              <a:solidFill>
                <a:srgbClr val="000000"/>
              </a:solidFill>
            </a:endParaRPr>
          </a:p>
          <a:p>
            <a:pPr algn="l" fontAlgn="base">
              <a:lnSpc>
                <a:spcPct val="160000"/>
              </a:lnSpc>
              <a:defRPr sz="2200">
                <a:latin typeface="方正兰亭黑简体"/>
              </a:defRPr>
            </a:pPr>
            <a:endParaRPr lang="en-US" altLang="zh-CN" sz="2000" i="0" dirty="0">
              <a:solidFill>
                <a:srgbClr val="000000"/>
              </a:solidFill>
            </a:endParaRPr>
          </a:p>
          <a:p>
            <a:pPr algn="l" fontAlgn="base">
              <a:lnSpc>
                <a:spcPct val="160000"/>
              </a:lnSpc>
              <a:defRPr sz="2200">
                <a:latin typeface="方正兰亭黑简体"/>
              </a:defRPr>
            </a:pPr>
            <a:r>
              <a:rPr sz="2000" i="0" dirty="0" err="1">
                <a:solidFill>
                  <a:srgbClr val="000000"/>
                </a:solidFill>
              </a:rPr>
              <a:t>期待您在课程中的精彩表现</a:t>
            </a:r>
            <a:r>
              <a:rPr sz="2000" i="0" dirty="0">
                <a:solidFill>
                  <a:srgbClr val="000000"/>
                </a:solidFill>
              </a:rPr>
              <a:t>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245F92-0E68-4C46-BB10-8944EB2A7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目标</a:t>
            </a:r>
          </a:p>
        </p:txBody>
      </p:sp>
      <p:sp>
        <p:nvSpPr>
          <p:cNvPr id="2" name="内容占位符 1"/>
          <p:cNvSpPr>
            <a:spLocks noGrp="1"/>
          </p:cNvSpPr>
          <p:nvPr>
            <p:ph type="body" sz="quarter" idx="10"/>
          </p:nvPr>
        </p:nvSpPr>
        <p:spPr>
          <a:xfrm>
            <a:off x="731838" y="989097"/>
            <a:ext cx="10728325" cy="487980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通过本课程的学习，您将能够：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掌握测试的基本理论和方法</a:t>
            </a:r>
            <a:endParaRPr lang="en-US" altLang="zh-CN" sz="24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实践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有效的开发者测试技术</a:t>
            </a:r>
            <a:endParaRPr lang="en-US" altLang="zh-CN" sz="24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了解</a:t>
            </a:r>
            <a:r>
              <a:rPr lang="en-US" altLang="zh-CN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Rust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语言编程的可读性要求，建立高质量编程的</a:t>
            </a:r>
            <a:r>
              <a:rPr lang="zh-CN" altLang="en-US" sz="24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意识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，养成良好的开发</a:t>
            </a:r>
            <a:r>
              <a:rPr lang="zh-CN" altLang="en-US" sz="2400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习惯</a:t>
            </a:r>
            <a:endParaRPr lang="en-US" altLang="zh-CN" sz="2400" dirty="0">
              <a:solidFill>
                <a:srgbClr val="C7000B"/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19175" y="1072933"/>
            <a:ext cx="10153650" cy="5220861"/>
          </a:xfrm>
        </p:spPr>
        <p:txBody>
          <a:bodyPr/>
          <a:lstStyle/>
          <a:p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lvl="1" indent="0" algn="just" defTabSz="801367">
              <a:spcBef>
                <a:spcPct val="30000"/>
              </a:spcBef>
              <a:spcAft>
                <a:spcPct val="0"/>
              </a:spcAft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3.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9776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dirty="0">
                <a:latin typeface="方正兰亭黑简体" panose="02000000000000000000" pitchFamily="2" charset="-122"/>
                <a:sym typeface="+mn-lt"/>
              </a:rPr>
              <a:t>企业软件开发的特点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5EA557E-08D2-4FA1-A4E3-AA71891E55E6}"/>
              </a:ext>
            </a:extLst>
          </p:cNvPr>
          <p:cNvSpPr/>
          <p:nvPr/>
        </p:nvSpPr>
        <p:spPr>
          <a:xfrm>
            <a:off x="387911" y="1076667"/>
            <a:ext cx="11469144" cy="137311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80141" tIns="40071" rIns="80141" bIns="40071" numCol="1" anchor="t" anchorCtr="0" compatLnSpc="1">
            <a:prstTxWarp prst="textNoShape">
              <a:avLst/>
            </a:prstTxWarp>
          </a:bodyPr>
          <a:lstStyle/>
          <a:p>
            <a:pPr marL="285750" indent="-285750" algn="just" defTabSz="914034" fontAlgn="ctr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1400" dirty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+mn-lt"/>
              </a:rPr>
              <a:t>企业高质量产品对软件开发的要求：企业软件</a:t>
            </a: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+mn-lt"/>
              </a:rPr>
              <a:t>规模大</a:t>
            </a:r>
            <a:r>
              <a:rPr lang="zh-CN" altLang="en-US" sz="1400" dirty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+mn-lt"/>
              </a:rPr>
              <a:t>、</a:t>
            </a:r>
            <a:r>
              <a:rPr lang="zh-CN" altLang="en-US" sz="1400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+mn-lt"/>
              </a:rPr>
              <a:t>安全性要求高、生命周期长</a:t>
            </a:r>
            <a:r>
              <a:rPr lang="zh-CN" altLang="en-US" sz="1400" dirty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sym typeface="+mn-lt"/>
              </a:rPr>
              <a:t>。由于企业软件的特点，对软件代码的可读性和可维护性提出了更高的要求，软件开发人员</a:t>
            </a: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  <a:sym typeface="+mn-lt"/>
              </a:rPr>
              <a:t>需要掌握良好的软件开发技能，遵循企业软件开发规范，应用软件开发的最佳实践。</a:t>
            </a:r>
            <a:endParaRPr lang="en-US" altLang="zh-CN" sz="1400" dirty="0">
              <a:latin typeface="方正兰亭黑简体" panose="02000000000000000000" pitchFamily="2" charset="-122"/>
              <a:ea typeface="方正兰亭黑简体" panose="02000000000000000000" pitchFamily="2" charset="-122"/>
              <a:sym typeface="+mn-lt"/>
            </a:endParaRPr>
          </a:p>
          <a:p>
            <a:pPr marL="285750" indent="-285750" algn="just" defTabSz="914034" fontAlgn="ctr">
              <a:lnSpc>
                <a:spcPct val="150000"/>
              </a:lnSpc>
              <a:buSzPct val="100000"/>
              <a:buFont typeface="Wingdings" panose="05000000000000000000" pitchFamily="2" charset="2"/>
              <a:buChar char="u"/>
            </a:pPr>
            <a:r>
              <a:rPr lang="zh-CN" altLang="en-US" sz="1400" dirty="0"/>
              <a:t>基于企业软件对开发人员的要求，我们开发了</a:t>
            </a:r>
            <a:r>
              <a:rPr lang="en-US" altLang="zh-CN" sz="1400" dirty="0"/>
              <a:t>《</a:t>
            </a:r>
            <a:r>
              <a:rPr lang="zh-CN" altLang="en-US" sz="1400" dirty="0">
                <a:solidFill>
                  <a:srgbClr val="0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企业软件开发实践</a:t>
            </a:r>
            <a:r>
              <a:rPr lang="en-US" altLang="zh-CN" sz="1400" dirty="0"/>
              <a:t>》</a:t>
            </a:r>
            <a:r>
              <a:rPr lang="zh-CN" altLang="en-US" sz="1400" dirty="0"/>
              <a:t>课程，涵盖软件开发流程中的多个活动及其实践，包括需求分析、设计、实现、测试及重构等关键环节。</a:t>
            </a:r>
            <a:endParaRPr lang="en-US" altLang="zh-CN" sz="14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8F1AD21-142B-4A8B-A580-A898670D633B}"/>
              </a:ext>
            </a:extLst>
          </p:cNvPr>
          <p:cNvGrpSpPr/>
          <p:nvPr/>
        </p:nvGrpSpPr>
        <p:grpSpPr>
          <a:xfrm>
            <a:off x="5680112" y="3828257"/>
            <a:ext cx="727054" cy="1352173"/>
            <a:chOff x="5121276" y="3443378"/>
            <a:chExt cx="799789" cy="1352173"/>
          </a:xfrm>
        </p:grpSpPr>
        <p:sp>
          <p:nvSpPr>
            <p:cNvPr id="28" name="右箭头 16">
              <a:extLst>
                <a:ext uri="{FF2B5EF4-FFF2-40B4-BE49-F238E27FC236}">
                  <a16:creationId xmlns:a16="http://schemas.microsoft.com/office/drawing/2014/main" id="{BB6D390A-4E41-494D-BB8A-31DAF603CDFE}"/>
                </a:ext>
              </a:extLst>
            </p:cNvPr>
            <p:cNvSpPr/>
            <p:nvPr/>
          </p:nvSpPr>
          <p:spPr>
            <a:xfrm>
              <a:off x="5216394" y="3443378"/>
              <a:ext cx="704671" cy="1352173"/>
            </a:xfrm>
            <a:prstGeom prst="rightArrow">
              <a:avLst>
                <a:gd name="adj1" fmla="val 67266"/>
                <a:gd name="adj2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 b="1" dirty="0">
                <a:solidFill>
                  <a:srgbClr val="1D1D1A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58277BA-6F62-4594-AD7B-3C5AAE2E54D0}"/>
                </a:ext>
              </a:extLst>
            </p:cNvPr>
            <p:cNvSpPr/>
            <p:nvPr/>
          </p:nvSpPr>
          <p:spPr>
            <a:xfrm flipH="1">
              <a:off x="5121276" y="3675042"/>
              <a:ext cx="750378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综合实践能力</a:t>
              </a:r>
            </a:p>
          </p:txBody>
        </p:sp>
      </p:grp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BBC3550F-DE65-440C-8D16-246B183BCA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9020901"/>
              </p:ext>
            </p:extLst>
          </p:nvPr>
        </p:nvGraphicFramePr>
        <p:xfrm>
          <a:off x="435499" y="2788260"/>
          <a:ext cx="5226265" cy="3432168"/>
        </p:xfrm>
        <a:graphic>
          <a:graphicData uri="http://schemas.openxmlformats.org/drawingml/2006/table">
            <a:tbl>
              <a:tblPr/>
              <a:tblGrid>
                <a:gridCol w="1105202">
                  <a:extLst>
                    <a:ext uri="{9D8B030D-6E8A-4147-A177-3AD203B41FA5}">
                      <a16:colId xmlns:a16="http://schemas.microsoft.com/office/drawing/2014/main" val="1363466305"/>
                    </a:ext>
                  </a:extLst>
                </a:gridCol>
                <a:gridCol w="2805831">
                  <a:extLst>
                    <a:ext uri="{9D8B030D-6E8A-4147-A177-3AD203B41FA5}">
                      <a16:colId xmlns:a16="http://schemas.microsoft.com/office/drawing/2014/main" val="349453781"/>
                    </a:ext>
                  </a:extLst>
                </a:gridCol>
                <a:gridCol w="1315232">
                  <a:extLst>
                    <a:ext uri="{9D8B030D-6E8A-4147-A177-3AD203B41FA5}">
                      <a16:colId xmlns:a16="http://schemas.microsoft.com/office/drawing/2014/main" val="711284780"/>
                    </a:ext>
                  </a:extLst>
                </a:gridCol>
              </a:tblGrid>
              <a:tr h="402476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企业软件特点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对软件技术的诉求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高质量代码要求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484166"/>
                  </a:ext>
                </a:extLst>
              </a:tr>
              <a:tr h="937244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规模大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034" rtl="0" eaLnBrk="1" fontAlgn="ctr" latinLnBrk="0" hangingPunct="1">
                        <a:lnSpc>
                          <a:spcPct val="125000"/>
                        </a:lnSpc>
                        <a:buFont typeface="+mj-lt"/>
                        <a:buNone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1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、多人协作开发，可读性；</a:t>
                      </a:r>
                      <a:endParaRPr lang="en-US" altLang="zh-CN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  <a:p>
                      <a:pPr marL="0" indent="0" algn="l" defTabSz="914034" rtl="0" eaLnBrk="1" fontAlgn="ctr" latinLnBrk="0" hangingPunct="1">
                        <a:lnSpc>
                          <a:spcPct val="125000"/>
                        </a:lnSpc>
                        <a:buFont typeface="+mj-lt"/>
                        <a:buNone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2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、设计要求高，可扩展性。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可读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可扩展</a:t>
                      </a:r>
                      <a:endParaRPr lang="en-US" altLang="zh-CN" sz="1400" b="0" i="0" u="none" strike="noStrike" dirty="0">
                        <a:solidFill>
                          <a:srgbClr val="C00000"/>
                        </a:solidFill>
                        <a:effectLst/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可复用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可测试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417057"/>
                  </a:ext>
                </a:extLst>
              </a:tr>
              <a:tr h="599320">
                <a:tc>
                  <a:txBody>
                    <a:bodyPr/>
                    <a:lstStyle/>
                    <a:p>
                      <a:pPr algn="ctr" fontAlgn="ctr">
                        <a:lnSpc>
                          <a:spcPct val="125000"/>
                        </a:lnSpc>
                      </a:pP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安全性高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defTabSz="914034" rtl="0" eaLnBrk="1" fontAlgn="ctr" latinLnBrk="0" hangingPunct="1">
                        <a:lnSpc>
                          <a:spcPct val="125000"/>
                        </a:lnSpc>
                        <a:buFont typeface="+mj-lt"/>
                        <a:buNone/>
                      </a:pP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安全、可靠，异常处理完善。</a:t>
                      </a:r>
                      <a:endParaRPr lang="en-US" altLang="zh-CN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安全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可靠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442962"/>
                  </a:ext>
                </a:extLst>
              </a:tr>
              <a:tr h="1493128">
                <a:tc>
                  <a:txBody>
                    <a:bodyPr/>
                    <a:lstStyle/>
                    <a:p>
                      <a:pPr marL="0" algn="ctr" defTabSz="914034" rtl="0" eaLnBrk="1" fontAlgn="ctr" latinLnBrk="0" hangingPunct="1">
                        <a:lnSpc>
                          <a:spcPct val="125000"/>
                        </a:lnSpc>
                      </a:pP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生命周期长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fontAlgn="ctr">
                        <a:lnSpc>
                          <a:spcPct val="125000"/>
                        </a:lnSpc>
                        <a:buFont typeface="+mj-lt"/>
                        <a:buNone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1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、架构灵活，支持快速迭代能力；</a:t>
                      </a:r>
                      <a:endParaRPr lang="en-US" altLang="zh-CN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  <a:p>
                      <a:pPr marL="0" indent="0" fontAlgn="ctr">
                        <a:lnSpc>
                          <a:spcPct val="125000"/>
                        </a:lnSpc>
                        <a:buFont typeface="+mj-lt"/>
                        <a:buNone/>
                      </a:pPr>
                      <a:r>
                        <a:rPr lang="en-US" altLang="zh-CN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2</a:t>
                      </a:r>
                      <a:r>
                        <a:rPr lang="zh-CN" altLang="en-US" sz="14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、需要长期维护和不断迭代优化。</a:t>
                      </a:r>
                      <a:endParaRPr lang="en-US" altLang="zh-CN" sz="1400" b="0" i="0" u="none" strike="noStrike" kern="1200" dirty="0">
                        <a:solidFill>
                          <a:srgbClr val="000000"/>
                        </a:solidFill>
                        <a:effectLst/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可读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C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可维护</a:t>
                      </a:r>
                      <a:endParaRPr lang="en-US" altLang="zh-CN" sz="1400" b="0" i="0" u="none" strike="noStrike" dirty="0">
                        <a:solidFill>
                          <a:srgbClr val="C00000"/>
                        </a:solidFill>
                        <a:effectLst/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  <a:p>
                      <a:pPr algn="ctr" fontAlgn="ctr"/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可复用</a:t>
                      </a:r>
                      <a:b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</a:br>
                      <a:r>
                        <a:rPr lang="zh-CN" alt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可测试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0159927"/>
                  </a:ext>
                </a:extLst>
              </a:tr>
            </a:tbl>
          </a:graphicData>
        </a:graphic>
      </p:graphicFrame>
      <p:grpSp>
        <p:nvGrpSpPr>
          <p:cNvPr id="31" name="组合 30">
            <a:extLst>
              <a:ext uri="{FF2B5EF4-FFF2-40B4-BE49-F238E27FC236}">
                <a16:creationId xmlns:a16="http://schemas.microsoft.com/office/drawing/2014/main" id="{09E3C154-2E8F-4FC3-83FF-3A6093E7C83D}"/>
              </a:ext>
            </a:extLst>
          </p:cNvPr>
          <p:cNvGrpSpPr/>
          <p:nvPr/>
        </p:nvGrpSpPr>
        <p:grpSpPr>
          <a:xfrm>
            <a:off x="6467065" y="2754289"/>
            <a:ext cx="5311996" cy="3500107"/>
            <a:chOff x="6458569" y="2771176"/>
            <a:chExt cx="5311996" cy="3500107"/>
          </a:xfrm>
        </p:grpSpPr>
        <p:sp>
          <p:nvSpPr>
            <p:cNvPr id="32" name="圆角矩形 24">
              <a:extLst>
                <a:ext uri="{FF2B5EF4-FFF2-40B4-BE49-F238E27FC236}">
                  <a16:creationId xmlns:a16="http://schemas.microsoft.com/office/drawing/2014/main" id="{872C10E1-FAB2-421C-BB6F-FCEAD5B8F578}"/>
                </a:ext>
              </a:extLst>
            </p:cNvPr>
            <p:cNvSpPr/>
            <p:nvPr/>
          </p:nvSpPr>
          <p:spPr>
            <a:xfrm>
              <a:off x="6458569" y="2771176"/>
              <a:ext cx="5311996" cy="3500107"/>
            </a:xfrm>
            <a:prstGeom prst="roundRect">
              <a:avLst>
                <a:gd name="adj" fmla="val 6440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圆角矩形 3">
              <a:extLst>
                <a:ext uri="{FF2B5EF4-FFF2-40B4-BE49-F238E27FC236}">
                  <a16:creationId xmlns:a16="http://schemas.microsoft.com/office/drawing/2014/main" id="{533A8957-BC32-4B7D-A4BE-78B7A7F91218}"/>
                </a:ext>
              </a:extLst>
            </p:cNvPr>
            <p:cNvSpPr/>
            <p:nvPr/>
          </p:nvSpPr>
          <p:spPr>
            <a:xfrm>
              <a:off x="8024897" y="3175126"/>
              <a:ext cx="1079154" cy="426172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需求分析</a:t>
              </a:r>
            </a:p>
          </p:txBody>
        </p:sp>
        <p:sp>
          <p:nvSpPr>
            <p:cNvPr id="34" name="圆角矩形 4">
              <a:extLst>
                <a:ext uri="{FF2B5EF4-FFF2-40B4-BE49-F238E27FC236}">
                  <a16:creationId xmlns:a16="http://schemas.microsoft.com/office/drawing/2014/main" id="{C18573F2-4049-44B6-9481-D117762D67D8}"/>
                </a:ext>
              </a:extLst>
            </p:cNvPr>
            <p:cNvSpPr/>
            <p:nvPr/>
          </p:nvSpPr>
          <p:spPr>
            <a:xfrm>
              <a:off x="10212435" y="3944885"/>
              <a:ext cx="1406942" cy="426172"/>
            </a:xfrm>
            <a:prstGeom prst="roundRect">
              <a:avLst/>
            </a:prstGeom>
            <a:solidFill>
              <a:srgbClr val="BFE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编码实现</a:t>
              </a:r>
            </a:p>
          </p:txBody>
        </p:sp>
        <p:sp>
          <p:nvSpPr>
            <p:cNvPr id="35" name="圆角矩形 5">
              <a:extLst>
                <a:ext uri="{FF2B5EF4-FFF2-40B4-BE49-F238E27FC236}">
                  <a16:creationId xmlns:a16="http://schemas.microsoft.com/office/drawing/2014/main" id="{FFCFDB3E-1437-4689-A24A-40CE05CD2313}"/>
                </a:ext>
              </a:extLst>
            </p:cNvPr>
            <p:cNvSpPr/>
            <p:nvPr/>
          </p:nvSpPr>
          <p:spPr>
            <a:xfrm>
              <a:off x="8464030" y="4742713"/>
              <a:ext cx="1406942" cy="426172"/>
            </a:xfrm>
            <a:prstGeom prst="roundRect">
              <a:avLst/>
            </a:prstGeom>
            <a:solidFill>
              <a:srgbClr val="BFE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开发者测试</a:t>
              </a:r>
            </a:p>
          </p:txBody>
        </p:sp>
        <p:sp>
          <p:nvSpPr>
            <p:cNvPr id="36" name="圆角矩形 6">
              <a:extLst>
                <a:ext uri="{FF2B5EF4-FFF2-40B4-BE49-F238E27FC236}">
                  <a16:creationId xmlns:a16="http://schemas.microsoft.com/office/drawing/2014/main" id="{2AF87924-DEC0-41D7-8E13-2FE477A071DE}"/>
                </a:ext>
              </a:extLst>
            </p:cNvPr>
            <p:cNvSpPr/>
            <p:nvPr/>
          </p:nvSpPr>
          <p:spPr>
            <a:xfrm>
              <a:off x="6630718" y="3944885"/>
              <a:ext cx="1233472" cy="426172"/>
            </a:xfrm>
            <a:prstGeom prst="roundRect">
              <a:avLst/>
            </a:prstGeom>
            <a:solidFill>
              <a:srgbClr val="BFE4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重构</a:t>
              </a:r>
            </a:p>
          </p:txBody>
        </p:sp>
        <p:sp>
          <p:nvSpPr>
            <p:cNvPr id="37" name="右箭头 19">
              <a:extLst>
                <a:ext uri="{FF2B5EF4-FFF2-40B4-BE49-F238E27FC236}">
                  <a16:creationId xmlns:a16="http://schemas.microsoft.com/office/drawing/2014/main" id="{6517D280-B2FA-46BE-A2B9-1D8194567B11}"/>
                </a:ext>
              </a:extLst>
            </p:cNvPr>
            <p:cNvSpPr/>
            <p:nvPr/>
          </p:nvSpPr>
          <p:spPr>
            <a:xfrm>
              <a:off x="9785954" y="4050434"/>
              <a:ext cx="291174" cy="213087"/>
            </a:xfrm>
            <a:prstGeom prst="rightArrow">
              <a:avLst/>
            </a:prstGeom>
            <a:solidFill>
              <a:srgbClr val="EA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右箭头 20">
              <a:extLst>
                <a:ext uri="{FF2B5EF4-FFF2-40B4-BE49-F238E27FC236}">
                  <a16:creationId xmlns:a16="http://schemas.microsoft.com/office/drawing/2014/main" id="{D8008C54-2FE9-4F46-B324-32E812C67683}"/>
                </a:ext>
              </a:extLst>
            </p:cNvPr>
            <p:cNvSpPr/>
            <p:nvPr/>
          </p:nvSpPr>
          <p:spPr>
            <a:xfrm rot="5400000">
              <a:off x="9035788" y="4493736"/>
              <a:ext cx="223360" cy="288739"/>
            </a:xfrm>
            <a:prstGeom prst="rightArrow">
              <a:avLst/>
            </a:prstGeom>
            <a:solidFill>
              <a:srgbClr val="EA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右箭头 21">
              <a:extLst>
                <a:ext uri="{FF2B5EF4-FFF2-40B4-BE49-F238E27FC236}">
                  <a16:creationId xmlns:a16="http://schemas.microsoft.com/office/drawing/2014/main" id="{997F1B41-5A73-4139-956F-549EE3FA8B66}"/>
                </a:ext>
              </a:extLst>
            </p:cNvPr>
            <p:cNvSpPr/>
            <p:nvPr/>
          </p:nvSpPr>
          <p:spPr>
            <a:xfrm rot="10800000">
              <a:off x="7907342" y="4051429"/>
              <a:ext cx="332641" cy="213087"/>
            </a:xfrm>
            <a:prstGeom prst="rightArrow">
              <a:avLst/>
            </a:prstGeom>
            <a:solidFill>
              <a:srgbClr val="EA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右箭头 22">
              <a:extLst>
                <a:ext uri="{FF2B5EF4-FFF2-40B4-BE49-F238E27FC236}">
                  <a16:creationId xmlns:a16="http://schemas.microsoft.com/office/drawing/2014/main" id="{0B4FE2E3-CDD1-4EFA-B3A8-4B1F590642C1}"/>
                </a:ext>
              </a:extLst>
            </p:cNvPr>
            <p:cNvSpPr/>
            <p:nvPr/>
          </p:nvSpPr>
          <p:spPr>
            <a:xfrm rot="16200000">
              <a:off x="9030755" y="3548211"/>
              <a:ext cx="223362" cy="288739"/>
            </a:xfrm>
            <a:prstGeom prst="rightArrow">
              <a:avLst/>
            </a:prstGeom>
            <a:solidFill>
              <a:srgbClr val="EA00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F6CE195-98EC-4BBD-BEFF-CC0ED3D15B31}"/>
                </a:ext>
              </a:extLst>
            </p:cNvPr>
            <p:cNvSpPr txBox="1"/>
            <p:nvPr/>
          </p:nvSpPr>
          <p:spPr>
            <a:xfrm>
              <a:off x="8496408" y="3982727"/>
              <a:ext cx="132444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高质量代码</a:t>
              </a:r>
              <a:endParaRPr lang="en-US" altLang="zh-CN" sz="160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2" name="弧形 41">
              <a:extLst>
                <a:ext uri="{FF2B5EF4-FFF2-40B4-BE49-F238E27FC236}">
                  <a16:creationId xmlns:a16="http://schemas.microsoft.com/office/drawing/2014/main" id="{673FB8C0-41BC-4F8F-BA2D-C4059A2975ED}"/>
                </a:ext>
              </a:extLst>
            </p:cNvPr>
            <p:cNvSpPr/>
            <p:nvPr/>
          </p:nvSpPr>
          <p:spPr>
            <a:xfrm>
              <a:off x="9729289" y="3339865"/>
              <a:ext cx="1162700" cy="791390"/>
            </a:xfrm>
            <a:prstGeom prst="arc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弧形 42">
              <a:extLst>
                <a:ext uri="{FF2B5EF4-FFF2-40B4-BE49-F238E27FC236}">
                  <a16:creationId xmlns:a16="http://schemas.microsoft.com/office/drawing/2014/main" id="{D1DC8D6B-F9C3-4F40-AC5A-B2B4FF2E275F}"/>
                </a:ext>
              </a:extLst>
            </p:cNvPr>
            <p:cNvSpPr/>
            <p:nvPr/>
          </p:nvSpPr>
          <p:spPr>
            <a:xfrm rot="6260499">
              <a:off x="9897359" y="3904954"/>
              <a:ext cx="791390" cy="1162700"/>
            </a:xfrm>
            <a:prstGeom prst="arc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弧形 43">
              <a:extLst>
                <a:ext uri="{FF2B5EF4-FFF2-40B4-BE49-F238E27FC236}">
                  <a16:creationId xmlns:a16="http://schemas.microsoft.com/office/drawing/2014/main" id="{150F9CBC-9F8E-4FC3-8BEA-21E61AE5F78F}"/>
                </a:ext>
              </a:extLst>
            </p:cNvPr>
            <p:cNvSpPr/>
            <p:nvPr/>
          </p:nvSpPr>
          <p:spPr>
            <a:xfrm rot="9863502">
              <a:off x="7317125" y="4081597"/>
              <a:ext cx="1162700" cy="791390"/>
            </a:xfrm>
            <a:prstGeom prst="arc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弧形 44">
              <a:extLst>
                <a:ext uri="{FF2B5EF4-FFF2-40B4-BE49-F238E27FC236}">
                  <a16:creationId xmlns:a16="http://schemas.microsoft.com/office/drawing/2014/main" id="{DBBABBD3-A029-41AF-B8DC-279241D80E95}"/>
                </a:ext>
              </a:extLst>
            </p:cNvPr>
            <p:cNvSpPr/>
            <p:nvPr/>
          </p:nvSpPr>
          <p:spPr>
            <a:xfrm rot="16486703">
              <a:off x="7513031" y="3187172"/>
              <a:ext cx="791390" cy="1162700"/>
            </a:xfrm>
            <a:prstGeom prst="arc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圆角矩形 3">
              <a:extLst>
                <a:ext uri="{FF2B5EF4-FFF2-40B4-BE49-F238E27FC236}">
                  <a16:creationId xmlns:a16="http://schemas.microsoft.com/office/drawing/2014/main" id="{A0D5265E-73FD-488B-B2F0-18A4223CC1D7}"/>
                </a:ext>
              </a:extLst>
            </p:cNvPr>
            <p:cNvSpPr/>
            <p:nvPr/>
          </p:nvSpPr>
          <p:spPr>
            <a:xfrm>
              <a:off x="9167500" y="3191277"/>
              <a:ext cx="1061655" cy="397897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软件设计</a:t>
              </a: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1C53E83B-A280-4A99-99AA-E9F394EA9364}"/>
                </a:ext>
              </a:extLst>
            </p:cNvPr>
            <p:cNvSpPr txBox="1"/>
            <p:nvPr/>
          </p:nvSpPr>
          <p:spPr>
            <a:xfrm>
              <a:off x="6626528" y="5404533"/>
              <a:ext cx="4992849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C00000"/>
                  </a:solidFill>
                </a:rPr>
                <a:t>编程语言与技术的应用</a:t>
              </a:r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8585489A-ED28-4106-8037-2D0C42D52F7E}"/>
                </a:ext>
              </a:extLst>
            </p:cNvPr>
            <p:cNvSpPr txBox="1"/>
            <p:nvPr/>
          </p:nvSpPr>
          <p:spPr>
            <a:xfrm>
              <a:off x="6626527" y="5837908"/>
              <a:ext cx="4992849" cy="30777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C00000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编程工具的使用</a:t>
              </a:r>
              <a:r>
                <a:rPr lang="en-US" altLang="zh-CN" sz="14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(</a:t>
              </a:r>
              <a:r>
                <a:rPr lang="zh-CN" altLang="en-US" sz="14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版本管理、代码审查等</a:t>
              </a:r>
              <a:r>
                <a:rPr lang="en-US" altLang="zh-CN" sz="14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)</a:t>
              </a:r>
              <a:endParaRPr lang="zh-CN" altLang="en-US" sz="1400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29398" y="334959"/>
            <a:ext cx="10728325" cy="485982"/>
          </a:xfrm>
        </p:spPr>
        <p:txBody>
          <a:bodyPr/>
          <a:lstStyle/>
          <a:p>
            <a:r>
              <a:rPr lang="zh-CN" altLang="en-US" dirty="0"/>
              <a:t>课程整体框架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D88A274B-7485-4726-82DC-9280580EF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348503"/>
              </p:ext>
            </p:extLst>
          </p:nvPr>
        </p:nvGraphicFramePr>
        <p:xfrm>
          <a:off x="529398" y="938708"/>
          <a:ext cx="11001813" cy="5247312"/>
        </p:xfrm>
        <a:graphic>
          <a:graphicData uri="http://schemas.openxmlformats.org/drawingml/2006/table">
            <a:tbl>
              <a:tblPr/>
              <a:tblGrid>
                <a:gridCol w="1375227">
                  <a:extLst>
                    <a:ext uri="{9D8B030D-6E8A-4147-A177-3AD203B41FA5}">
                      <a16:colId xmlns:a16="http://schemas.microsoft.com/office/drawing/2014/main" val="3255799730"/>
                    </a:ext>
                  </a:extLst>
                </a:gridCol>
                <a:gridCol w="1023425">
                  <a:extLst>
                    <a:ext uri="{9D8B030D-6E8A-4147-A177-3AD203B41FA5}">
                      <a16:colId xmlns:a16="http://schemas.microsoft.com/office/drawing/2014/main" val="568896708"/>
                    </a:ext>
                  </a:extLst>
                </a:gridCol>
                <a:gridCol w="1790992">
                  <a:extLst>
                    <a:ext uri="{9D8B030D-6E8A-4147-A177-3AD203B41FA5}">
                      <a16:colId xmlns:a16="http://schemas.microsoft.com/office/drawing/2014/main" val="3844600773"/>
                    </a:ext>
                  </a:extLst>
                </a:gridCol>
                <a:gridCol w="1375227">
                  <a:extLst>
                    <a:ext uri="{9D8B030D-6E8A-4147-A177-3AD203B41FA5}">
                      <a16:colId xmlns:a16="http://schemas.microsoft.com/office/drawing/2014/main" val="619617680"/>
                    </a:ext>
                  </a:extLst>
                </a:gridCol>
                <a:gridCol w="2174777">
                  <a:extLst>
                    <a:ext uri="{9D8B030D-6E8A-4147-A177-3AD203B41FA5}">
                      <a16:colId xmlns:a16="http://schemas.microsoft.com/office/drawing/2014/main" val="1749453970"/>
                    </a:ext>
                  </a:extLst>
                </a:gridCol>
                <a:gridCol w="3262165">
                  <a:extLst>
                    <a:ext uri="{9D8B030D-6E8A-4147-A177-3AD203B41FA5}">
                      <a16:colId xmlns:a16="http://schemas.microsoft.com/office/drawing/2014/main" val="528865730"/>
                    </a:ext>
                  </a:extLst>
                </a:gridCol>
              </a:tblGrid>
              <a:tr h="47801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Level1</a:t>
                      </a:r>
                      <a:b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课程模块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Leve2</a:t>
                      </a:r>
                      <a:b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课程目录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需求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Leve3</a:t>
                      </a:r>
                      <a:br>
                        <a:rPr 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主要内容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编程语言特性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教学目的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97B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677570"/>
                  </a:ext>
                </a:extLst>
              </a:tr>
              <a:tr h="41645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</a:t>
                      </a: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高质量编程基础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需求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b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支持基础控制指令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命名规范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测试框架、模块系统、模式匹配、变量绑定、变量遮蔽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掌握开发者测试技术和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Git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工具的使用，了解代码的可读性要求，树立高质量编程的意识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941660"/>
                  </a:ext>
                </a:extLst>
              </a:tr>
              <a:tr h="4436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开发者测试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144219"/>
                  </a:ext>
                </a:extLst>
              </a:tr>
              <a:tr h="44361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代码版本管理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291315"/>
                  </a:ext>
                </a:extLst>
              </a:tr>
              <a:tr h="46171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</a:t>
                      </a: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模块化与任务编排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需求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b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支持倒车和加速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模块化编程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可变性、枚举、运算符重载、类型推断、静态分发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掌握模块化编程的方法，提升可复用性和可维护性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406849"/>
                  </a:ext>
                </a:extLst>
              </a:tr>
              <a:tr h="4979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任务编排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763009"/>
                  </a:ext>
                </a:extLst>
              </a:tr>
              <a:tr h="44361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</a:t>
                      </a: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类型抽象和代码组织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需求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b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支持不同类型的车辆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类型抽象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trait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、智能指针、动态分发、文件夹模块、模块可见性规则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掌握面向抽象编程的方法论，提升代码的可扩展性和可复用性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340431"/>
                  </a:ext>
                </a:extLst>
              </a:tr>
              <a:tr h="470771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代码组织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0717143"/>
                  </a:ext>
                </a:extLst>
              </a:tr>
              <a:tr h="50698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实验</a:t>
                      </a:r>
                      <a:r>
                        <a:rPr lang="en-US" altLang="zh-CN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并发编程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需求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b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支持记录黑匣子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线程资源共享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所有权机制、借用检查规则、线程同步机制、泛型、集合、泛型及泛型约束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掌握并发编程的核心技术，提升编写高性能应用程序的能力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9489911"/>
                  </a:ext>
                </a:extLst>
              </a:tr>
              <a:tr h="4345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通道通讯机制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6211104"/>
                  </a:ext>
                </a:extLst>
              </a:tr>
              <a:tr h="6065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大作业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课程内容巩固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需求</a:t>
                      </a:r>
                      <a: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br>
                        <a:rPr lang="en-US" altLang="zh-CN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支持掉头功能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课程内容巩固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课后作业，巩固实训编程各知识点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910268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1019175" y="1095596"/>
            <a:ext cx="10153650" cy="5236624"/>
          </a:xfrm>
        </p:spPr>
        <p:txBody>
          <a:bodyPr/>
          <a:lstStyle/>
          <a:p>
            <a:pPr>
              <a:lnSpc>
                <a:spcPts val="36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</a:p>
          <a:p>
            <a:pPr>
              <a:lnSpc>
                <a:spcPts val="3600"/>
              </a:lnSpc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3.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086775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兰亭黑简体" panose="02000000000000000000" pitchFamily="2" charset="-122"/>
              </a:rPr>
              <a:t>课程实训案例引导</a:t>
            </a:r>
          </a:p>
        </p:txBody>
      </p:sp>
      <p:sp>
        <p:nvSpPr>
          <p:cNvPr id="10" name="假想你在火星探索团队中负责软件开发。现在你要给登陆火星的探索小车模拟器编写控制程序，根据地球发送的控制指令来控制火星车的行动。…"/>
          <p:cNvSpPr txBox="1"/>
          <p:nvPr/>
        </p:nvSpPr>
        <p:spPr>
          <a:xfrm>
            <a:off x="4674842" y="996957"/>
            <a:ext cx="6852354" cy="18524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>
              <a:defRPr sz="2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ADAS</a:t>
            </a:r>
            <a:r>
              <a:rPr lang="zh-CN" altLang="en-US" sz="20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系统介绍</a:t>
            </a:r>
            <a:endParaRPr lang="en-US" altLang="zh-CN" sz="20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sz="1800" b="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Advanced Driver Assistance System</a:t>
            </a:r>
            <a:r>
              <a:rPr lang="zh-CN" altLang="en-US" sz="1800" b="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</a:t>
            </a:r>
            <a:r>
              <a:rPr lang="en-US" altLang="zh-CN" sz="1800" b="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ADAS</a:t>
            </a:r>
            <a:r>
              <a:rPr lang="zh-CN" altLang="en-US" sz="1800" b="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是辅助驾驶员安全驾驶车辆的系统，可以增加车辆安全和道路安全，同时可以明显减轻汽车驾驶的操作负担。</a:t>
            </a:r>
            <a:endParaRPr sz="18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A68803B-51B6-4222-A6CC-5CC05C638DE6}"/>
              </a:ext>
            </a:extLst>
          </p:cNvPr>
          <p:cNvSpPr txBox="1"/>
          <p:nvPr/>
        </p:nvSpPr>
        <p:spPr>
          <a:xfrm>
            <a:off x="4674841" y="3113880"/>
            <a:ext cx="6785322" cy="175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ADAS Executor组件主要功能：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由Config组件进行初始化及配置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接收Controller组件的各种移动控制命令（如前进、转向等），维护车的位置状态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FD92771-BB04-4CF3-B233-84A139FFF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77" y="1284974"/>
            <a:ext cx="3907876" cy="3118663"/>
          </a:xfrm>
          <a:prstGeom prst="rect">
            <a:avLst/>
          </a:prstGeom>
        </p:spPr>
      </p:pic>
      <p:pic>
        <p:nvPicPr>
          <p:cNvPr id="6" name="Oval Oval">
            <a:extLst>
              <a:ext uri="{FF2B5EF4-FFF2-40B4-BE49-F238E27FC236}">
                <a16:creationId xmlns:a16="http://schemas.microsoft.com/office/drawing/2014/main" id="{F6E63BDE-C7FC-4668-A1A6-7B8FFFD10C58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24089" y="3376577"/>
            <a:ext cx="1964266" cy="10321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兰亭黑简体" panose="02000000000000000000" pitchFamily="2" charset="-122"/>
              </a:rPr>
              <a:t>课程实训</a:t>
            </a:r>
            <a:r>
              <a:rPr lang="zh-CN" altLang="en-US">
                <a:latin typeface="方正兰亭黑简体" panose="02000000000000000000" pitchFamily="2" charset="-122"/>
              </a:rPr>
              <a:t>需求</a:t>
            </a:r>
            <a:r>
              <a:rPr lang="en-US" altLang="zh-CN">
                <a:latin typeface="方正兰亭黑简体" panose="02000000000000000000" pitchFamily="2" charset="-122"/>
              </a:rPr>
              <a:t>1</a:t>
            </a:r>
            <a:r>
              <a:rPr lang="zh-CN" altLang="en-US">
                <a:latin typeface="方正兰亭黑简体" panose="02000000000000000000" pitchFamily="2" charset="-122"/>
              </a:rPr>
              <a:t>：支持基本</a:t>
            </a:r>
            <a:r>
              <a:rPr lang="zh-CN" altLang="en-US" dirty="0">
                <a:latin typeface="方正兰亭黑简体" panose="02000000000000000000" pitchFamily="2" charset="-122"/>
              </a:rPr>
              <a:t>控制指令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31838" y="1047750"/>
            <a:ext cx="6676472" cy="5210175"/>
          </a:xfrm>
        </p:spPr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1600" dirty="0">
                <a:latin typeface="方正兰亭黑简体" panose="02000000000000000000" pitchFamily="2" charset="-122"/>
              </a:rPr>
              <a:t>设计一个</a:t>
            </a:r>
            <a:r>
              <a:rPr lang="en-US" altLang="zh-CN" sz="1600" dirty="0">
                <a:latin typeface="方正兰亭黑简体" panose="02000000000000000000" pitchFamily="2" charset="-122"/>
              </a:rPr>
              <a:t>Rust</a:t>
            </a:r>
            <a:r>
              <a:rPr lang="zh-CN" altLang="en-US" sz="1600" dirty="0">
                <a:latin typeface="方正兰亭黑简体" panose="02000000000000000000" pitchFamily="2" charset="-122"/>
              </a:rPr>
              <a:t>程序，模拟自动驾驶车辆的执行器</a:t>
            </a: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组件功能。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组件提供初始化接口，初始化车的位置和朝向，输入数据为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: (x, y, heading)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，其中：</a:t>
            </a:r>
          </a:p>
          <a:p>
            <a:pPr>
              <a:spcBef>
                <a:spcPts val="600"/>
              </a:spcBef>
            </a:pPr>
            <a:r>
              <a:rPr lang="en-US" altLang="zh-CN" sz="1600" dirty="0" err="1">
                <a:latin typeface="方正兰亭黑简体" panose="02000000000000000000" pitchFamily="2" charset="-122"/>
              </a:rPr>
              <a:t>x,y</a:t>
            </a:r>
            <a:r>
              <a:rPr lang="zh-CN" altLang="en-US" sz="1600" dirty="0">
                <a:latin typeface="方正兰亭黑简体" panose="02000000000000000000" pitchFamily="2" charset="-122"/>
              </a:rPr>
              <a:t>对应地点位置（均为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i32</a:t>
            </a:r>
            <a:r>
              <a:rPr lang="zh-CN" altLang="en-US" sz="1600" dirty="0">
                <a:latin typeface="方正兰亭黑简体" panose="02000000000000000000" pitchFamily="2" charset="-122"/>
              </a:rPr>
              <a:t>类型）</a:t>
            </a:r>
          </a:p>
          <a:p>
            <a:pPr>
              <a:defRPr sz="2200">
                <a:latin typeface="方正兰亭黑简体"/>
              </a:defRPr>
            </a:pPr>
            <a:r>
              <a:rPr lang="en-US" altLang="zh-CN" sz="1600" dirty="0">
                <a:latin typeface="方正兰亭黑简体" panose="02000000000000000000" pitchFamily="2" charset="-122"/>
              </a:rPr>
              <a:t>heading</a:t>
            </a:r>
            <a:r>
              <a:rPr lang="zh-CN" altLang="en-US" sz="1600" dirty="0">
                <a:latin typeface="方正兰亭黑简体" panose="02000000000000000000" pitchFamily="2" charset="-122"/>
              </a:rPr>
              <a:t>对应四个方向（</a:t>
            </a:r>
            <a:r>
              <a:rPr lang="en-US" altLang="zh-CN" sz="1600" dirty="0">
                <a:latin typeface="方正兰亭黑简体" panose="02000000000000000000" pitchFamily="2" charset="-122"/>
              </a:rPr>
              <a:t>E</a:t>
            </a:r>
            <a:r>
              <a:rPr lang="zh-CN" altLang="en-US" sz="1600" dirty="0">
                <a:latin typeface="方正兰亭黑简体" panose="02000000000000000000" pitchFamily="2" charset="-122"/>
              </a:rPr>
              <a:t>、</a:t>
            </a:r>
            <a:r>
              <a:rPr lang="en-US" altLang="zh-CN" sz="1600" dirty="0">
                <a:latin typeface="方正兰亭黑简体" panose="02000000000000000000" pitchFamily="2" charset="-122"/>
              </a:rPr>
              <a:t>S</a:t>
            </a:r>
            <a:r>
              <a:rPr lang="zh-CN" altLang="en-US" sz="1600" dirty="0">
                <a:latin typeface="方正兰亭黑简体" panose="02000000000000000000" pitchFamily="2" charset="-122"/>
              </a:rPr>
              <a:t>、</a:t>
            </a:r>
            <a:r>
              <a:rPr lang="en-US" altLang="zh-CN" sz="1600" dirty="0">
                <a:latin typeface="方正兰亭黑简体" panose="02000000000000000000" pitchFamily="2" charset="-122"/>
              </a:rPr>
              <a:t>W</a:t>
            </a:r>
            <a:r>
              <a:rPr lang="zh-CN" altLang="en-US" sz="1600" dirty="0">
                <a:latin typeface="方正兰亭黑简体" panose="02000000000000000000" pitchFamily="2" charset="-122"/>
              </a:rPr>
              <a:t>、</a:t>
            </a:r>
            <a:r>
              <a:rPr lang="en-US" altLang="zh-CN" sz="1600" dirty="0">
                <a:latin typeface="方正兰亭黑简体" panose="02000000000000000000" pitchFamily="2" charset="-122"/>
              </a:rPr>
              <a:t>N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）（</a:t>
            </a:r>
            <a:r>
              <a:rPr lang="en-US" altLang="zh-CN" sz="1600" dirty="0">
                <a:latin typeface="方正兰亭黑简体" panose="02000000000000000000" pitchFamily="2" charset="-122"/>
              </a:rPr>
              <a:t>char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类型）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组件可以执行如下的移动指令：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latin typeface="方正兰亭黑简体" panose="02000000000000000000" pitchFamily="2" charset="-122"/>
              </a:rPr>
              <a:t> </a:t>
            </a:r>
            <a:r>
              <a:rPr lang="en-US" altLang="zh-CN" sz="16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M</a:t>
            </a:r>
            <a:r>
              <a:rPr lang="en-US" altLang="zh-CN" sz="1600" dirty="0">
                <a:latin typeface="方正兰亭黑简体" panose="02000000000000000000" pitchFamily="2" charset="-122"/>
              </a:rPr>
              <a:t>: </a:t>
            </a:r>
            <a:r>
              <a:rPr lang="zh-CN" altLang="en-US" sz="1600" dirty="0">
                <a:latin typeface="方正兰亭黑简体" panose="02000000000000000000" pitchFamily="2" charset="-122"/>
              </a:rPr>
              <a:t>前进，</a:t>
            </a:r>
            <a:r>
              <a:rPr lang="en-US" altLang="zh-CN" sz="1600" dirty="0">
                <a:latin typeface="方正兰亭黑简体" panose="02000000000000000000" pitchFamily="2" charset="-122"/>
              </a:rPr>
              <a:t>1</a:t>
            </a:r>
            <a:r>
              <a:rPr lang="zh-CN" altLang="en-US" sz="1600" dirty="0">
                <a:latin typeface="方正兰亭黑简体" panose="02000000000000000000" pitchFamily="2" charset="-122"/>
              </a:rPr>
              <a:t>次移动</a:t>
            </a:r>
            <a:r>
              <a:rPr lang="en-US" altLang="zh-CN" sz="1600" dirty="0">
                <a:latin typeface="方正兰亭黑简体" panose="02000000000000000000" pitchFamily="2" charset="-122"/>
              </a:rPr>
              <a:t>1</a:t>
            </a:r>
            <a:r>
              <a:rPr lang="zh-CN" altLang="en-US" sz="1600" dirty="0">
                <a:latin typeface="方正兰亭黑简体" panose="02000000000000000000" pitchFamily="2" charset="-122"/>
              </a:rPr>
              <a:t>格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组件可以执行如下的转向指令：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L</a:t>
            </a:r>
            <a:r>
              <a:rPr lang="en-US" altLang="zh-CN" sz="1600" dirty="0">
                <a:latin typeface="方正兰亭黑简体" panose="02000000000000000000" pitchFamily="2" charset="-122"/>
              </a:rPr>
              <a:t>: </a:t>
            </a:r>
            <a:r>
              <a:rPr lang="zh-CN" altLang="en-US" sz="1600" dirty="0">
                <a:latin typeface="方正兰亭黑简体" panose="02000000000000000000" pitchFamily="2" charset="-122"/>
              </a:rPr>
              <a:t>左转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度，位置不变</a:t>
            </a:r>
          </a:p>
          <a:p>
            <a:pPr>
              <a:spcBef>
                <a:spcPts val="600"/>
              </a:spcBef>
            </a:pPr>
            <a:r>
              <a:rPr lang="en-US" altLang="zh-CN" sz="16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R</a:t>
            </a:r>
            <a:r>
              <a:rPr lang="en-US" altLang="zh-CN" sz="1600" dirty="0">
                <a:latin typeface="方正兰亭黑简体" panose="02000000000000000000" pitchFamily="2" charset="-122"/>
              </a:rPr>
              <a:t>: </a:t>
            </a:r>
            <a:r>
              <a:rPr lang="zh-CN" altLang="en-US" sz="1600" dirty="0">
                <a:latin typeface="方正兰亭黑简体" panose="02000000000000000000" pitchFamily="2" charset="-122"/>
              </a:rPr>
              <a:t>右转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度，位置不变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组件提供获取车当前的坐标位置和朝向的接口。</a:t>
            </a:r>
            <a:endParaRPr lang="en-US" altLang="zh-CN" sz="1600" dirty="0">
              <a:latin typeface="方正兰亭黑简体" panose="02000000000000000000" pitchFamily="2" charset="-122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X</a:t>
            </a:r>
            <a:r>
              <a:rPr lang="zh-CN" altLang="en-US" sz="1600" dirty="0">
                <a:latin typeface="方正兰亭黑简体" panose="02000000000000000000" pitchFamily="2" charset="-122"/>
              </a:rPr>
              <a:t>轴移动的方向为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EW</a:t>
            </a:r>
            <a:r>
              <a:rPr lang="zh-CN" altLang="en-US" sz="1600" dirty="0">
                <a:latin typeface="方正兰亭黑简体" panose="02000000000000000000" pitchFamily="2" charset="-122"/>
              </a:rPr>
              <a:t>方向，</a:t>
            </a:r>
            <a:r>
              <a:rPr lang="en-US" altLang="zh-CN" sz="1600" dirty="0">
                <a:latin typeface="方正兰亭黑简体" panose="02000000000000000000" pitchFamily="2" charset="-122"/>
              </a:rPr>
              <a:t>Y</a:t>
            </a:r>
            <a:r>
              <a:rPr lang="zh-CN" altLang="en-US" sz="1600" dirty="0">
                <a:latin typeface="方正兰亭黑简体" panose="02000000000000000000" pitchFamily="2" charset="-122"/>
              </a:rPr>
              <a:t>轴移动的方向为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NS</a:t>
            </a:r>
            <a:r>
              <a:rPr lang="zh-CN" altLang="en-US" sz="1600" dirty="0">
                <a:latin typeface="方正兰亭黑简体" panose="02000000000000000000" pitchFamily="2" charset="-122"/>
              </a:rPr>
              <a:t>方向。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681163" y="761259"/>
            <a:ext cx="4025322" cy="2968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zh-CN" sz="1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设计</a:t>
            </a:r>
            <a:r>
              <a:rPr lang="en-US" altLang="zh-CN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组件</a:t>
            </a:r>
            <a:r>
              <a:rPr lang="zh-CN" altLang="en-US" sz="1400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对外的接口</a:t>
            </a: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，实现上述功能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设计测试用例，构建上述功能的</a:t>
            </a:r>
            <a:r>
              <a:rPr lang="zh-CN" altLang="en-US" sz="1400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测试防护网</a:t>
            </a:r>
            <a:endParaRPr lang="en-US" altLang="zh-CN" sz="1400" dirty="0">
              <a:solidFill>
                <a:srgbClr val="C7000B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整个过程中坐标</a:t>
            </a:r>
            <a:r>
              <a:rPr lang="en-US" altLang="zh-CN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(x, y)</a:t>
            </a: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的值都在</a:t>
            </a:r>
            <a:r>
              <a:rPr lang="en-US" altLang="zh-CN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i32</a:t>
            </a: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范围内，不考虑整数溢出场景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调用者保证了传给</a:t>
            </a:r>
            <a:r>
              <a:rPr lang="en-US" altLang="zh-CN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</a:t>
            </a:r>
            <a:r>
              <a:rPr lang="zh-CN" altLang="en-US" sz="1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接口的参数都是合法的，不考虑非法参数场景</a:t>
            </a:r>
          </a:p>
        </p:txBody>
      </p:sp>
      <p:cxnSp>
        <p:nvCxnSpPr>
          <p:cNvPr id="7" name="直接连接符 74"/>
          <p:cNvCxnSpPr/>
          <p:nvPr/>
        </p:nvCxnSpPr>
        <p:spPr bwMode="auto">
          <a:xfrm>
            <a:off x="7526159" y="770784"/>
            <a:ext cx="0" cy="5650829"/>
          </a:xfrm>
          <a:prstGeom prst="line">
            <a:avLst/>
          </a:prstGeom>
          <a:ln>
            <a:solidFill>
              <a:srgbClr val="0000FF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 rot="16200000">
            <a:off x="9456487" y="-922618"/>
            <a:ext cx="321440" cy="3872088"/>
          </a:xfrm>
          <a:prstGeom prst="rect">
            <a:avLst/>
          </a:prstGeom>
          <a:solidFill>
            <a:srgbClr val="CCECFF"/>
          </a:solidFill>
        </p:spPr>
        <p:txBody>
          <a:bodyPr vert="eaVert" wrap="none" rtlCol="0" anchor="ctr" anchorCtr="1">
            <a:noAutofit/>
          </a:bodyPr>
          <a:lstStyle/>
          <a:p>
            <a:pPr algn="ctr" defTabSz="913765"/>
            <a:r>
              <a:rPr lang="zh-CN" altLang="en-US" sz="1600" b="1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要求</a:t>
            </a:r>
            <a:endParaRPr lang="en-US" altLang="zh-CN" sz="1600" b="1" dirty="0">
              <a:solidFill>
                <a:srgbClr val="1D1D1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 rot="16200000">
            <a:off x="9456486" y="366322"/>
            <a:ext cx="321440" cy="3872088"/>
          </a:xfrm>
          <a:prstGeom prst="rect">
            <a:avLst/>
          </a:prstGeom>
          <a:solidFill>
            <a:srgbClr val="CCECFF"/>
          </a:solidFill>
        </p:spPr>
        <p:txBody>
          <a:bodyPr vert="eaVert" wrap="none" rtlCol="0" anchor="ctr" anchorCtr="1">
            <a:noAutofit/>
          </a:bodyPr>
          <a:lstStyle/>
          <a:p>
            <a:pPr algn="ctr" defTabSz="913765"/>
            <a:r>
              <a:rPr lang="zh-CN" altLang="en-US" sz="1600" b="1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约束</a:t>
            </a:r>
            <a:endParaRPr lang="en-US" altLang="zh-CN" sz="1600" b="1" dirty="0">
              <a:solidFill>
                <a:srgbClr val="1D1D1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BF024C7-05A4-49E6-AC52-46024DB5B11C}"/>
              </a:ext>
            </a:extLst>
          </p:cNvPr>
          <p:cNvSpPr txBox="1"/>
          <p:nvPr/>
        </p:nvSpPr>
        <p:spPr>
          <a:xfrm rot="16200000">
            <a:off x="9456487" y="2299167"/>
            <a:ext cx="321440" cy="3872088"/>
          </a:xfrm>
          <a:prstGeom prst="rect">
            <a:avLst/>
          </a:prstGeom>
          <a:solidFill>
            <a:srgbClr val="CCECFF"/>
          </a:solidFill>
        </p:spPr>
        <p:txBody>
          <a:bodyPr vert="eaVert" wrap="none" rtlCol="0" anchor="ctr" anchorCtr="1">
            <a:noAutofit/>
          </a:bodyPr>
          <a:lstStyle/>
          <a:p>
            <a:pPr algn="ctr" defTabSz="913765"/>
            <a:r>
              <a:rPr lang="zh-CN" altLang="en-US" sz="1600" b="1" dirty="0">
                <a:solidFill>
                  <a:srgbClr val="1D1D1A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示意</a:t>
            </a:r>
            <a:endParaRPr lang="en-US" altLang="zh-CN" sz="1600" b="1" dirty="0">
              <a:solidFill>
                <a:srgbClr val="1D1D1A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C13F1F2-8D79-4076-9AB0-7230BF73960E}"/>
              </a:ext>
            </a:extLst>
          </p:cNvPr>
          <p:cNvSpPr/>
          <p:nvPr/>
        </p:nvSpPr>
        <p:spPr>
          <a:xfrm>
            <a:off x="10400922" y="4533702"/>
            <a:ext cx="1305563" cy="1694064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639FD8C7-CD47-47C4-B019-A97EAA4385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902062"/>
              </p:ext>
            </p:extLst>
          </p:nvPr>
        </p:nvGraphicFramePr>
        <p:xfrm>
          <a:off x="8392820" y="5187742"/>
          <a:ext cx="459856" cy="859596"/>
        </p:xfrm>
        <a:graphic>
          <a:graphicData uri="http://schemas.openxmlformats.org/drawingml/2006/table">
            <a:tbl>
              <a:tblPr firstRow="1" bandRow="1"/>
              <a:tblGrid>
                <a:gridCol w="459856">
                  <a:extLst>
                    <a:ext uri="{9D8B030D-6E8A-4147-A177-3AD203B41FA5}">
                      <a16:colId xmlns:a16="http://schemas.microsoft.com/office/drawing/2014/main" val="2534719828"/>
                    </a:ext>
                  </a:extLst>
                </a:gridCol>
              </a:tblGrid>
              <a:tr h="429798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193581"/>
                  </a:ext>
                </a:extLst>
              </a:tr>
              <a:tr h="429798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90385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41FE5007-154C-4C7C-B301-52CB4195C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636131"/>
              </p:ext>
            </p:extLst>
          </p:nvPr>
        </p:nvGraphicFramePr>
        <p:xfrm>
          <a:off x="11162915" y="5471565"/>
          <a:ext cx="452456" cy="400036"/>
        </p:xfrm>
        <a:graphic>
          <a:graphicData uri="http://schemas.openxmlformats.org/drawingml/2006/table">
            <a:tbl>
              <a:tblPr firstRow="1" bandRow="1"/>
              <a:tblGrid>
                <a:gridCol w="452456">
                  <a:extLst>
                    <a:ext uri="{9D8B030D-6E8A-4147-A177-3AD203B41FA5}">
                      <a16:colId xmlns:a16="http://schemas.microsoft.com/office/drawing/2014/main" val="2534719828"/>
                    </a:ext>
                  </a:extLst>
                </a:gridCol>
              </a:tblGrid>
              <a:tr h="400036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18120"/>
                  </a:ext>
                </a:extLst>
              </a:tr>
            </a:tbl>
          </a:graphicData>
        </a:graphic>
      </p:graphicFrame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C7D834A7-D6D7-494C-85CF-C882C162A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926027"/>
              </p:ext>
            </p:extLst>
          </p:nvPr>
        </p:nvGraphicFramePr>
        <p:xfrm>
          <a:off x="9763912" y="5471565"/>
          <a:ext cx="449010" cy="400038"/>
        </p:xfrm>
        <a:graphic>
          <a:graphicData uri="http://schemas.openxmlformats.org/drawingml/2006/table">
            <a:tbl>
              <a:tblPr firstRow="1" bandRow="1"/>
              <a:tblGrid>
                <a:gridCol w="449010">
                  <a:extLst>
                    <a:ext uri="{9D8B030D-6E8A-4147-A177-3AD203B41FA5}">
                      <a16:colId xmlns:a16="http://schemas.microsoft.com/office/drawing/2014/main" val="2534719828"/>
                    </a:ext>
                  </a:extLst>
                </a:gridCol>
              </a:tblGrid>
              <a:tr h="400038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18120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7E904A50-0B55-4B13-8032-EA02C49D1E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516991"/>
              </p:ext>
            </p:extLst>
          </p:nvPr>
        </p:nvGraphicFramePr>
        <p:xfrm>
          <a:off x="7707075" y="5198523"/>
          <a:ext cx="471027" cy="859596"/>
        </p:xfrm>
        <a:graphic>
          <a:graphicData uri="http://schemas.openxmlformats.org/drawingml/2006/table">
            <a:tbl>
              <a:tblPr firstRow="1" bandRow="1"/>
              <a:tblGrid>
                <a:gridCol w="471027">
                  <a:extLst>
                    <a:ext uri="{9D8B030D-6E8A-4147-A177-3AD203B41FA5}">
                      <a16:colId xmlns:a16="http://schemas.microsoft.com/office/drawing/2014/main" val="2534719828"/>
                    </a:ext>
                  </a:extLst>
                </a:gridCol>
              </a:tblGrid>
              <a:tr h="429798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7193581"/>
                  </a:ext>
                </a:extLst>
              </a:tr>
              <a:tr h="429798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490385"/>
                  </a:ext>
                </a:extLst>
              </a:tr>
            </a:tbl>
          </a:graphicData>
        </a:graphic>
      </p:graphicFrame>
      <p:sp>
        <p:nvSpPr>
          <p:cNvPr id="35" name="矩形 34">
            <a:extLst>
              <a:ext uri="{FF2B5EF4-FFF2-40B4-BE49-F238E27FC236}">
                <a16:creationId xmlns:a16="http://schemas.microsoft.com/office/drawing/2014/main" id="{A00C0C7E-0941-4A80-8516-460740071C17}"/>
              </a:ext>
            </a:extLst>
          </p:cNvPr>
          <p:cNvSpPr/>
          <p:nvPr/>
        </p:nvSpPr>
        <p:spPr>
          <a:xfrm>
            <a:off x="7586129" y="4486703"/>
            <a:ext cx="14038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/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78"/>
            <a:r>
              <a:rPr lang="zh-CN" altLang="en-US" sz="12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在当前朝向上前进一格，朝向不变</a:t>
            </a:r>
            <a:endParaRPr lang="zh-CN" altLang="en-US" sz="1200" dirty="0">
              <a:solidFill>
                <a:prstClr val="black"/>
              </a:solidFill>
              <a:ea typeface="方正兰亭黑简体"/>
            </a:endParaRPr>
          </a:p>
        </p:txBody>
      </p:sp>
      <p:sp>
        <p:nvSpPr>
          <p:cNvPr id="40" name="箭头: 右 39">
            <a:extLst>
              <a:ext uri="{FF2B5EF4-FFF2-40B4-BE49-F238E27FC236}">
                <a16:creationId xmlns:a16="http://schemas.microsoft.com/office/drawing/2014/main" id="{AA18AC2A-829A-4C6B-82DD-28ECE874DF9B}"/>
              </a:ext>
            </a:extLst>
          </p:cNvPr>
          <p:cNvSpPr/>
          <p:nvPr/>
        </p:nvSpPr>
        <p:spPr>
          <a:xfrm>
            <a:off x="8230596" y="5464995"/>
            <a:ext cx="101600" cy="369332"/>
          </a:xfrm>
          <a:prstGeom prst="rightArrow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F0502020204030204"/>
              <a:ea typeface="方正兰亭黑简体"/>
              <a:cs typeface="+mn-cs"/>
            </a:endParaRPr>
          </a:p>
        </p:txBody>
      </p:sp>
      <p:graphicFrame>
        <p:nvGraphicFramePr>
          <p:cNvPr id="41" name="表格 40">
            <a:extLst>
              <a:ext uri="{FF2B5EF4-FFF2-40B4-BE49-F238E27FC236}">
                <a16:creationId xmlns:a16="http://schemas.microsoft.com/office/drawing/2014/main" id="{E0EAB630-22A6-46C5-BDFC-A01AA063E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261142"/>
              </p:ext>
            </p:extLst>
          </p:nvPr>
        </p:nvGraphicFramePr>
        <p:xfrm>
          <a:off x="9096739" y="5471565"/>
          <a:ext cx="449009" cy="400038"/>
        </p:xfrm>
        <a:graphic>
          <a:graphicData uri="http://schemas.openxmlformats.org/drawingml/2006/table">
            <a:tbl>
              <a:tblPr firstRow="1" bandRow="1"/>
              <a:tblGrid>
                <a:gridCol w="449009">
                  <a:extLst>
                    <a:ext uri="{9D8B030D-6E8A-4147-A177-3AD203B41FA5}">
                      <a16:colId xmlns:a16="http://schemas.microsoft.com/office/drawing/2014/main" val="2534719828"/>
                    </a:ext>
                  </a:extLst>
                </a:gridCol>
              </a:tblGrid>
              <a:tr h="400038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18120"/>
                  </a:ext>
                </a:extLst>
              </a:tr>
            </a:tbl>
          </a:graphicData>
        </a:graphic>
      </p:graphicFrame>
      <p:sp>
        <p:nvSpPr>
          <p:cNvPr id="43" name="矩形 42">
            <a:extLst>
              <a:ext uri="{FF2B5EF4-FFF2-40B4-BE49-F238E27FC236}">
                <a16:creationId xmlns:a16="http://schemas.microsoft.com/office/drawing/2014/main" id="{2569FB33-9405-4015-A163-BAF2221F49B0}"/>
              </a:ext>
            </a:extLst>
          </p:cNvPr>
          <p:cNvSpPr/>
          <p:nvPr/>
        </p:nvSpPr>
        <p:spPr>
          <a:xfrm>
            <a:off x="9205326" y="4493272"/>
            <a:ext cx="8674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/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78"/>
            <a:r>
              <a:rPr lang="zh-CN" altLang="en-US" sz="12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左转</a:t>
            </a:r>
            <a:r>
              <a:rPr lang="en-US" altLang="zh-CN" sz="12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12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度，位置不变</a:t>
            </a:r>
            <a:endParaRPr lang="zh-CN" altLang="en-US" sz="1200" dirty="0">
              <a:solidFill>
                <a:srgbClr val="C7000B"/>
              </a:solidFill>
              <a:ea typeface="方正兰亭黑简体"/>
            </a:endParaRPr>
          </a:p>
        </p:txBody>
      </p: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20BC97A-B9A3-4295-B573-0B57671E9C82}"/>
              </a:ext>
            </a:extLst>
          </p:cNvPr>
          <p:cNvCxnSpPr>
            <a:cxnSpLocks/>
          </p:cNvCxnSpPr>
          <p:nvPr/>
        </p:nvCxnSpPr>
        <p:spPr>
          <a:xfrm flipV="1">
            <a:off x="9358962" y="5568879"/>
            <a:ext cx="0" cy="1587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" name="箭头: 右 44">
            <a:extLst>
              <a:ext uri="{FF2B5EF4-FFF2-40B4-BE49-F238E27FC236}">
                <a16:creationId xmlns:a16="http://schemas.microsoft.com/office/drawing/2014/main" id="{1D0D476A-D178-45BD-93EB-F3D30C108D7A}"/>
              </a:ext>
            </a:extLst>
          </p:cNvPr>
          <p:cNvSpPr/>
          <p:nvPr/>
        </p:nvSpPr>
        <p:spPr>
          <a:xfrm>
            <a:off x="9606460" y="5457480"/>
            <a:ext cx="101600" cy="369332"/>
          </a:xfrm>
          <a:prstGeom prst="rightArrow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F0502020204030204"/>
              <a:ea typeface="方正兰亭黑简体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4D64A386-8C68-4D71-A0EF-40D3791B1002}"/>
              </a:ext>
            </a:extLst>
          </p:cNvPr>
          <p:cNvSpPr/>
          <p:nvPr/>
        </p:nvSpPr>
        <p:spPr>
          <a:xfrm>
            <a:off x="10583744" y="4492853"/>
            <a:ext cx="8724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78"/>
            <a:r>
              <a:rPr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  <a:endParaRPr lang="en-US" altLang="zh-CN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defTabSz="914478"/>
            <a:r>
              <a:rPr lang="zh-CN" altLang="en-US" sz="12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右转</a:t>
            </a:r>
            <a:r>
              <a:rPr lang="en-US" altLang="zh-CN" sz="12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1200" dirty="0">
                <a:solidFill>
                  <a:srgbClr val="C700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度，位置不变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66E271BB-ED80-4300-932B-CE198D32EDF7}"/>
              </a:ext>
            </a:extLst>
          </p:cNvPr>
          <p:cNvCxnSpPr>
            <a:cxnSpLocks/>
          </p:cNvCxnSpPr>
          <p:nvPr/>
        </p:nvCxnSpPr>
        <p:spPr>
          <a:xfrm flipH="1">
            <a:off x="9923202" y="5648272"/>
            <a:ext cx="183270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F74CE52B-9A32-43FF-B33D-BE5F4237663D}"/>
              </a:ext>
            </a:extLst>
          </p:cNvPr>
          <p:cNvCxnSpPr>
            <a:cxnSpLocks/>
          </p:cNvCxnSpPr>
          <p:nvPr/>
        </p:nvCxnSpPr>
        <p:spPr>
          <a:xfrm flipV="1">
            <a:off x="7935065" y="5774529"/>
            <a:ext cx="0" cy="1587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4E9C77AE-EDC0-48DD-8FE9-46C9177D0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71612"/>
              </p:ext>
            </p:extLst>
          </p:nvPr>
        </p:nvGraphicFramePr>
        <p:xfrm>
          <a:off x="10495741" y="5460903"/>
          <a:ext cx="452456" cy="410699"/>
        </p:xfrm>
        <a:graphic>
          <a:graphicData uri="http://schemas.openxmlformats.org/drawingml/2006/table">
            <a:tbl>
              <a:tblPr firstRow="1" bandRow="1"/>
              <a:tblGrid>
                <a:gridCol w="452456">
                  <a:extLst>
                    <a:ext uri="{9D8B030D-6E8A-4147-A177-3AD203B41FA5}">
                      <a16:colId xmlns:a16="http://schemas.microsoft.com/office/drawing/2014/main" val="2534719828"/>
                    </a:ext>
                  </a:extLst>
                </a:gridCol>
              </a:tblGrid>
              <a:tr h="410699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5pPr>
                      <a:lvl6pPr marL="2285365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7pPr>
                      <a:lvl8pPr marL="31991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8pPr>
                      <a:lvl9pPr marL="3656330" algn="l" defTabSz="913765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Huawei Sans" panose="020F0502020204030204"/>
                          <a:ea typeface="方正兰亭黑简体"/>
                        </a:defRPr>
                      </a:lvl9pPr>
                    </a:lstStyle>
                    <a:p>
                      <a:endParaRPr lang="zh-CN" altLang="en-US" dirty="0"/>
                    </a:p>
                  </a:txBody>
                  <a:tcPr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618120"/>
                  </a:ext>
                </a:extLst>
              </a:tr>
            </a:tbl>
          </a:graphicData>
        </a:graphic>
      </p:graphicFrame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F7D720C0-A488-41D9-B78F-47A270BAF744}"/>
              </a:ext>
            </a:extLst>
          </p:cNvPr>
          <p:cNvCxnSpPr>
            <a:cxnSpLocks/>
          </p:cNvCxnSpPr>
          <p:nvPr/>
        </p:nvCxnSpPr>
        <p:spPr>
          <a:xfrm flipV="1">
            <a:off x="10720734" y="5596239"/>
            <a:ext cx="0" cy="1587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5" name="箭头: 右 54">
            <a:extLst>
              <a:ext uri="{FF2B5EF4-FFF2-40B4-BE49-F238E27FC236}">
                <a16:creationId xmlns:a16="http://schemas.microsoft.com/office/drawing/2014/main" id="{A5CA0F01-CAE2-4CA1-A9B4-33422E77C90D}"/>
              </a:ext>
            </a:extLst>
          </p:cNvPr>
          <p:cNvSpPr/>
          <p:nvPr/>
        </p:nvSpPr>
        <p:spPr>
          <a:xfrm>
            <a:off x="10993823" y="5460904"/>
            <a:ext cx="101600" cy="369332"/>
          </a:xfrm>
          <a:prstGeom prst="rightArrow">
            <a:avLst/>
          </a:prstGeom>
          <a:noFill/>
          <a:ln w="12700" cap="flat" cmpd="sng" algn="ctr">
            <a:solidFill>
              <a:srgbClr val="5B9BD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uawei Sans" panose="020F0502020204030204"/>
              <a:ea typeface="方正兰亭黑简体"/>
              <a:cs typeface="+mn-cs"/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B24ADDA5-D10E-4866-9F18-E317A166CB58}"/>
              </a:ext>
            </a:extLst>
          </p:cNvPr>
          <p:cNvCxnSpPr>
            <a:cxnSpLocks/>
          </p:cNvCxnSpPr>
          <p:nvPr/>
        </p:nvCxnSpPr>
        <p:spPr>
          <a:xfrm>
            <a:off x="11283373" y="5648272"/>
            <a:ext cx="199664" cy="0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8C994D25-0F11-41E7-9914-DED1D5A016EB}"/>
              </a:ext>
            </a:extLst>
          </p:cNvPr>
          <p:cNvCxnSpPr>
            <a:cxnSpLocks/>
          </p:cNvCxnSpPr>
          <p:nvPr/>
        </p:nvCxnSpPr>
        <p:spPr>
          <a:xfrm flipV="1">
            <a:off x="8623884" y="5376468"/>
            <a:ext cx="0" cy="158786"/>
          </a:xfrm>
          <a:prstGeom prst="straightConnector1">
            <a:avLst/>
          </a:prstGeom>
          <a:noFill/>
          <a:ln w="6350" cap="flat" cmpd="sng" algn="ctr">
            <a:solidFill>
              <a:srgbClr val="5B9BD5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A20A9408-6EA8-4C19-A776-CB0C237002F5}"/>
              </a:ext>
            </a:extLst>
          </p:cNvPr>
          <p:cNvSpPr/>
          <p:nvPr/>
        </p:nvSpPr>
        <p:spPr>
          <a:xfrm>
            <a:off x="7618929" y="4532326"/>
            <a:ext cx="1305563" cy="1695440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3377B09D-3C8D-4DC9-A591-B1593FBFCE00}"/>
              </a:ext>
            </a:extLst>
          </p:cNvPr>
          <p:cNvSpPr/>
          <p:nvPr/>
        </p:nvSpPr>
        <p:spPr>
          <a:xfrm>
            <a:off x="9010515" y="4532326"/>
            <a:ext cx="1305563" cy="1695440"/>
          </a:xfrm>
          <a:prstGeom prst="roundRect">
            <a:avLst/>
          </a:prstGeom>
          <a:solidFill>
            <a:schemeClr val="accent1">
              <a:alpha val="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6C3F52-7711-4EEE-88F8-EAFEEB3C1A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需求示意图</a:t>
            </a:r>
          </a:p>
        </p:txBody>
      </p:sp>
      <p:sp>
        <p:nvSpPr>
          <p:cNvPr id="5" name="文本占位符 3">
            <a:extLst>
              <a:ext uri="{FF2B5EF4-FFF2-40B4-BE49-F238E27FC236}">
                <a16:creationId xmlns:a16="http://schemas.microsoft.com/office/drawing/2014/main" id="{797BA88B-3AD0-4982-9E59-370CE8311FA3}"/>
              </a:ext>
            </a:extLst>
          </p:cNvPr>
          <p:cNvSpPr txBox="1">
            <a:spLocks/>
          </p:cNvSpPr>
          <p:nvPr/>
        </p:nvSpPr>
        <p:spPr>
          <a:xfrm>
            <a:off x="452438" y="1233488"/>
            <a:ext cx="5501322" cy="1580832"/>
          </a:xfrm>
          <a:prstGeom prst="rect">
            <a:avLst/>
          </a:prstGeom>
        </p:spPr>
        <p:txBody>
          <a:bodyPr/>
          <a:lstStyle>
            <a:lvl1pPr marL="302279" indent="-302279" algn="l" defTabSz="914034" rtl="0" eaLnBrk="1" fontAlgn="ctr" latinLnBrk="0" hangingPunct="1">
              <a:lnSpc>
                <a:spcPct val="140000"/>
              </a:lnSpc>
              <a:spcBef>
                <a:spcPts val="792"/>
              </a:spcBef>
              <a:buSzPct val="50000"/>
              <a:buFont typeface="Wingdings" panose="05000000000000000000" pitchFamily="2" charset="2"/>
              <a:buChar char="l"/>
              <a:defRPr sz="21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1pPr>
            <a:lvl2pPr marL="654938" indent="-251899" algn="l" defTabSz="914034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19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98" indent="-201519" algn="l" defTabSz="914034" rtl="0" eaLnBrk="1" fontAlgn="ctr" latinLnBrk="0" hangingPunct="1">
              <a:lnSpc>
                <a:spcPct val="140000"/>
              </a:lnSpc>
              <a:spcBef>
                <a:spcPts val="648"/>
              </a:spcBef>
              <a:buClrTx/>
              <a:buSzPct val="50000"/>
              <a:buFont typeface="Wingdings" panose="05000000000000000000" pitchFamily="2" charset="2"/>
              <a:buChar char="n"/>
              <a:defRPr sz="17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840" indent="-197921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−"/>
              <a:defRPr sz="15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879" indent="-201519" algn="l" defTabSz="914034" rtl="0" eaLnBrk="1" fontAlgn="ctr" latinLnBrk="0" hangingPunct="1">
              <a:lnSpc>
                <a:spcPct val="140000"/>
              </a:lnSpc>
              <a:spcBef>
                <a:spcPts val="576"/>
              </a:spcBef>
              <a:buFont typeface="Huawei Sans" panose="020C0503030203020204" pitchFamily="34" charset="0"/>
              <a:buChar char="~"/>
              <a:defRPr sz="1399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594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611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628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646" indent="-228509" algn="l" defTabSz="91403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一辆车在二维坐标平面上行驶，车的位置始终为整数表示的坐标点，朝向有</a:t>
            </a:r>
            <a:r>
              <a:rPr lang="en-US" altLang="zh-CN" sz="2000" dirty="0">
                <a:latin typeface="+mn-ea"/>
                <a:ea typeface="+mn-ea"/>
              </a:rPr>
              <a:t>4</a:t>
            </a:r>
            <a:r>
              <a:rPr lang="zh-CN" altLang="en-US" sz="2000" dirty="0">
                <a:latin typeface="+mn-ea"/>
                <a:ea typeface="+mn-ea"/>
              </a:rPr>
              <a:t>种。</a:t>
            </a:r>
            <a:endParaRPr lang="en-US" altLang="zh-CN" sz="2000" dirty="0">
              <a:latin typeface="+mn-ea"/>
              <a:ea typeface="+mn-ea"/>
            </a:endParaRPr>
          </a:p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000" dirty="0">
                <a:latin typeface="+mn-ea"/>
                <a:ea typeface="+mn-ea"/>
              </a:rPr>
              <a:t>车的控制系统通过以字母表示的指令控制汽车。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AA957844-768E-419B-8EC4-0489978F0907}"/>
              </a:ext>
            </a:extLst>
          </p:cNvPr>
          <p:cNvCxnSpPr/>
          <p:nvPr/>
        </p:nvCxnSpPr>
        <p:spPr>
          <a:xfrm>
            <a:off x="7030720" y="3449848"/>
            <a:ext cx="421640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5DE0F8E-BDB4-4042-98C1-07E5E069D164}"/>
              </a:ext>
            </a:extLst>
          </p:cNvPr>
          <p:cNvSpPr txBox="1"/>
          <p:nvPr/>
        </p:nvSpPr>
        <p:spPr>
          <a:xfrm>
            <a:off x="11155680" y="3265182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E</a:t>
            </a:r>
            <a:endParaRPr lang="zh-CN" altLang="en-US" dirty="0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05F209A-5961-48D6-8F46-5A19A7AF22EA}"/>
              </a:ext>
            </a:extLst>
          </p:cNvPr>
          <p:cNvSpPr txBox="1"/>
          <p:nvPr/>
        </p:nvSpPr>
        <p:spPr>
          <a:xfrm>
            <a:off x="6583680" y="3265182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W</a:t>
            </a:r>
            <a:endParaRPr lang="zh-CN" altLang="en-US" dirty="0">
              <a:latin typeface="+mn-ea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8E5E6AFD-2738-4B6E-9DB8-9D2D6087853D}"/>
              </a:ext>
            </a:extLst>
          </p:cNvPr>
          <p:cNvCxnSpPr>
            <a:endCxn id="10" idx="2"/>
          </p:cNvCxnSpPr>
          <p:nvPr/>
        </p:nvCxnSpPr>
        <p:spPr>
          <a:xfrm flipV="1">
            <a:off x="9145938" y="1380248"/>
            <a:ext cx="3142" cy="41495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BB5F0349-542C-4D56-B070-637ED6CD2F22}"/>
              </a:ext>
            </a:extLst>
          </p:cNvPr>
          <p:cNvSpPr txBox="1"/>
          <p:nvPr/>
        </p:nvSpPr>
        <p:spPr>
          <a:xfrm>
            <a:off x="8925560" y="1010916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N</a:t>
            </a:r>
            <a:endParaRPr lang="zh-CN" altLang="en-US" dirty="0">
              <a:latin typeface="+mn-ea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65CD51E-E395-43B3-880B-08DA922CC4DD}"/>
              </a:ext>
            </a:extLst>
          </p:cNvPr>
          <p:cNvSpPr txBox="1"/>
          <p:nvPr/>
        </p:nvSpPr>
        <p:spPr>
          <a:xfrm>
            <a:off x="8915400" y="5564650"/>
            <a:ext cx="447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+mn-ea"/>
              </a:rPr>
              <a:t>S</a:t>
            </a:r>
            <a:endParaRPr lang="zh-CN" altLang="en-US" dirty="0">
              <a:latin typeface="+mn-ea"/>
            </a:endParaRP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D9AAA3C-ABF3-4460-A800-72F74729D29A}"/>
              </a:ext>
            </a:extLst>
          </p:cNvPr>
          <p:cNvCxnSpPr/>
          <p:nvPr/>
        </p:nvCxnSpPr>
        <p:spPr>
          <a:xfrm>
            <a:off x="7030720" y="2921528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EFE8570-CCCC-4BAF-8788-291F002030A5}"/>
              </a:ext>
            </a:extLst>
          </p:cNvPr>
          <p:cNvCxnSpPr/>
          <p:nvPr/>
        </p:nvCxnSpPr>
        <p:spPr>
          <a:xfrm>
            <a:off x="7030720" y="2413528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DCC4FBB1-AEA5-4758-91DD-F2F26AE10FCD}"/>
              </a:ext>
            </a:extLst>
          </p:cNvPr>
          <p:cNvCxnSpPr/>
          <p:nvPr/>
        </p:nvCxnSpPr>
        <p:spPr>
          <a:xfrm>
            <a:off x="7030720" y="1905528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AF6C354-FFE5-4054-A5CA-6BDDE2B39C04}"/>
              </a:ext>
            </a:extLst>
          </p:cNvPr>
          <p:cNvCxnSpPr/>
          <p:nvPr/>
        </p:nvCxnSpPr>
        <p:spPr>
          <a:xfrm>
            <a:off x="7076440" y="4994168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C14759A0-6E8A-48FC-9C75-3AF95042C6A8}"/>
              </a:ext>
            </a:extLst>
          </p:cNvPr>
          <p:cNvCxnSpPr/>
          <p:nvPr/>
        </p:nvCxnSpPr>
        <p:spPr>
          <a:xfrm>
            <a:off x="7076440" y="4486168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9FB8F1C4-7D16-4DBE-ADC9-A99E44014B7E}"/>
              </a:ext>
            </a:extLst>
          </p:cNvPr>
          <p:cNvCxnSpPr/>
          <p:nvPr/>
        </p:nvCxnSpPr>
        <p:spPr>
          <a:xfrm>
            <a:off x="7076440" y="3978168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2286BCF5-6FD6-46C7-AA12-DE28C2D35EED}"/>
              </a:ext>
            </a:extLst>
          </p:cNvPr>
          <p:cNvCxnSpPr/>
          <p:nvPr/>
        </p:nvCxnSpPr>
        <p:spPr>
          <a:xfrm rot="16200000">
            <a:off x="6543040" y="3418837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14BD4A4-C9AE-4F03-AE08-F5CC2C67AEC1}"/>
              </a:ext>
            </a:extLst>
          </p:cNvPr>
          <p:cNvCxnSpPr/>
          <p:nvPr/>
        </p:nvCxnSpPr>
        <p:spPr>
          <a:xfrm rot="16200000">
            <a:off x="6024880" y="3442728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0DF50EE-20EC-464F-8A29-CBE013BD80FB}"/>
              </a:ext>
            </a:extLst>
          </p:cNvPr>
          <p:cNvCxnSpPr/>
          <p:nvPr/>
        </p:nvCxnSpPr>
        <p:spPr>
          <a:xfrm rot="16200000">
            <a:off x="5466080" y="3436856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9FD9EE0-825A-4919-8046-84ADC3195136}"/>
              </a:ext>
            </a:extLst>
          </p:cNvPr>
          <p:cNvCxnSpPr/>
          <p:nvPr/>
        </p:nvCxnSpPr>
        <p:spPr>
          <a:xfrm rot="16200000">
            <a:off x="8707120" y="3459477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53B83ADD-1C47-4F37-B8D0-724BC6E9BB9B}"/>
              </a:ext>
            </a:extLst>
          </p:cNvPr>
          <p:cNvCxnSpPr/>
          <p:nvPr/>
        </p:nvCxnSpPr>
        <p:spPr>
          <a:xfrm rot="16200000">
            <a:off x="8176260" y="3447016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8C34F6EC-FFCF-41A5-8E7E-3FE8DE595BDD}"/>
              </a:ext>
            </a:extLst>
          </p:cNvPr>
          <p:cNvCxnSpPr/>
          <p:nvPr/>
        </p:nvCxnSpPr>
        <p:spPr>
          <a:xfrm rot="16200000">
            <a:off x="7640320" y="3467336"/>
            <a:ext cx="412496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97A960D9-2D42-4B58-8A8E-E5F6926E0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8803269" y="3247675"/>
            <a:ext cx="685339" cy="38402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FE04351F-84A1-49FD-96B5-59B7FD2BA981}"/>
              </a:ext>
            </a:extLst>
          </p:cNvPr>
          <p:cNvSpPr txBox="1"/>
          <p:nvPr/>
        </p:nvSpPr>
        <p:spPr>
          <a:xfrm>
            <a:off x="1482722" y="3265182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指令序列：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4900F76-5CAE-4859-8408-BF75A0086EC4}"/>
              </a:ext>
            </a:extLst>
          </p:cNvPr>
          <p:cNvSpPr txBox="1"/>
          <p:nvPr/>
        </p:nvSpPr>
        <p:spPr>
          <a:xfrm>
            <a:off x="3162580" y="3265182"/>
            <a:ext cx="442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M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9C51030-D895-44B6-A871-46DEB4C065A4}"/>
              </a:ext>
            </a:extLst>
          </p:cNvPr>
          <p:cNvSpPr txBox="1"/>
          <p:nvPr/>
        </p:nvSpPr>
        <p:spPr>
          <a:xfrm>
            <a:off x="3439235" y="3265182"/>
            <a:ext cx="4147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L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56A8BCF-FF6E-4938-9A60-7543832A6CC5}"/>
              </a:ext>
            </a:extLst>
          </p:cNvPr>
          <p:cNvSpPr txBox="1"/>
          <p:nvPr/>
        </p:nvSpPr>
        <p:spPr>
          <a:xfrm>
            <a:off x="3701737" y="3265029"/>
            <a:ext cx="442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M</a:t>
            </a:r>
            <a:endParaRPr lang="zh-CN" altLang="en-US" sz="2400" dirty="0">
              <a:latin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AD14C79-29AF-45DB-9B8A-9F0D35EA016F}"/>
              </a:ext>
            </a:extLst>
          </p:cNvPr>
          <p:cNvSpPr txBox="1"/>
          <p:nvPr/>
        </p:nvSpPr>
        <p:spPr>
          <a:xfrm>
            <a:off x="4028703" y="3270404"/>
            <a:ext cx="442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M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A2D37C5-DFAD-409B-A62E-5D2CB5CDF807}"/>
              </a:ext>
            </a:extLst>
          </p:cNvPr>
          <p:cNvSpPr txBox="1"/>
          <p:nvPr/>
        </p:nvSpPr>
        <p:spPr>
          <a:xfrm>
            <a:off x="4308780" y="3270404"/>
            <a:ext cx="442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R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E539C03-8A1D-4877-A9F8-4E50024FBCC0}"/>
              </a:ext>
            </a:extLst>
          </p:cNvPr>
          <p:cNvSpPr txBox="1"/>
          <p:nvPr/>
        </p:nvSpPr>
        <p:spPr>
          <a:xfrm>
            <a:off x="4588214" y="3270404"/>
            <a:ext cx="4424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M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5F7F2BC-F8C1-40C9-8153-AD51CB2824B4}"/>
              </a:ext>
            </a:extLst>
          </p:cNvPr>
          <p:cNvSpPr txBox="1"/>
          <p:nvPr/>
        </p:nvSpPr>
        <p:spPr>
          <a:xfrm>
            <a:off x="1479014" y="3946876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当前位置：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E315C43-B766-48E5-A56A-1BD82DEDF368}"/>
              </a:ext>
            </a:extLst>
          </p:cNvPr>
          <p:cNvSpPr txBox="1"/>
          <p:nvPr/>
        </p:nvSpPr>
        <p:spPr>
          <a:xfrm>
            <a:off x="1479014" y="4637831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latin typeface="+mn-ea"/>
              </a:rPr>
              <a:t>当前朝向：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1084088B-2421-4C9E-8DBE-0F555FE5D52D}"/>
              </a:ext>
            </a:extLst>
          </p:cNvPr>
          <p:cNvSpPr txBox="1"/>
          <p:nvPr/>
        </p:nvSpPr>
        <p:spPr>
          <a:xfrm>
            <a:off x="3271672" y="3946570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(0,0)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7DAC298F-A74B-4F56-A024-3A34120FEE0A}"/>
              </a:ext>
            </a:extLst>
          </p:cNvPr>
          <p:cNvSpPr txBox="1"/>
          <p:nvPr/>
        </p:nvSpPr>
        <p:spPr>
          <a:xfrm>
            <a:off x="3272442" y="4637831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N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4EFB7AD7-A8EA-42FA-B18E-38F2E1B0DF30}"/>
              </a:ext>
            </a:extLst>
          </p:cNvPr>
          <p:cNvSpPr txBox="1"/>
          <p:nvPr/>
        </p:nvSpPr>
        <p:spPr>
          <a:xfrm>
            <a:off x="3266593" y="3947160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(0,1)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DC867A2-F55F-4F65-BCEA-1CC1660BEE70}"/>
              </a:ext>
            </a:extLst>
          </p:cNvPr>
          <p:cNvSpPr txBox="1"/>
          <p:nvPr/>
        </p:nvSpPr>
        <p:spPr>
          <a:xfrm>
            <a:off x="3269645" y="3947483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(-1,1)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88CA126-0AB4-42B8-B547-6FDBF85C6A67}"/>
              </a:ext>
            </a:extLst>
          </p:cNvPr>
          <p:cNvSpPr txBox="1"/>
          <p:nvPr/>
        </p:nvSpPr>
        <p:spPr>
          <a:xfrm>
            <a:off x="3288409" y="3947483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(-2,1)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AD10C304-FC65-4B00-9962-A3114B3E1C83}"/>
              </a:ext>
            </a:extLst>
          </p:cNvPr>
          <p:cNvSpPr txBox="1"/>
          <p:nvPr/>
        </p:nvSpPr>
        <p:spPr>
          <a:xfrm>
            <a:off x="3290436" y="3958741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(-2,2)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E2114E9-9A9C-4012-A8FD-9EB329F806F7}"/>
              </a:ext>
            </a:extLst>
          </p:cNvPr>
          <p:cNvSpPr txBox="1"/>
          <p:nvPr/>
        </p:nvSpPr>
        <p:spPr>
          <a:xfrm>
            <a:off x="3282101" y="4647078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W</a:t>
            </a:r>
            <a:endParaRPr lang="zh-CN" altLang="en-US" sz="2400" dirty="0">
              <a:latin typeface="+mn-ea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1129AC2-6018-441B-9A9C-3BF19C4A9B6E}"/>
              </a:ext>
            </a:extLst>
          </p:cNvPr>
          <p:cNvSpPr txBox="1"/>
          <p:nvPr/>
        </p:nvSpPr>
        <p:spPr>
          <a:xfrm>
            <a:off x="3271109" y="4639298"/>
            <a:ext cx="1683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latin typeface="+mn-ea"/>
              </a:rPr>
              <a:t>N</a:t>
            </a:r>
            <a:endParaRPr lang="zh-CN" altLang="en-US" sz="2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3996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7 L -0.00078 -0.07847 " pathEditMode="fixed" rAng="0" ptsTypes="AA">
                                      <p:cBhvr>
                                        <p:cTn id="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393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-5400000">
                                      <p:cBhvr>
                                        <p:cTn id="1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78 -0.07847 L -0.04427 -0.07685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4" y="-69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2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27 -0.07685 L -0.08685 -0.07662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61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4" dur="indefinite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5400000">
                                      <p:cBhvr>
                                        <p:cTn id="5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8685 -0.07662 L -0.08724 -0.1467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" y="-3519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8" dur="indefinite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4" grpId="0"/>
      <p:bldP spid="35" grpId="0"/>
      <p:bldP spid="36" grpId="0"/>
      <p:bldP spid="36" grpId="1"/>
      <p:bldP spid="37" grpId="0"/>
      <p:bldP spid="37" grpId="1"/>
      <p:bldP spid="38" grpId="0"/>
      <p:bldP spid="38" grpId="1"/>
      <p:bldP spid="39" grpId="0"/>
      <p:bldP spid="40" grpId="0"/>
      <p:bldP spid="40" grpId="1"/>
      <p:bldP spid="4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>
            <a:extLst>
              <a:ext uri="{FF2B5EF4-FFF2-40B4-BE49-F238E27FC236}">
                <a16:creationId xmlns:a16="http://schemas.microsoft.com/office/drawing/2014/main" id="{A55EDE08-C908-438D-ADC2-F5107B417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  <a:endParaRPr lang="en-US" altLang="zh-CN" sz="22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  <a:endParaRPr lang="en-US" altLang="zh-CN" sz="22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514350" lvl="1" indent="-514350" algn="just" defTabSz="801370">
              <a:lnSpc>
                <a:spcPct val="150000"/>
              </a:lnSpc>
              <a:spcBef>
                <a:spcPct val="30000"/>
              </a:spcBef>
              <a:spcAft>
                <a:spcPct val="0"/>
              </a:spcAft>
              <a:buFont typeface="+mj-lt"/>
              <a:buAutoNum type="arabicPeriod" startAt="3"/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endParaRPr lang="zh-CN" altLang="en-US" sz="2400" dirty="0">
              <a:latin typeface="Huawei Sans" panose="020C0503030203020204" pitchFamily="34" charset="0"/>
              <a:cs typeface="+mn-ea"/>
              <a:sym typeface="Huawei Sans" panose="020C050303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826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Executor</a:t>
            </a:r>
            <a:r>
              <a:rPr lang="zh-CN" altLang="en-US"/>
              <a:t>对外接口如何设计？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20195" y="1702960"/>
            <a:ext cx="5475805" cy="2354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让我们花几分钟来思考一下这个问题：</a:t>
            </a:r>
            <a:endParaRPr lang="en-US" altLang="zh-CN" sz="20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需要定义哪些接口？</a:t>
            </a:r>
            <a:endParaRPr lang="en-US" altLang="zh-CN" sz="20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接口参数、返回值分别是什么？</a:t>
            </a:r>
            <a:endParaRPr lang="en-US" altLang="zh-CN" sz="20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20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请将上述问题的思考表达出来，例如：</a:t>
            </a:r>
            <a:endParaRPr lang="en-US" altLang="zh-CN" sz="20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E4832C1-E2BF-4900-95C2-353F382984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202234"/>
              </p:ext>
            </p:extLst>
          </p:nvPr>
        </p:nvGraphicFramePr>
        <p:xfrm>
          <a:off x="643596" y="4657974"/>
          <a:ext cx="10951611" cy="1510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698">
                  <a:extLst>
                    <a:ext uri="{9D8B030D-6E8A-4147-A177-3AD203B41FA5}">
                      <a16:colId xmlns:a16="http://schemas.microsoft.com/office/drawing/2014/main" val="878355373"/>
                    </a:ext>
                  </a:extLst>
                </a:gridCol>
                <a:gridCol w="3765177">
                  <a:extLst>
                    <a:ext uri="{9D8B030D-6E8A-4147-A177-3AD203B41FA5}">
                      <a16:colId xmlns:a16="http://schemas.microsoft.com/office/drawing/2014/main" val="761900433"/>
                    </a:ext>
                  </a:extLst>
                </a:gridCol>
                <a:gridCol w="2236053">
                  <a:extLst>
                    <a:ext uri="{9D8B030D-6E8A-4147-A177-3AD203B41FA5}">
                      <a16:colId xmlns:a16="http://schemas.microsoft.com/office/drawing/2014/main" val="1219348066"/>
                    </a:ext>
                  </a:extLst>
                </a:gridCol>
                <a:gridCol w="2366683">
                  <a:extLst>
                    <a:ext uri="{9D8B030D-6E8A-4147-A177-3AD203B41FA5}">
                      <a16:colId xmlns:a16="http://schemas.microsoft.com/office/drawing/2014/main" val="2750412149"/>
                    </a:ext>
                  </a:extLst>
                </a:gridCol>
              </a:tblGrid>
              <a:tr h="246583"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1" kern="120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接口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参数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返回值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795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接口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***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***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***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97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</a:t>
                      </a: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接口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***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***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***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529747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8BEA2205-D738-4B8C-840F-8E3954B73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175" y="494980"/>
            <a:ext cx="2976562" cy="2375432"/>
          </a:xfrm>
          <a:prstGeom prst="rect">
            <a:avLst/>
          </a:prstGeom>
        </p:spPr>
      </p:pic>
      <p:pic>
        <p:nvPicPr>
          <p:cNvPr id="8" name="Oval Oval">
            <a:extLst>
              <a:ext uri="{FF2B5EF4-FFF2-40B4-BE49-F238E27FC236}">
                <a16:creationId xmlns:a16="http://schemas.microsoft.com/office/drawing/2014/main" id="{02CC92E3-44CC-432F-870B-3973B8F7B584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7773529" y="2058373"/>
            <a:ext cx="1566897" cy="77331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分享时刻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3596" y="1120211"/>
            <a:ext cx="4224233" cy="11454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定义了哪些接口？</a:t>
            </a:r>
            <a:endParaRPr lang="en-US" altLang="zh-CN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接口名、参数分别是什么？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兰亭黑简体" panose="02000000000000000000" pitchFamily="2" charset="-122"/>
              </a:rPr>
              <a:t>课程实训需求</a:t>
            </a:r>
            <a:r>
              <a:rPr lang="en-US" altLang="zh-CN" dirty="0">
                <a:latin typeface="方正兰亭黑简体" panose="02000000000000000000" pitchFamily="2" charset="-122"/>
              </a:rPr>
              <a:t>1 </a:t>
            </a:r>
            <a:r>
              <a:rPr lang="zh-CN" altLang="en-US" dirty="0">
                <a:latin typeface="方正兰亭黑简体" panose="02000000000000000000" pitchFamily="2" charset="-122"/>
              </a:rPr>
              <a:t>支持基本控制指令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dirty="0">
                <a:latin typeface="方正兰亭黑简体" panose="02000000000000000000" pitchFamily="2" charset="-122"/>
              </a:rPr>
              <a:t>设计一个</a:t>
            </a:r>
            <a:r>
              <a:rPr lang="en-US" altLang="zh-CN" sz="1600" dirty="0">
                <a:latin typeface="方正兰亭黑简体" panose="02000000000000000000" pitchFamily="2" charset="-122"/>
              </a:rPr>
              <a:t>C</a:t>
            </a:r>
            <a:r>
              <a:rPr lang="zh-CN" altLang="en-US" sz="1600" dirty="0">
                <a:latin typeface="方正兰亭黑简体" panose="02000000000000000000" pitchFamily="2" charset="-122"/>
              </a:rPr>
              <a:t>程序，模拟自动驾驶车辆的执行器</a:t>
            </a: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组件功能。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组件提供初始化接口，负责将车初始化车的位置和朝向，输入数据为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: (x, y, heading)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，其中：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 err="1">
                <a:latin typeface="方正兰亭黑简体" panose="02000000000000000000" pitchFamily="2" charset="-122"/>
              </a:rPr>
              <a:t>x,y</a:t>
            </a:r>
            <a:r>
              <a:rPr lang="zh-CN" altLang="en-US" sz="1600" dirty="0">
                <a:latin typeface="方正兰亭黑简体" panose="02000000000000000000" pitchFamily="2" charset="-122"/>
              </a:rPr>
              <a:t>对应地点位置（均为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int32</a:t>
            </a:r>
            <a:r>
              <a:rPr lang="zh-CN" altLang="en-US" sz="1600" dirty="0">
                <a:latin typeface="方正兰亭黑简体" panose="02000000000000000000" pitchFamily="2" charset="-122"/>
              </a:rPr>
              <a:t>类型）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方正兰亭黑简体" panose="02000000000000000000" pitchFamily="2" charset="-122"/>
              </a:rPr>
              <a:t>heading</a:t>
            </a:r>
            <a:r>
              <a:rPr lang="zh-CN" altLang="en-US" sz="1600" dirty="0">
                <a:latin typeface="方正兰亭黑简体" panose="02000000000000000000" pitchFamily="2" charset="-122"/>
              </a:rPr>
              <a:t>对应四个方向（</a:t>
            </a:r>
            <a:r>
              <a:rPr lang="en-US" altLang="zh-CN" sz="1600" dirty="0">
                <a:latin typeface="方正兰亭黑简体" panose="02000000000000000000" pitchFamily="2" charset="-122"/>
              </a:rPr>
              <a:t>EAST</a:t>
            </a:r>
            <a:r>
              <a:rPr lang="zh-CN" altLang="en-US" sz="1600" dirty="0">
                <a:latin typeface="方正兰亭黑简体" panose="02000000000000000000" pitchFamily="2" charset="-122"/>
              </a:rPr>
              <a:t>、</a:t>
            </a:r>
            <a:r>
              <a:rPr lang="en-US" altLang="zh-CN" sz="1600" dirty="0">
                <a:latin typeface="方正兰亭黑简体" panose="02000000000000000000" pitchFamily="2" charset="-122"/>
              </a:rPr>
              <a:t>SOUTH</a:t>
            </a:r>
            <a:r>
              <a:rPr lang="zh-CN" altLang="en-US" sz="1600" dirty="0">
                <a:latin typeface="方正兰亭黑简体" panose="02000000000000000000" pitchFamily="2" charset="-122"/>
              </a:rPr>
              <a:t>、</a:t>
            </a:r>
            <a:r>
              <a:rPr lang="en-US" altLang="zh-CN" sz="1600" dirty="0">
                <a:latin typeface="方正兰亭黑简体" panose="02000000000000000000" pitchFamily="2" charset="-122"/>
              </a:rPr>
              <a:t>WEST</a:t>
            </a:r>
            <a:r>
              <a:rPr lang="zh-CN" altLang="en-US" sz="1600" dirty="0">
                <a:latin typeface="方正兰亭黑简体" panose="02000000000000000000" pitchFamily="2" charset="-122"/>
              </a:rPr>
              <a:t>、</a:t>
            </a:r>
            <a:r>
              <a:rPr lang="en-US" altLang="zh-CN" sz="1600" dirty="0">
                <a:latin typeface="方正兰亭黑简体" panose="02000000000000000000" pitchFamily="2" charset="-122"/>
              </a:rPr>
              <a:t>NORTH</a:t>
            </a:r>
            <a:r>
              <a:rPr lang="zh-CN" altLang="en-US" sz="1600" dirty="0">
                <a:latin typeface="方正兰亭黑简体" panose="02000000000000000000" pitchFamily="2" charset="-122"/>
              </a:rPr>
              <a:t>）</a:t>
            </a:r>
            <a:endParaRPr lang="en-US" altLang="zh-CN" sz="1600" dirty="0">
              <a:latin typeface="方正兰亭黑简体" panose="02000000000000000000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组件可以执行如下的移动指令：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方正兰亭黑简体" panose="02000000000000000000" pitchFamily="2" charset="-122"/>
              </a:rPr>
              <a:t> M: </a:t>
            </a:r>
            <a:r>
              <a:rPr lang="zh-CN" altLang="en-US" sz="1600" dirty="0">
                <a:latin typeface="方正兰亭黑简体" panose="02000000000000000000" pitchFamily="2" charset="-122"/>
              </a:rPr>
              <a:t>前进，</a:t>
            </a:r>
            <a:r>
              <a:rPr lang="en-US" altLang="zh-CN" sz="1600" dirty="0">
                <a:latin typeface="方正兰亭黑简体" panose="02000000000000000000" pitchFamily="2" charset="-122"/>
              </a:rPr>
              <a:t>1</a:t>
            </a:r>
            <a:r>
              <a:rPr lang="zh-CN" altLang="en-US" sz="1600" dirty="0">
                <a:latin typeface="方正兰亭黑简体" panose="02000000000000000000" pitchFamily="2" charset="-122"/>
              </a:rPr>
              <a:t>次移动</a:t>
            </a:r>
            <a:r>
              <a:rPr lang="en-US" altLang="zh-CN" sz="1600" dirty="0">
                <a:latin typeface="方正兰亭黑简体" panose="02000000000000000000" pitchFamily="2" charset="-122"/>
              </a:rPr>
              <a:t>1</a:t>
            </a:r>
            <a:r>
              <a:rPr lang="zh-CN" altLang="en-US" sz="1600" dirty="0">
                <a:latin typeface="方正兰亭黑简体" panose="02000000000000000000" pitchFamily="2" charset="-122"/>
              </a:rPr>
              <a:t>格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组件可以执行如下的转向指令：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方正兰亭黑简体" panose="02000000000000000000" pitchFamily="2" charset="-122"/>
              </a:rPr>
              <a:t>L: </a:t>
            </a:r>
            <a:r>
              <a:rPr lang="zh-CN" altLang="en-US" sz="1600" dirty="0">
                <a:latin typeface="方正兰亭黑简体" panose="02000000000000000000" pitchFamily="2" charset="-122"/>
              </a:rPr>
              <a:t>左转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度，位置不变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方正兰亭黑简体" panose="02000000000000000000" pitchFamily="2" charset="-122"/>
              </a:rPr>
              <a:t>R: </a:t>
            </a:r>
            <a:r>
              <a:rPr lang="zh-CN" altLang="en-US" sz="1600" dirty="0">
                <a:latin typeface="方正兰亭黑简体" panose="02000000000000000000" pitchFamily="2" charset="-122"/>
              </a:rPr>
              <a:t>右转</a:t>
            </a:r>
            <a:r>
              <a:rPr lang="en-US" altLang="zh-CN" sz="1600" dirty="0">
                <a:latin typeface="方正兰亭黑简体" panose="02000000000000000000" pitchFamily="2" charset="-122"/>
              </a:rPr>
              <a:t>90</a:t>
            </a:r>
            <a:r>
              <a:rPr lang="zh-CN" altLang="en-US" sz="1600" dirty="0">
                <a:latin typeface="方正兰亭黑简体" panose="02000000000000000000" pitchFamily="2" charset="-122"/>
              </a:rPr>
              <a:t>度，位置不变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Executor</a:t>
            </a:r>
            <a:r>
              <a:rPr lang="zh-CN" altLang="en-US" sz="1600" dirty="0">
                <a:latin typeface="方正兰亭黑简体" panose="02000000000000000000" pitchFamily="2" charset="-122"/>
              </a:rPr>
              <a:t>组件提供获取车当前的坐标位置和朝向接口。</a:t>
            </a:r>
            <a:endParaRPr lang="en-US" altLang="zh-CN" sz="1600" dirty="0">
              <a:latin typeface="方正兰亭黑简体" panose="02000000000000000000" pitchFamily="2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>
                <a:latin typeface="方正兰亭黑简体" panose="02000000000000000000" pitchFamily="2" charset="-122"/>
              </a:rPr>
              <a:t>X</a:t>
            </a:r>
            <a:r>
              <a:rPr lang="zh-CN" altLang="en-US" sz="1600" dirty="0">
                <a:latin typeface="方正兰亭黑简体" panose="02000000000000000000" pitchFamily="2" charset="-122"/>
              </a:rPr>
              <a:t>轴移动的方向为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E/W</a:t>
            </a:r>
            <a:r>
              <a:rPr lang="zh-CN" altLang="en-US" sz="1600" dirty="0">
                <a:latin typeface="方正兰亭黑简体" panose="02000000000000000000" pitchFamily="2" charset="-122"/>
              </a:rPr>
              <a:t>方向，</a:t>
            </a:r>
            <a:r>
              <a:rPr lang="en-US" altLang="zh-CN" sz="1600" dirty="0">
                <a:latin typeface="方正兰亭黑简体" panose="02000000000000000000" pitchFamily="2" charset="-122"/>
              </a:rPr>
              <a:t>Y</a:t>
            </a:r>
            <a:r>
              <a:rPr lang="zh-CN" altLang="en-US" sz="1600" dirty="0">
                <a:latin typeface="方正兰亭黑简体" panose="02000000000000000000" pitchFamily="2" charset="-122"/>
              </a:rPr>
              <a:t>轴移动的方向为</a:t>
            </a:r>
            <a:r>
              <a:rPr lang="en-US" altLang="zh-CN" sz="1600" dirty="0">
                <a:latin typeface="方正兰亭黑简体" panose="02000000000000000000" pitchFamily="2" charset="-122"/>
              </a:rPr>
              <a:t>N/S</a:t>
            </a:r>
            <a:r>
              <a:rPr lang="zh-CN" altLang="en-US" sz="1600" dirty="0">
                <a:latin typeface="方正兰亭黑简体" panose="02000000000000000000" pitchFamily="2" charset="-122"/>
              </a:rPr>
              <a:t>方向。</a:t>
            </a:r>
          </a:p>
        </p:txBody>
      </p:sp>
      <p:sp>
        <p:nvSpPr>
          <p:cNvPr id="16" name="圆角矩形 13">
            <a:extLst>
              <a:ext uri="{FF2B5EF4-FFF2-40B4-BE49-F238E27FC236}">
                <a16:creationId xmlns:a16="http://schemas.microsoft.com/office/drawing/2014/main" id="{493E09EA-7C14-4AA6-8522-8265D47B2088}"/>
              </a:ext>
            </a:extLst>
          </p:cNvPr>
          <p:cNvSpPr/>
          <p:nvPr/>
        </p:nvSpPr>
        <p:spPr bwMode="auto">
          <a:xfrm>
            <a:off x="731836" y="1494694"/>
            <a:ext cx="1435631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17" name="圆角矩形 13">
            <a:extLst>
              <a:ext uri="{FF2B5EF4-FFF2-40B4-BE49-F238E27FC236}">
                <a16:creationId xmlns:a16="http://schemas.microsoft.com/office/drawing/2014/main" id="{EBB2B48D-BDA1-46CC-A8FF-D3552533B53A}"/>
              </a:ext>
            </a:extLst>
          </p:cNvPr>
          <p:cNvSpPr/>
          <p:nvPr/>
        </p:nvSpPr>
        <p:spPr bwMode="auto">
          <a:xfrm>
            <a:off x="2167467" y="1984838"/>
            <a:ext cx="587022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18" name="圆角矩形 13">
            <a:extLst>
              <a:ext uri="{FF2B5EF4-FFF2-40B4-BE49-F238E27FC236}">
                <a16:creationId xmlns:a16="http://schemas.microsoft.com/office/drawing/2014/main" id="{15FBD2F1-77E9-4B31-837A-96BB8A4D28DF}"/>
              </a:ext>
            </a:extLst>
          </p:cNvPr>
          <p:cNvSpPr/>
          <p:nvPr/>
        </p:nvSpPr>
        <p:spPr bwMode="auto">
          <a:xfrm>
            <a:off x="2708583" y="2498644"/>
            <a:ext cx="587023" cy="4706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19" name="圆角矩形 13">
            <a:extLst>
              <a:ext uri="{FF2B5EF4-FFF2-40B4-BE49-F238E27FC236}">
                <a16:creationId xmlns:a16="http://schemas.microsoft.com/office/drawing/2014/main" id="{E519CBE4-221E-4A95-8092-0A10E2E45E32}"/>
              </a:ext>
            </a:extLst>
          </p:cNvPr>
          <p:cNvSpPr/>
          <p:nvPr/>
        </p:nvSpPr>
        <p:spPr bwMode="auto">
          <a:xfrm>
            <a:off x="3566992" y="2946944"/>
            <a:ext cx="934411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20" name="圆角矩形 13">
            <a:extLst>
              <a:ext uri="{FF2B5EF4-FFF2-40B4-BE49-F238E27FC236}">
                <a16:creationId xmlns:a16="http://schemas.microsoft.com/office/drawing/2014/main" id="{D773AE2F-3BE1-429D-BF8B-6B401D2C4C37}"/>
              </a:ext>
            </a:extLst>
          </p:cNvPr>
          <p:cNvSpPr/>
          <p:nvPr/>
        </p:nvSpPr>
        <p:spPr bwMode="auto">
          <a:xfrm>
            <a:off x="3552524" y="3877575"/>
            <a:ext cx="934412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21" name="圆角矩形 13">
            <a:extLst>
              <a:ext uri="{FF2B5EF4-FFF2-40B4-BE49-F238E27FC236}">
                <a16:creationId xmlns:a16="http://schemas.microsoft.com/office/drawing/2014/main" id="{941E322B-CFCA-468C-AB28-4BE0E3D53763}"/>
              </a:ext>
            </a:extLst>
          </p:cNvPr>
          <p:cNvSpPr/>
          <p:nvPr/>
        </p:nvSpPr>
        <p:spPr bwMode="auto">
          <a:xfrm>
            <a:off x="3783587" y="5230571"/>
            <a:ext cx="1477035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24" name="圆角矩形 13">
            <a:extLst>
              <a:ext uri="{FF2B5EF4-FFF2-40B4-BE49-F238E27FC236}">
                <a16:creationId xmlns:a16="http://schemas.microsoft.com/office/drawing/2014/main" id="{84EE6D08-2FA1-45EC-B1E7-0DBFA8F26DB5}"/>
              </a:ext>
            </a:extLst>
          </p:cNvPr>
          <p:cNvSpPr/>
          <p:nvPr/>
        </p:nvSpPr>
        <p:spPr bwMode="auto">
          <a:xfrm>
            <a:off x="4542807" y="1515737"/>
            <a:ext cx="717816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25" name="圆角矩形 13">
            <a:extLst>
              <a:ext uri="{FF2B5EF4-FFF2-40B4-BE49-F238E27FC236}">
                <a16:creationId xmlns:a16="http://schemas.microsoft.com/office/drawing/2014/main" id="{B466CC25-90DA-49E7-BF3A-FEF6E438897F}"/>
              </a:ext>
            </a:extLst>
          </p:cNvPr>
          <p:cNvSpPr/>
          <p:nvPr/>
        </p:nvSpPr>
        <p:spPr bwMode="auto">
          <a:xfrm>
            <a:off x="2490267" y="3012450"/>
            <a:ext cx="490000" cy="416550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  <p:sp>
        <p:nvSpPr>
          <p:cNvPr id="26" name="圆角矩形 13">
            <a:extLst>
              <a:ext uri="{FF2B5EF4-FFF2-40B4-BE49-F238E27FC236}">
                <a16:creationId xmlns:a16="http://schemas.microsoft.com/office/drawing/2014/main" id="{9635BD02-D347-4BDE-91EE-1A823341137A}"/>
              </a:ext>
            </a:extLst>
          </p:cNvPr>
          <p:cNvSpPr/>
          <p:nvPr/>
        </p:nvSpPr>
        <p:spPr bwMode="auto">
          <a:xfrm>
            <a:off x="2490267" y="5261051"/>
            <a:ext cx="490000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接口设计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98311" y="1009468"/>
            <a:ext cx="10996896" cy="674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</a:t>
            </a:r>
            <a:r>
              <a:rPr lang="zh-CN" altLang="en-US" sz="280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动名词分析</a:t>
            </a:r>
            <a:r>
              <a:rPr lang="zh-CN" altLang="en-US" sz="280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，明确对应的接口及其操作的数据：</a:t>
            </a:r>
            <a:endParaRPr lang="en-US" altLang="zh-CN" sz="2800" dirty="0">
              <a:solidFill>
                <a:srgbClr val="11111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aphicFrame>
        <p:nvGraphicFramePr>
          <p:cNvPr id="2" name="表格 5">
            <a:extLst>
              <a:ext uri="{FF2B5EF4-FFF2-40B4-BE49-F238E27FC236}">
                <a16:creationId xmlns:a16="http://schemas.microsoft.com/office/drawing/2014/main" id="{D0FA375E-194D-47C6-9A2A-CB44A55EDD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9197611"/>
              </p:ext>
            </p:extLst>
          </p:nvPr>
        </p:nvGraphicFramePr>
        <p:xfrm>
          <a:off x="643596" y="1877831"/>
          <a:ext cx="10951611" cy="20958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698">
                  <a:extLst>
                    <a:ext uri="{9D8B030D-6E8A-4147-A177-3AD203B41FA5}">
                      <a16:colId xmlns:a16="http://schemas.microsoft.com/office/drawing/2014/main" val="878355373"/>
                    </a:ext>
                  </a:extLst>
                </a:gridCol>
                <a:gridCol w="3765177">
                  <a:extLst>
                    <a:ext uri="{9D8B030D-6E8A-4147-A177-3AD203B41FA5}">
                      <a16:colId xmlns:a16="http://schemas.microsoft.com/office/drawing/2014/main" val="761900433"/>
                    </a:ext>
                  </a:extLst>
                </a:gridCol>
                <a:gridCol w="2236053">
                  <a:extLst>
                    <a:ext uri="{9D8B030D-6E8A-4147-A177-3AD203B41FA5}">
                      <a16:colId xmlns:a16="http://schemas.microsoft.com/office/drawing/2014/main" val="1219348066"/>
                    </a:ext>
                  </a:extLst>
                </a:gridCol>
                <a:gridCol w="2366683">
                  <a:extLst>
                    <a:ext uri="{9D8B030D-6E8A-4147-A177-3AD203B41FA5}">
                      <a16:colId xmlns:a16="http://schemas.microsoft.com/office/drawing/2014/main" val="2750412149"/>
                    </a:ext>
                  </a:extLst>
                </a:gridCol>
              </a:tblGrid>
              <a:tr h="246583"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接口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功能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参数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返回值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8795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初始化接口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0" kern="120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负责初始化车的位置和朝向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x, y, heading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NA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972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指令执行接口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执行移动、转向指令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指令字符串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NA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529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获取位置和朝向接口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获取当前的坐标位置和朝向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NA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65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x, y, heading</a:t>
                      </a:r>
                      <a:endParaRPr lang="zh-CN" altLang="en-US" sz="2000" b="0" kern="1200" dirty="0">
                        <a:solidFill>
                          <a:schemeClr val="tx1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70295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1194CE9-6D06-4015-BCF1-291A3B620F07}"/>
              </a:ext>
            </a:extLst>
          </p:cNvPr>
          <p:cNvSpPr txBox="1"/>
          <p:nvPr/>
        </p:nvSpPr>
        <p:spPr>
          <a:xfrm>
            <a:off x="598311" y="5323151"/>
            <a:ext cx="10996896" cy="591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现需将这些接口及数据用</a:t>
            </a:r>
            <a:r>
              <a:rPr lang="en-US" altLang="zh-CN" sz="2200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Rust</a:t>
            </a:r>
            <a:r>
              <a:rPr lang="zh-CN" altLang="en-US" sz="2200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语言</a:t>
            </a:r>
            <a:r>
              <a:rPr lang="zh-CN" altLang="en-US" sz="220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代码实现</a:t>
            </a:r>
            <a:r>
              <a:rPr lang="zh-CN" altLang="en-US" sz="2200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，该如何实现？</a:t>
            </a:r>
            <a:r>
              <a:rPr lang="zh-CN" altLang="en-US" sz="2400" dirty="0"/>
              <a:t>这些</a:t>
            </a:r>
            <a:r>
              <a:rPr lang="zh-CN" altLang="en-US" sz="2400" dirty="0">
                <a:solidFill>
                  <a:srgbClr val="C00000"/>
                </a:solidFill>
              </a:rPr>
              <a:t>接口如何命名</a:t>
            </a:r>
            <a:r>
              <a:rPr lang="zh-CN" altLang="en-US" sz="2400" dirty="0"/>
              <a:t>？</a:t>
            </a:r>
            <a:endParaRPr lang="en-US" altLang="zh-CN" sz="2200" dirty="0">
              <a:solidFill>
                <a:srgbClr val="11111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B9D904C5-08C8-41E8-9B4E-6BE51D3F6E28}"/>
              </a:ext>
            </a:extLst>
          </p:cNvPr>
          <p:cNvSpPr txBox="1">
            <a:spLocks/>
          </p:cNvSpPr>
          <p:nvPr/>
        </p:nvSpPr>
        <p:spPr bwMode="auto">
          <a:xfrm>
            <a:off x="598311" y="4454702"/>
            <a:ext cx="3697628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28" tIns="40064" rIns="80128" bIns="40064" numCol="1" anchor="ctr" anchorCtr="0" compatLnSpc="1"/>
          <a:lstStyle>
            <a:lvl1pPr algn="l" defTabSz="91376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baseline="0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C7000B"/>
                </a:solidFill>
              </a:rPr>
              <a:t>讨论（</a:t>
            </a:r>
            <a:r>
              <a:rPr lang="en-US" altLang="zh-CN" dirty="0">
                <a:solidFill>
                  <a:srgbClr val="C7000B"/>
                </a:solidFill>
              </a:rPr>
              <a:t>10</a:t>
            </a:r>
            <a:r>
              <a:rPr lang="zh-CN" altLang="en-US" dirty="0">
                <a:solidFill>
                  <a:srgbClr val="C7000B"/>
                </a:solidFill>
              </a:rPr>
              <a:t>分钟）</a:t>
            </a:r>
          </a:p>
        </p:txBody>
      </p:sp>
      <p:sp>
        <p:nvSpPr>
          <p:cNvPr id="9" name="圆角矩形 13">
            <a:extLst>
              <a:ext uri="{FF2B5EF4-FFF2-40B4-BE49-F238E27FC236}">
                <a16:creationId xmlns:a16="http://schemas.microsoft.com/office/drawing/2014/main" id="{CED20950-61F4-46C9-B324-E18C69552C18}"/>
              </a:ext>
            </a:extLst>
          </p:cNvPr>
          <p:cNvSpPr/>
          <p:nvPr/>
        </p:nvSpPr>
        <p:spPr bwMode="auto">
          <a:xfrm>
            <a:off x="7999307" y="5419123"/>
            <a:ext cx="2763519" cy="513806"/>
          </a:xfrm>
          <a:prstGeom prst="roundRect">
            <a:avLst>
              <a:gd name="adj" fmla="val 7703"/>
            </a:avLst>
          </a:prstGeom>
          <a:noFill/>
          <a:ln w="28575" cap="flat" cmpd="sng" algn="ctr">
            <a:solidFill>
              <a:srgbClr val="C7000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</a:p>
          <a:p>
            <a:pPr>
              <a:lnSpc>
                <a:spcPts val="3600"/>
              </a:lnSpc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3.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19396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命名规范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CDFD80-4B75-48EA-B3F8-BD1EC7A88792}"/>
              </a:ext>
            </a:extLst>
          </p:cNvPr>
          <p:cNvSpPr txBox="1"/>
          <p:nvPr/>
        </p:nvSpPr>
        <p:spPr>
          <a:xfrm>
            <a:off x="553417" y="962347"/>
            <a:ext cx="9493826" cy="143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使用</a:t>
            </a:r>
            <a:r>
              <a:rPr lang="zh-CN" altLang="en-US" sz="2000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正确的英文单词</a:t>
            </a:r>
            <a:r>
              <a:rPr lang="zh-CN" altLang="en-US" sz="2000" dirty="0">
                <a:solidFill>
                  <a:srgbClr val="333333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并符合英文语法，不要使用拼音</a:t>
            </a:r>
            <a:endParaRPr lang="en-US" altLang="zh-CN" sz="2000" dirty="0">
              <a:solidFill>
                <a:srgbClr val="333333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仅使用</a:t>
            </a:r>
            <a:r>
              <a:rPr lang="zh-CN" altLang="en-US" sz="2000" b="0" i="0" dirty="0"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常见或领域内通用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的业务术语（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Domain Language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）的单词缩写</a:t>
            </a:r>
            <a:endParaRPr lang="en-US" altLang="zh-CN" sz="2000" b="0" i="0" dirty="0">
              <a:solidFill>
                <a:srgbClr val="333333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333333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命名风格保持统一，体现业务领域概念</a:t>
            </a:r>
            <a:endParaRPr lang="en-US" altLang="zh-CN" sz="2000" dirty="0">
              <a:solidFill>
                <a:srgbClr val="C7000B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graphicFrame>
        <p:nvGraphicFramePr>
          <p:cNvPr id="12" name="表格 3">
            <a:extLst>
              <a:ext uri="{FF2B5EF4-FFF2-40B4-BE49-F238E27FC236}">
                <a16:creationId xmlns:a16="http://schemas.microsoft.com/office/drawing/2014/main" id="{A75EEC9F-3D7C-48A1-8073-6A781189C7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06129"/>
              </p:ext>
            </p:extLst>
          </p:nvPr>
        </p:nvGraphicFramePr>
        <p:xfrm>
          <a:off x="664370" y="2673327"/>
          <a:ext cx="10113221" cy="32986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3243">
                  <a:extLst>
                    <a:ext uri="{9D8B030D-6E8A-4147-A177-3AD203B41FA5}">
                      <a16:colId xmlns:a16="http://schemas.microsoft.com/office/drawing/2014/main" val="4078060226"/>
                    </a:ext>
                  </a:extLst>
                </a:gridCol>
                <a:gridCol w="4232953">
                  <a:extLst>
                    <a:ext uri="{9D8B030D-6E8A-4147-A177-3AD203B41FA5}">
                      <a16:colId xmlns:a16="http://schemas.microsoft.com/office/drawing/2014/main" val="2482240411"/>
                    </a:ext>
                  </a:extLst>
                </a:gridCol>
                <a:gridCol w="2137025">
                  <a:extLst>
                    <a:ext uri="{9D8B030D-6E8A-4147-A177-3AD203B41FA5}">
                      <a16:colId xmlns:a16="http://schemas.microsoft.com/office/drawing/2014/main" val="2346583700"/>
                    </a:ext>
                  </a:extLst>
                </a:gridCol>
              </a:tblGrid>
              <a:tr h="235963"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类别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命名风格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举例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5852595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类型，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Trait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、枚举、</a:t>
                      </a:r>
                      <a:r>
                        <a:rPr lang="zh-CN" altLang="en-US" sz="1400" b="0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</a:rPr>
                        <a:t>枚举成员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、结构体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联合体、类型别名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大驼峰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UpperCamelCase 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317958"/>
                  </a:ext>
                </a:extLst>
              </a:tr>
              <a:tr h="185500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包、</a:t>
                      </a:r>
                      <a:r>
                        <a:rPr lang="zh-CN" altLang="en-US" sz="1400" b="0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</a:rPr>
                        <a:t>模块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、函数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方法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蛇形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snake_case 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845073"/>
                  </a:ext>
                </a:extLst>
              </a:tr>
              <a:tr h="161306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本地变量、函数参数，</a:t>
                      </a:r>
                      <a:r>
                        <a:rPr lang="zh-CN" altLang="en-US" sz="1400" b="0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</a:rPr>
                        <a:t>宏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、宏参数、结构体</a:t>
                      </a: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联合体成员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蛇形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snake_case 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192890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常量、</a:t>
                      </a:r>
                      <a:r>
                        <a:rPr lang="zh-CN" altLang="en-US" sz="1400" b="0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cs"/>
                        </a:rPr>
                        <a:t>静态变量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全大写，下划线分割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SNAKE_CASE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771885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泛型的类型参数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简明的大驼峰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08561"/>
                  </a:ext>
                </a:extLst>
              </a:tr>
              <a:tr h="360956"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生存期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zh-CN" altLang="en-US" sz="14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简短的小写，通常单个字母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3765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'a , 'b , '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src</a:t>
                      </a:r>
                      <a:endParaRPr lang="zh-CN" altLang="en-US" sz="14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864371"/>
                  </a:ext>
                </a:extLst>
              </a:tr>
            </a:tbl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222F0FA-7D2E-44C2-A36F-E7E1183490BE}"/>
              </a:ext>
            </a:extLst>
          </p:cNvPr>
          <p:cNvSpPr txBox="1"/>
          <p:nvPr/>
        </p:nvSpPr>
        <p:spPr>
          <a:xfrm>
            <a:off x="553416" y="2334773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推荐的命名风格：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8571175-97DF-4A54-8129-D92636743399}"/>
              </a:ext>
            </a:extLst>
          </p:cNvPr>
          <p:cNvSpPr txBox="1"/>
          <p:nvPr/>
        </p:nvSpPr>
        <p:spPr>
          <a:xfrm>
            <a:off x="556423" y="6022162"/>
            <a:ext cx="113450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参考链接：</a:t>
            </a:r>
            <a:r>
              <a:rPr lang="en-US" altLang="zh-CN" sz="1600" dirty="0">
                <a:latin typeface="方正兰亭黑简体" panose="02000000000000000000" pitchFamily="2" charset="-122"/>
                <a:ea typeface="方正兰亭黑简体" panose="02000000000000000000" pitchFamily="2" charset="-122"/>
                <a:hlinkClick r:id="rId3"/>
              </a:rPr>
              <a:t>https://github.com/rust-lang/rfcs/blob/master/text/0430-finalizing-naming-conventions.md</a:t>
            </a:r>
            <a:endParaRPr lang="zh-CN" altLang="en-US" sz="20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0264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7" y="198920"/>
            <a:ext cx="10728325" cy="497095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/>
              <a:t>命名实践：接口定义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C6F406-A7E1-4073-B642-6E563196412E}"/>
              </a:ext>
            </a:extLst>
          </p:cNvPr>
          <p:cNvSpPr/>
          <p:nvPr/>
        </p:nvSpPr>
        <p:spPr>
          <a:xfrm>
            <a:off x="6183919" y="1181004"/>
            <a:ext cx="5800725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执行器类型定义：默认不可见，对</a:t>
            </a:r>
            <a:r>
              <a:rPr lang="en-US" altLang="zh-CN" sz="1400" i="1" dirty="0">
                <a:solidFill>
                  <a:srgbClr val="93A1A1"/>
                </a:solidFill>
              </a:rPr>
              <a:t>crate</a:t>
            </a:r>
            <a:r>
              <a:rPr lang="zh-CN" altLang="en-US" sz="1400" i="1" dirty="0">
                <a:solidFill>
                  <a:srgbClr val="93A1A1"/>
                </a:solidFill>
              </a:rPr>
              <a:t>外部使用的类型须加</a:t>
            </a:r>
            <a:r>
              <a:rPr lang="en-US" altLang="zh-CN" sz="1400" i="1" dirty="0">
                <a:solidFill>
                  <a:srgbClr val="93A1A1"/>
                </a:solidFill>
              </a:rPr>
              <a:t>pub</a:t>
            </a:r>
            <a:r>
              <a:rPr lang="zh-CN" altLang="en-US" sz="1400" i="1" dirty="0">
                <a:solidFill>
                  <a:srgbClr val="93A1A1"/>
                </a:solidFill>
              </a:rPr>
              <a:t>修饰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  <a:r>
              <a:rPr lang="en-US" altLang="zh-CN" sz="1400" i="1" dirty="0">
                <a:solidFill>
                  <a:srgbClr val="93A1A1"/>
                </a:solidFill>
              </a:rPr>
              <a:t> // </a:t>
            </a:r>
            <a:r>
              <a:rPr lang="zh-CN" altLang="en-US" sz="1400" i="1" dirty="0">
                <a:solidFill>
                  <a:srgbClr val="93A1A1"/>
                </a:solidFill>
              </a:rPr>
              <a:t>执行器状态数据，执行指令时改变状态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执行器类型实现：提供接口定义，隐藏内部实现细节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</a:t>
            </a:r>
            <a:r>
              <a:rPr lang="zh-CN" altLang="en-US" sz="1400" i="1" dirty="0">
                <a:solidFill>
                  <a:srgbClr val="93A1A1"/>
                </a:solidFill>
              </a:rPr>
              <a:t>提供初始化指定位置能力，第一个参数不是</a:t>
            </a:r>
            <a:r>
              <a:rPr lang="en-US" altLang="zh-CN" sz="1400" i="1" dirty="0">
                <a:solidFill>
                  <a:srgbClr val="93A1A1"/>
                </a:solidFill>
              </a:rPr>
              <a:t>self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268BD2"/>
                </a:solidFill>
              </a:rPr>
              <a:t>with_pose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CB4B16"/>
                </a:solidFill>
              </a:rPr>
              <a:t>Executor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268BD2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</a:t>
            </a:r>
            <a:r>
              <a:rPr lang="zh-CN" altLang="en-US" sz="1400" i="1" dirty="0">
                <a:solidFill>
                  <a:srgbClr val="93A1A1"/>
                </a:solidFill>
              </a:rPr>
              <a:t>提供执行能力，执行指令需要改变状态，参数必须指定</a:t>
            </a:r>
            <a:r>
              <a:rPr lang="en-US" altLang="zh-CN" sz="1400" i="1" dirty="0">
                <a:solidFill>
                  <a:srgbClr val="93A1A1"/>
                </a:solidFill>
              </a:rPr>
              <a:t>&amp;</a:t>
            </a:r>
            <a:r>
              <a:rPr lang="en-US" altLang="zh-CN" sz="1400" i="1" dirty="0" err="1">
                <a:solidFill>
                  <a:srgbClr val="93A1A1"/>
                </a:solidFill>
              </a:rPr>
              <a:t>mut</a:t>
            </a:r>
            <a:r>
              <a:rPr lang="en-US" altLang="zh-CN" sz="1400" i="1" dirty="0">
                <a:solidFill>
                  <a:srgbClr val="93A1A1"/>
                </a:solidFill>
              </a:rPr>
              <a:t> self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execute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</a:t>
            </a:r>
            <a:r>
              <a:rPr lang="en-US" altLang="zh-CN" sz="1400" b="1" dirty="0" err="1">
                <a:solidFill>
                  <a:srgbClr val="859900"/>
                </a:solidFill>
              </a:rPr>
              <a:t>mut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268BD2"/>
                </a:solidFill>
              </a:rPr>
              <a:t>cmds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&amp;str</a:t>
            </a:r>
            <a:r>
              <a:rPr lang="en-US" altLang="zh-CN" sz="1400" dirty="0">
                <a:solidFill>
                  <a:srgbClr val="657B83"/>
                </a:solidFill>
              </a:rPr>
              <a:t>) {} 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    // </a:t>
            </a:r>
            <a:r>
              <a:rPr lang="zh-CN" altLang="en-US" sz="1400" i="1" dirty="0">
                <a:solidFill>
                  <a:srgbClr val="93A1A1"/>
                </a:solidFill>
              </a:rPr>
              <a:t>默认不可见，对</a:t>
            </a:r>
            <a:r>
              <a:rPr lang="en-US" altLang="zh-CN" sz="1400" i="1" dirty="0">
                <a:solidFill>
                  <a:srgbClr val="93A1A1"/>
                </a:solidFill>
              </a:rPr>
              <a:t>crate</a:t>
            </a:r>
            <a:r>
              <a:rPr lang="zh-CN" altLang="en-US" sz="1400" i="1" dirty="0">
                <a:solidFill>
                  <a:srgbClr val="93A1A1"/>
                </a:solidFill>
              </a:rPr>
              <a:t>外部调用的方法，必须加</a:t>
            </a:r>
            <a:r>
              <a:rPr lang="en-US" altLang="zh-CN" sz="1400" i="1" dirty="0">
                <a:solidFill>
                  <a:srgbClr val="93A1A1"/>
                </a:solidFill>
              </a:rPr>
              <a:t>pub</a:t>
            </a:r>
            <a:r>
              <a:rPr lang="zh-CN" altLang="en-US" sz="1400" i="1" dirty="0">
                <a:solidFill>
                  <a:srgbClr val="93A1A1"/>
                </a:solidFill>
              </a:rPr>
              <a:t>修饰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query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859900"/>
                </a:solidFill>
              </a:rPr>
              <a:t>&amp;self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 err="1">
                <a:solidFill>
                  <a:srgbClr val="859900"/>
                </a:solidFill>
              </a:rPr>
              <a:t>self.</a:t>
            </a:r>
            <a:r>
              <a:rPr lang="en-US" altLang="zh-CN" sz="1400" dirty="0" err="1">
                <a:solidFill>
                  <a:srgbClr val="268BD2"/>
                </a:solidFill>
              </a:rPr>
              <a:t>pose</a:t>
            </a:r>
            <a:endParaRPr lang="en-US" altLang="zh-CN" sz="1400" dirty="0">
              <a:solidFill>
                <a:srgbClr val="657B83"/>
              </a:solidFill>
            </a:endParaRP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endParaRPr lang="en-US" altLang="zh-CN" sz="1400" dirty="0">
              <a:solidFill>
                <a:srgbClr val="657B83"/>
              </a:solidFill>
            </a:endParaRPr>
          </a:p>
          <a:p>
            <a:endParaRPr lang="en-US" altLang="zh-CN" sz="1400" dirty="0">
              <a:solidFill>
                <a:srgbClr val="657B83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5CC7A24-BD65-450D-B66C-804785027FD9}"/>
              </a:ext>
            </a:extLst>
          </p:cNvPr>
          <p:cNvSpPr/>
          <p:nvPr/>
        </p:nvSpPr>
        <p:spPr>
          <a:xfrm>
            <a:off x="354807" y="1176515"/>
            <a:ext cx="5657851" cy="5262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657B83"/>
                </a:solidFill>
              </a:rPr>
              <a:t>#[</a:t>
            </a:r>
            <a:r>
              <a:rPr lang="en-US" altLang="zh-CN" sz="1400" dirty="0">
                <a:solidFill>
                  <a:srgbClr val="268BD2"/>
                </a:solidFill>
              </a:rPr>
              <a:t>derive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CB4B16"/>
                </a:solidFill>
              </a:rPr>
              <a:t>Debug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Copy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CB4B16"/>
                </a:solidFill>
              </a:rPr>
              <a:t>Clone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 err="1">
                <a:solidFill>
                  <a:srgbClr val="CB4B16"/>
                </a:solidFill>
              </a:rPr>
              <a:t>PartialEq</a:t>
            </a:r>
            <a:r>
              <a:rPr lang="en-US" altLang="zh-CN" sz="1400" dirty="0">
                <a:solidFill>
                  <a:srgbClr val="657B83"/>
                </a:solidFill>
              </a:rPr>
              <a:t>)]</a:t>
            </a:r>
          </a:p>
          <a:p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b="1" dirty="0">
                <a:solidFill>
                  <a:srgbClr val="859900"/>
                </a:solidFill>
              </a:rPr>
              <a:t>struct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  <a:r>
              <a:rPr lang="en-US" altLang="zh-CN" sz="1400" i="1" dirty="0">
                <a:solidFill>
                  <a:srgbClr val="93A1A1"/>
                </a:solidFill>
              </a:rPr>
              <a:t> // </a:t>
            </a:r>
            <a:r>
              <a:rPr lang="zh-CN" altLang="en-US" sz="1400" i="1" dirty="0">
                <a:solidFill>
                  <a:srgbClr val="93A1A1"/>
                </a:solidFill>
              </a:rPr>
              <a:t>在计算和计算机视觉领域，</a:t>
            </a:r>
            <a:r>
              <a:rPr lang="en-US" altLang="zh-CN" sz="1400" i="1" dirty="0">
                <a:solidFill>
                  <a:srgbClr val="93A1A1"/>
                </a:solidFill>
              </a:rPr>
              <a:t>pose</a:t>
            </a:r>
            <a:r>
              <a:rPr lang="zh-CN" altLang="en-US" sz="1400" i="1" dirty="0">
                <a:solidFill>
                  <a:srgbClr val="93A1A1"/>
                </a:solidFill>
              </a:rPr>
              <a:t>表示位置和方向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x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y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heading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char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  <a:r>
              <a:rPr lang="en-US" altLang="zh-CN" sz="1400" i="1" dirty="0">
                <a:solidFill>
                  <a:srgbClr val="93A1A1"/>
                </a:solidFill>
              </a:rPr>
              <a:t> // </a:t>
            </a:r>
            <a:r>
              <a:rPr lang="zh-CN" altLang="en-US" sz="1400" i="1" dirty="0">
                <a:solidFill>
                  <a:srgbClr val="93A1A1"/>
                </a:solidFill>
              </a:rPr>
              <a:t>定义结构体，便于数据的组织和传递</a:t>
            </a:r>
            <a:endParaRPr lang="zh-CN" altLang="en-US" sz="1400" dirty="0">
              <a:solidFill>
                <a:srgbClr val="657B83"/>
              </a:solidFill>
            </a:endParaRPr>
          </a:p>
          <a:p>
            <a:br>
              <a:rPr lang="zh-CN" altLang="en-US" sz="1400" dirty="0">
                <a:solidFill>
                  <a:srgbClr val="657B83"/>
                </a:solidFill>
              </a:rPr>
            </a:br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i="1" dirty="0">
                <a:solidFill>
                  <a:srgbClr val="93A1A1"/>
                </a:solidFill>
              </a:rPr>
              <a:t>    // </a:t>
            </a:r>
            <a:r>
              <a:rPr lang="zh-CN" altLang="en-US" sz="1400" i="1" dirty="0">
                <a:solidFill>
                  <a:srgbClr val="93A1A1"/>
                </a:solidFill>
              </a:rPr>
              <a:t>提供初始化到指定位置</a:t>
            </a:r>
            <a:r>
              <a:rPr lang="en-US" altLang="zh-CN" sz="1400" i="1" dirty="0">
                <a:solidFill>
                  <a:srgbClr val="93A1A1"/>
                </a:solidFill>
              </a:rPr>
              <a:t>(x, y, heading)</a:t>
            </a:r>
            <a:r>
              <a:rPr lang="zh-CN" altLang="en-US" sz="1400" i="1" dirty="0">
                <a:solidFill>
                  <a:srgbClr val="93A1A1"/>
                </a:solidFill>
              </a:rPr>
              <a:t>的能力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zh-CN" altLang="en-US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>
                <a:solidFill>
                  <a:srgbClr val="859900"/>
                </a:solidFill>
              </a:rPr>
              <a:t>pub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new</a:t>
            </a:r>
            <a:r>
              <a:rPr lang="en-US" altLang="zh-CN" sz="1400" dirty="0">
                <a:solidFill>
                  <a:srgbClr val="657B83"/>
                </a:solidFill>
              </a:rPr>
              <a:t>(</a:t>
            </a:r>
            <a:r>
              <a:rPr lang="en-US" altLang="zh-CN" sz="1400" dirty="0">
                <a:solidFill>
                  <a:srgbClr val="268BD2"/>
                </a:solidFill>
              </a:rPr>
              <a:t>x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y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i32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heading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char</a:t>
            </a:r>
            <a:r>
              <a:rPr lang="en-US" altLang="zh-CN" sz="1400" dirty="0">
                <a:solidFill>
                  <a:srgbClr val="657B83"/>
                </a:solidFill>
              </a:rPr>
              <a:t>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  <a:r>
              <a:rPr lang="en-US" altLang="zh-CN" sz="1400" dirty="0">
                <a:solidFill>
                  <a:srgbClr val="268BD2"/>
                </a:solidFill>
              </a:rPr>
              <a:t>x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y</a:t>
            </a:r>
            <a:r>
              <a:rPr lang="en-US" altLang="zh-CN" sz="1400" dirty="0">
                <a:solidFill>
                  <a:srgbClr val="657B83"/>
                </a:solidFill>
              </a:rPr>
              <a:t>, </a:t>
            </a:r>
            <a:r>
              <a:rPr lang="en-US" altLang="zh-CN" sz="1400" dirty="0">
                <a:solidFill>
                  <a:srgbClr val="268BD2"/>
                </a:solidFill>
              </a:rPr>
              <a:t>heading</a:t>
            </a:r>
            <a:r>
              <a:rPr lang="en-US" altLang="zh-CN" sz="1400" dirty="0">
                <a:solidFill>
                  <a:srgbClr val="657B83"/>
                </a:solidFill>
              </a:rPr>
              <a:t>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  <a:p>
            <a:br>
              <a:rPr lang="en-US" altLang="zh-CN" sz="1400" dirty="0">
                <a:solidFill>
                  <a:srgbClr val="657B83"/>
                </a:solidFill>
              </a:rPr>
            </a:br>
            <a:r>
              <a:rPr lang="en-US" altLang="zh-CN" sz="1400" i="1" dirty="0">
                <a:solidFill>
                  <a:srgbClr val="93A1A1"/>
                </a:solidFill>
              </a:rPr>
              <a:t>// </a:t>
            </a:r>
            <a:r>
              <a:rPr lang="zh-CN" altLang="en-US" sz="1400" i="1" dirty="0">
                <a:solidFill>
                  <a:srgbClr val="93A1A1"/>
                </a:solidFill>
              </a:rPr>
              <a:t>提供未初始化时，返回默认位置</a:t>
            </a:r>
            <a:r>
              <a:rPr lang="en-US" altLang="zh-CN" sz="1400" i="1" dirty="0">
                <a:solidFill>
                  <a:srgbClr val="93A1A1"/>
                </a:solidFill>
              </a:rPr>
              <a:t>(0, 0, ‘N’)</a:t>
            </a:r>
            <a:r>
              <a:rPr lang="zh-CN" altLang="en-US" sz="1400" i="1" dirty="0">
                <a:solidFill>
                  <a:srgbClr val="93A1A1"/>
                </a:solidFill>
              </a:rPr>
              <a:t>的能力</a:t>
            </a:r>
            <a:endParaRPr lang="zh-CN" altLang="en-US" sz="1400" dirty="0">
              <a:solidFill>
                <a:srgbClr val="657B83"/>
              </a:solidFill>
            </a:endParaRPr>
          </a:p>
          <a:p>
            <a:r>
              <a:rPr lang="en-US" altLang="zh-CN" sz="1400" dirty="0" err="1">
                <a:solidFill>
                  <a:srgbClr val="859900"/>
                </a:solidFill>
              </a:rPr>
              <a:t>impl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for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</a:t>
            </a:r>
            <a:r>
              <a:rPr lang="en-US" altLang="zh-CN" sz="1400" dirty="0" err="1">
                <a:solidFill>
                  <a:srgbClr val="859900"/>
                </a:solidFill>
              </a:rPr>
              <a:t>fn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68BD2"/>
                </a:solidFill>
              </a:rPr>
              <a:t>default</a:t>
            </a:r>
            <a:r>
              <a:rPr lang="en-US" altLang="zh-CN" sz="1400" dirty="0">
                <a:solidFill>
                  <a:srgbClr val="657B83"/>
                </a:solidFill>
              </a:rPr>
              <a:t>() </a:t>
            </a:r>
            <a:r>
              <a:rPr lang="en-US" altLang="zh-CN" sz="1400" dirty="0">
                <a:solidFill>
                  <a:srgbClr val="859900"/>
                </a:solidFill>
              </a:rPr>
              <a:t>-&gt;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859900"/>
                </a:solidFill>
              </a:rPr>
              <a:t>Self</a:t>
            </a:r>
            <a:r>
              <a:rPr lang="en-US" altLang="zh-CN" sz="1400" dirty="0">
                <a:solidFill>
                  <a:srgbClr val="657B83"/>
                </a:solidFill>
              </a:rPr>
              <a:t> { 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</a:t>
            </a:r>
            <a:r>
              <a:rPr lang="en-US" altLang="zh-CN" sz="1400" dirty="0">
                <a:solidFill>
                  <a:srgbClr val="CB4B16"/>
                </a:solidFill>
              </a:rPr>
              <a:t>Pose</a:t>
            </a:r>
            <a:r>
              <a:rPr lang="en-US" altLang="zh-CN" sz="1400" dirty="0">
                <a:solidFill>
                  <a:srgbClr val="657B83"/>
                </a:solidFill>
              </a:rPr>
              <a:t> {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x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y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D33682"/>
                </a:solidFill>
              </a:rPr>
              <a:t>0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    </a:t>
            </a:r>
            <a:r>
              <a:rPr lang="en-US" altLang="zh-CN" sz="1400" dirty="0">
                <a:solidFill>
                  <a:srgbClr val="268BD2"/>
                </a:solidFill>
              </a:rPr>
              <a:t>heading</a:t>
            </a:r>
            <a:r>
              <a:rPr lang="en-US" altLang="zh-CN" sz="1400" dirty="0">
                <a:solidFill>
                  <a:srgbClr val="859900"/>
                </a:solidFill>
              </a:rPr>
              <a:t>:</a:t>
            </a:r>
            <a:r>
              <a:rPr lang="en-US" altLang="zh-CN" sz="1400" dirty="0">
                <a:solidFill>
                  <a:srgbClr val="657B83"/>
                </a:solidFill>
              </a:rPr>
              <a:t> </a:t>
            </a:r>
            <a:r>
              <a:rPr lang="en-US" altLang="zh-CN" sz="1400" dirty="0">
                <a:solidFill>
                  <a:srgbClr val="2AA198"/>
                </a:solidFill>
              </a:rPr>
              <a:t>'N'</a:t>
            </a:r>
            <a:r>
              <a:rPr lang="en-US" altLang="zh-CN" sz="1400" dirty="0">
                <a:solidFill>
                  <a:srgbClr val="657B83"/>
                </a:solidFill>
              </a:rPr>
              <a:t>,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4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09E5B25-156B-41F8-B49E-342E46281C43}"/>
              </a:ext>
            </a:extLst>
          </p:cNvPr>
          <p:cNvSpPr txBox="1"/>
          <p:nvPr/>
        </p:nvSpPr>
        <p:spPr>
          <a:xfrm>
            <a:off x="261936" y="715620"/>
            <a:ext cx="9311041" cy="465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根据需求，在文件</a:t>
            </a:r>
            <a:r>
              <a:rPr lang="en-US" altLang="zh-CN" dirty="0"/>
              <a:t>src/executor.rs</a:t>
            </a:r>
            <a:r>
              <a:rPr lang="zh-CN" altLang="en-US" dirty="0"/>
              <a:t>中定义出如下数据和接口（未直接定义在文件</a:t>
            </a:r>
            <a:r>
              <a:rPr lang="en-US" altLang="zh-CN" dirty="0"/>
              <a:t>lib.rs</a:t>
            </a:r>
            <a:r>
              <a:rPr lang="zh-CN" altLang="en-US" dirty="0"/>
              <a:t>中） ：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0FF8C21-5214-423D-B319-939392D80E0E}"/>
              </a:ext>
            </a:extLst>
          </p:cNvPr>
          <p:cNvSpPr txBox="1"/>
          <p:nvPr/>
        </p:nvSpPr>
        <p:spPr>
          <a:xfrm>
            <a:off x="6122462" y="5557328"/>
            <a:ext cx="5504656" cy="882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好的命名规范和合理应用</a:t>
            </a:r>
            <a:r>
              <a:rPr lang="en-US" altLang="zh-CN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Rust</a:t>
            </a:r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特性，提供简洁、清晰的接口约定，同时确保了代码的安全性和可维护性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7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2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10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2" dur="10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1000" fill="hold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10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7" dur="10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1000" fill="hold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1000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2" dur="1000" fill="hold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1000" fill="hold"/>
                                        <p:tgtEl>
                                          <p:spTgt spid="7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</a:p>
          <a:p>
            <a:pPr>
              <a:lnSpc>
                <a:spcPts val="3600"/>
              </a:lnSpc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3.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40869079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43596" y="2473605"/>
            <a:ext cx="10950093" cy="2253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开发者测试</a:t>
            </a:r>
            <a:r>
              <a:rPr lang="zh-CN" altLang="en-US" sz="240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是确保需求完整性和代码正确性的</a:t>
            </a:r>
            <a:r>
              <a:rPr lang="zh-CN" altLang="en-US" sz="240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有效手段</a:t>
            </a:r>
            <a:r>
              <a:rPr lang="zh-CN" altLang="en-US" sz="240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。</a:t>
            </a:r>
            <a:endParaRPr lang="en-US" altLang="zh-CN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为什么做开发者测试？ </a:t>
            </a:r>
            <a:endParaRPr lang="en-US" altLang="zh-CN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如何做好开发者测试？</a:t>
            </a:r>
            <a:endParaRPr lang="en-US" altLang="zh-CN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关键在于快速有效地构建测试防护网。那么，如何</a:t>
            </a:r>
            <a:r>
              <a:rPr lang="zh-CN" altLang="en-US" sz="2400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快速有效</a:t>
            </a:r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地构建测试防护网呢？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43596" y="1138260"/>
            <a:ext cx="10950093" cy="11454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需求</a:t>
            </a:r>
            <a:r>
              <a:rPr lang="zh-CN" altLang="en-US" sz="2400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已</a:t>
            </a:r>
            <a:r>
              <a:rPr lang="zh-CN" altLang="en-US" sz="240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澄清，接口已经定义，接下来的开发过程中，我们</a:t>
            </a:r>
            <a:r>
              <a:rPr lang="zh-CN" altLang="en-US" sz="2400" i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如何</a:t>
            </a:r>
            <a:r>
              <a:rPr lang="zh-CN" altLang="en-US" sz="240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确保需求的完整性和代码</a:t>
            </a:r>
            <a:r>
              <a:rPr lang="zh-CN" altLang="en-US" sz="2400" i="0"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的正确性</a:t>
            </a:r>
            <a:r>
              <a:rPr lang="zh-CN" altLang="en-US" sz="2400" i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？</a:t>
            </a:r>
            <a:endParaRPr lang="zh-CN" altLang="en-US" sz="24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01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/>
          <p:nvPr/>
        </p:nvSpPr>
        <p:spPr bwMode="auto">
          <a:xfrm>
            <a:off x="456360" y="292385"/>
            <a:ext cx="11292727" cy="8683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28" tIns="40064" rIns="80128" bIns="40064" numCol="1" anchor="ctr" anchorCtr="0" compatLnSpc="1"/>
          <a:lstStyle>
            <a:lvl1pPr algn="l" defTabSz="913765" rtl="0" eaLnBrk="1" fontAlgn="ctr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3600" b="0" kern="1200" baseline="0" dirty="0">
                <a:solidFill>
                  <a:srgbClr val="C00000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j-cs"/>
              </a:defRPr>
            </a:lvl1pPr>
          </a:lstStyle>
          <a:p>
            <a:r>
              <a:rPr lang="zh-CN" altLang="en-US" dirty="0">
                <a:solidFill>
                  <a:srgbClr val="000000"/>
                </a:solidFill>
              </a:rPr>
              <a:t>什么是好的测试防护网</a:t>
            </a:r>
          </a:p>
        </p:txBody>
      </p:sp>
      <p:sp>
        <p:nvSpPr>
          <p:cNvPr id="6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方正兰亭黑简体" panose="02000000000000000000" pitchFamily="2" charset="-122"/>
              </a:rPr>
              <a:t>测试框架与原则</a:t>
            </a:r>
            <a:endParaRPr lang="en-US" altLang="zh-CN" dirty="0">
              <a:latin typeface="方正兰亭黑简体" panose="02000000000000000000" pitchFamily="2" charset="-122"/>
            </a:endParaRPr>
          </a:p>
          <a:p>
            <a:r>
              <a:rPr lang="en-US" altLang="zh-CN" sz="2000" dirty="0">
                <a:latin typeface="方正兰亭黑简体" panose="02000000000000000000" pitchFamily="2" charset="-122"/>
              </a:rPr>
              <a:t>FIRST</a:t>
            </a:r>
            <a:r>
              <a:rPr lang="zh-CN" altLang="en-US" sz="2000" dirty="0">
                <a:latin typeface="方正兰亭黑简体" panose="02000000000000000000" pitchFamily="2" charset="-122"/>
              </a:rPr>
              <a:t>原则：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掌握测试用例编写的基本原则，确保测试用例的独立性、可重复性和</a:t>
            </a:r>
            <a:r>
              <a:rPr lang="zh-CN" altLang="en-US" sz="1800" b="0" i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及时性</a:t>
            </a:r>
            <a:endParaRPr lang="en-US" altLang="zh-CN" sz="1800" dirty="0">
              <a:latin typeface="方正兰亭黑简体" panose="02000000000000000000" pitchFamily="2" charset="-122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</a:rPr>
              <a:t>正交</a:t>
            </a:r>
            <a:r>
              <a:rPr lang="zh-CN" altLang="en-US" sz="2000">
                <a:latin typeface="方正兰亭黑简体" panose="02000000000000000000" pitchFamily="2" charset="-122"/>
              </a:rPr>
              <a:t>分解法：</a:t>
            </a:r>
            <a:r>
              <a:rPr lang="zh-CN" altLang="en-US" sz="18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设计高效测试用例的方法，覆盖更多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的测试场景</a:t>
            </a:r>
            <a:endParaRPr lang="en-US" altLang="zh-CN" sz="18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</a:endParaRPr>
          </a:p>
          <a:p>
            <a:r>
              <a:rPr lang="zh-CN" altLang="en-US" sz="2000">
                <a:latin typeface="方正兰亭黑简体" panose="02000000000000000000" pitchFamily="2" charset="-122"/>
              </a:rPr>
              <a:t>测试命名原则：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</a:rPr>
              <a:t>理解并应用“测试即文档”的概念，使测试用例名称清晰明了，便于理解和维护</a:t>
            </a:r>
            <a:endParaRPr lang="en-US" altLang="zh-CN" sz="2000" dirty="0">
              <a:latin typeface="方正兰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测试防护网：</a:t>
            </a:r>
            <a:r>
              <a:rPr lang="en-US" altLang="zh-CN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FIRST</a:t>
            </a:r>
            <a:r>
              <a:rPr lang="zh-CN" altLang="en-US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原则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F</a:t>
            </a:r>
            <a:r>
              <a:rPr lang="en-US" altLang="zh-CN" sz="2000" dirty="0">
                <a:latin typeface="方正兰亭黑简体" panose="02000000000000000000" pitchFamily="2" charset="-122"/>
              </a:rPr>
              <a:t>ast</a:t>
            </a:r>
            <a:r>
              <a:rPr lang="zh-CN" altLang="en-US" sz="2000" dirty="0">
                <a:latin typeface="方正兰亭黑简体" panose="02000000000000000000" pitchFamily="2" charset="-122"/>
              </a:rPr>
              <a:t>（快速）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测试的运行速度将直接决定自动化的反馈速度，速度越快，越能提早发现问题。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反例：一个测试用例需要跑</a:t>
            </a:r>
            <a:r>
              <a:rPr lang="en-US" altLang="zh-CN" sz="2000" dirty="0">
                <a:latin typeface="方正兰亭黑简体" panose="02000000000000000000" pitchFamily="2" charset="-122"/>
              </a:rPr>
              <a:t>10</a:t>
            </a:r>
            <a:r>
              <a:rPr lang="zh-CN" altLang="en-US" sz="2000" dirty="0">
                <a:latin typeface="方正兰亭黑简体" panose="02000000000000000000" pitchFamily="2" charset="-122"/>
              </a:rPr>
              <a:t>分钟。</a:t>
            </a:r>
            <a:endParaRPr lang="en-US" altLang="zh-CN" sz="2000" dirty="0">
              <a:latin typeface="方正兰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测试防护网：</a:t>
            </a:r>
            <a:r>
              <a:rPr lang="en-US" altLang="zh-CN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FIRST</a:t>
            </a:r>
            <a:r>
              <a:rPr lang="zh-CN" altLang="en-US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原则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I</a:t>
            </a:r>
            <a:r>
              <a:rPr lang="en-US" altLang="zh-CN" sz="2000" dirty="0">
                <a:latin typeface="方正兰亭黑简体" panose="02000000000000000000" pitchFamily="2" charset="-122"/>
              </a:rPr>
              <a:t>solated</a:t>
            </a:r>
            <a:r>
              <a:rPr lang="zh-CN" altLang="en-US" sz="2000" dirty="0">
                <a:latin typeface="方正兰亭黑简体" panose="02000000000000000000" pitchFamily="2" charset="-122"/>
              </a:rPr>
              <a:t>（独立）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每一个测试用例需要保证完全独立运行，互不依赖，这样才能保证测试运行不被干扰，从而能够进行并行运行甚至分布式运行，使得测试运行更加</a:t>
            </a:r>
            <a:r>
              <a:rPr lang="en-US" altLang="zh-CN" sz="2000" dirty="0">
                <a:latin typeface="方正兰亭黑简体" panose="02000000000000000000" pitchFamily="2" charset="-122"/>
              </a:rPr>
              <a:t>Fast</a:t>
            </a:r>
            <a:r>
              <a:rPr lang="zh-CN" altLang="en-US" sz="2000" dirty="0">
                <a:latin typeface="方正兰亭黑简体" panose="02000000000000000000" pitchFamily="2" charset="-122"/>
              </a:rPr>
              <a:t>。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r>
              <a:rPr lang="zh-CN" altLang="en-US" sz="1800" dirty="0">
                <a:latin typeface="方正兰亭黑简体" panose="02000000000000000000" pitchFamily="2" charset="-122"/>
              </a:rPr>
              <a:t>可独立运行任何一个测试用例</a:t>
            </a:r>
            <a:endParaRPr lang="en-US" altLang="zh-CN" sz="1800" dirty="0">
              <a:latin typeface="方正兰亭黑简体" panose="02000000000000000000" pitchFamily="2" charset="-122"/>
            </a:endParaRPr>
          </a:p>
          <a:p>
            <a:r>
              <a:rPr lang="zh-CN" altLang="en-US" sz="1800" dirty="0">
                <a:latin typeface="方正兰亭黑简体" panose="02000000000000000000" pitchFamily="2" charset="-122"/>
              </a:rPr>
              <a:t>可任何顺序运行测试</a:t>
            </a:r>
            <a:endParaRPr lang="en-US" altLang="zh-CN" sz="18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反例：一个测试用例调用了另外一个测试用例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r>
              <a:rPr lang="zh-CN" altLang="en-US" sz="1800" dirty="0">
                <a:latin typeface="方正兰亭黑简体" panose="02000000000000000000" pitchFamily="2" charset="-122"/>
              </a:rPr>
              <a:t>当测试相互依赖时，一个用例未通过会导致一连串的测试失败，使问题的诊断变得困难</a:t>
            </a:r>
            <a:endParaRPr lang="en-US" altLang="zh-CN" sz="1800" dirty="0">
              <a:latin typeface="方正兰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测试防护网：</a:t>
            </a:r>
            <a:r>
              <a:rPr lang="en-US" altLang="zh-CN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FIRST</a:t>
            </a:r>
            <a:r>
              <a:rPr lang="zh-CN" altLang="en-US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原则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R</a:t>
            </a:r>
            <a:r>
              <a:rPr lang="en-US" altLang="zh-CN" sz="2000" dirty="0">
                <a:latin typeface="方正兰亭黑简体" panose="02000000000000000000" pitchFamily="2" charset="-122"/>
              </a:rPr>
              <a:t>epeatable</a:t>
            </a:r>
            <a:r>
              <a:rPr lang="zh-CN" altLang="en-US" sz="2000" dirty="0">
                <a:latin typeface="方正兰亭黑简体" panose="02000000000000000000" pitchFamily="2" charset="-122"/>
              </a:rPr>
              <a:t>（可重复）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每一个测试用例在运行条件不变的情况下，不论重复运行多少次，运行结果必须完全一致（幂等）。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反例：在没有任何代码变更的情况下，一个测试用例跑了</a:t>
            </a:r>
            <a:r>
              <a:rPr lang="en-US" altLang="zh-CN" sz="2000" dirty="0">
                <a:latin typeface="方正兰亭黑简体" panose="02000000000000000000" pitchFamily="2" charset="-122"/>
              </a:rPr>
              <a:t>999</a:t>
            </a:r>
            <a:r>
              <a:rPr lang="zh-CN" altLang="en-US" sz="2000" dirty="0">
                <a:latin typeface="方正兰亭黑简体" panose="02000000000000000000" pitchFamily="2" charset="-122"/>
              </a:rPr>
              <a:t>次都通过了，但第</a:t>
            </a:r>
            <a:r>
              <a:rPr lang="en-US" altLang="zh-CN" sz="2000" dirty="0">
                <a:latin typeface="方正兰亭黑简体" panose="02000000000000000000" pitchFamily="2" charset="-122"/>
              </a:rPr>
              <a:t>1000</a:t>
            </a:r>
            <a:r>
              <a:rPr lang="zh-CN" altLang="en-US" sz="2000" dirty="0">
                <a:latin typeface="方正兰亭黑简体" panose="02000000000000000000" pitchFamily="2" charset="-122"/>
              </a:rPr>
              <a:t>次出错了。</a:t>
            </a:r>
            <a:endParaRPr lang="en-US" altLang="zh-CN" sz="2000" dirty="0">
              <a:latin typeface="方正兰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测试防护网：</a:t>
            </a:r>
            <a:r>
              <a:rPr lang="en-US" altLang="zh-CN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FIRST</a:t>
            </a:r>
            <a:r>
              <a:rPr lang="zh-CN" altLang="en-US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原则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S</a:t>
            </a:r>
            <a:r>
              <a:rPr lang="en-US" altLang="zh-CN" sz="2000" dirty="0">
                <a:latin typeface="方正兰亭黑简体" panose="02000000000000000000" pitchFamily="2" charset="-122"/>
              </a:rPr>
              <a:t>elf-Validating</a:t>
            </a:r>
            <a:r>
              <a:rPr lang="zh-CN" altLang="en-US" sz="2000" dirty="0">
                <a:latin typeface="方正兰亭黑简体" panose="02000000000000000000" pitchFamily="2" charset="-122"/>
              </a:rPr>
              <a:t>（自验）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测试用例必须能够自动告知（断言）运行结果，而不依赖人工进行判断。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反例：测试只能打印运行日志，需要依赖人工判断运行是否符合预期。</a:t>
            </a:r>
            <a:endParaRPr lang="en-US" altLang="zh-CN" sz="2000" dirty="0">
              <a:latin typeface="方正兰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测试防护网：</a:t>
            </a:r>
            <a:r>
              <a:rPr lang="en-US" altLang="zh-CN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FIRST</a:t>
            </a:r>
            <a:r>
              <a:rPr lang="zh-CN" altLang="en-US" dirty="0">
                <a:solidFill>
                  <a:srgbClr val="000000"/>
                </a:solidFill>
                <a:latin typeface="方正兰亭黑简体" panose="02000000000000000000" pitchFamily="2" charset="-122"/>
              </a:rPr>
              <a:t>原则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C7000B"/>
                </a:solidFill>
                <a:latin typeface="方正兰亭黑简体" panose="02000000000000000000" pitchFamily="2" charset="-122"/>
              </a:rPr>
              <a:t>T</a:t>
            </a:r>
            <a:r>
              <a:rPr lang="en-US" altLang="zh-CN" sz="2000" dirty="0">
                <a:latin typeface="方正兰亭黑简体" panose="02000000000000000000" pitchFamily="2" charset="-122"/>
              </a:rPr>
              <a:t>imely</a:t>
            </a:r>
            <a:r>
              <a:rPr lang="zh-CN" altLang="en-US" sz="2000" dirty="0">
                <a:latin typeface="方正兰亭黑简体" panose="02000000000000000000" pitchFamily="2" charset="-122"/>
              </a:rPr>
              <a:t>（及时）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编写自动化测试是一种好的习惯，为了保证能够及时得到反馈，必须及时编写自动化测试而不拖延，一旦拖延，就很难补回来，为了能够将这件事情做到极致，那么就要做到“测试先行（</a:t>
            </a:r>
            <a:r>
              <a:rPr lang="en-US" altLang="zh-CN" sz="2000" dirty="0">
                <a:latin typeface="方正兰亭黑简体" panose="02000000000000000000" pitchFamily="2" charset="-122"/>
              </a:rPr>
              <a:t>Test First</a:t>
            </a:r>
            <a:r>
              <a:rPr lang="zh-CN" altLang="en-US" sz="2000" dirty="0">
                <a:latin typeface="方正兰亭黑简体" panose="02000000000000000000" pitchFamily="2" charset="-122"/>
              </a:rPr>
              <a:t>）”，直至“测试驱动开发（</a:t>
            </a:r>
            <a:r>
              <a:rPr lang="en-US" altLang="zh-CN" sz="2000" dirty="0">
                <a:latin typeface="方正兰亭黑简体" panose="02000000000000000000" pitchFamily="2" charset="-122"/>
              </a:rPr>
              <a:t>Test-Driven Development</a:t>
            </a:r>
            <a:r>
              <a:rPr lang="zh-CN" altLang="en-US" sz="2000" dirty="0">
                <a:latin typeface="方正兰亭黑简体" panose="02000000000000000000" pitchFamily="2" charset="-122"/>
              </a:rPr>
              <a:t>）”。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</a:rPr>
              <a:t>反例：现在太忙，后面找个时间集中补测试。</a:t>
            </a:r>
            <a:endParaRPr lang="en-US" altLang="zh-CN" sz="2000" dirty="0">
              <a:latin typeface="方正兰亭黑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</a:rPr>
              <a:t>测试防护网：</a:t>
            </a:r>
            <a:r>
              <a:rPr lang="zh-CN" altLang="en-US">
                <a:solidFill>
                  <a:srgbClr val="000000"/>
                </a:solidFill>
                <a:latin typeface="方正兰亭黑简体" panose="02000000000000000000" pitchFamily="2" charset="-122"/>
              </a:rPr>
              <a:t>正交分解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775217"/>
              </p:ext>
            </p:extLst>
          </p:nvPr>
        </p:nvGraphicFramePr>
        <p:xfrm>
          <a:off x="1055882" y="1251320"/>
          <a:ext cx="10051145" cy="45280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102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2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2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02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618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方向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  <a:endParaRPr lang="zh-CN" altLang="en-US" sz="24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W</a:t>
                      </a:r>
                      <a:endParaRPr lang="zh-CN" altLang="en-US" sz="24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4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4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2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  <a:endParaRPr lang="zh-CN" altLang="en-US" sz="24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X+1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W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24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执行</a:t>
                      </a:r>
                      <a:r>
                        <a:rPr lang="en-US" altLang="zh-CN" sz="2400" kern="12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  <a:cs typeface="+mn-cs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X-1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Y+1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M</a:t>
                      </a:r>
                    </a:p>
                    <a:p>
                      <a:pPr algn="ctr"/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Y-1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  <a:endParaRPr lang="zh-CN" altLang="en-US" sz="24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W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W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L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268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  <a:endParaRPr lang="zh-CN" altLang="en-US" sz="2400" dirty="0"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W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N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E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当前朝向</a:t>
                      </a:r>
                      <a:r>
                        <a:rPr lang="en-US" altLang="zh-CN" sz="2400" dirty="0">
                          <a:solidFill>
                            <a:schemeClr val="accent5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s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执行</a:t>
                      </a:r>
                      <a:r>
                        <a:rPr lang="en-US" altLang="zh-CN" sz="2400" dirty="0">
                          <a:solidFill>
                            <a:srgbClr val="7030A0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R</a:t>
                      </a:r>
                    </a:p>
                    <a:p>
                      <a:pPr algn="ctr"/>
                      <a:r>
                        <a:rPr lang="zh-CN" altLang="en-US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朝向</a:t>
                      </a:r>
                      <a:r>
                        <a:rPr lang="en-US" altLang="zh-CN" sz="2400" dirty="0">
                          <a:solidFill>
                            <a:srgbClr val="C7000B"/>
                          </a:solidFill>
                          <a:latin typeface="方正兰亭黑简体" panose="02000000000000000000" pitchFamily="2" charset="-122"/>
                          <a:ea typeface="方正兰亭黑简体" panose="02000000000000000000" pitchFamily="2" charset="-122"/>
                        </a:rPr>
                        <a:t>W</a:t>
                      </a:r>
                      <a:endParaRPr lang="zh-CN" altLang="en-US" sz="2400" dirty="0">
                        <a:solidFill>
                          <a:srgbClr val="C7000B"/>
                        </a:solidFill>
                        <a:latin typeface="方正兰亭黑简体" panose="02000000000000000000" pitchFamily="2" charset="-122"/>
                        <a:ea typeface="方正兰亭黑简体" panose="02000000000000000000" pitchFamily="2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6" name="直接连接符 5"/>
          <p:cNvCxnSpPr/>
          <p:nvPr/>
        </p:nvCxnSpPr>
        <p:spPr>
          <a:xfrm>
            <a:off x="1055882" y="1251320"/>
            <a:ext cx="2062605" cy="960688"/>
          </a:xfrm>
          <a:prstGeom prst="line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/>
          <p:cNvSpPr txBox="1"/>
          <p:nvPr/>
        </p:nvSpPr>
        <p:spPr>
          <a:xfrm>
            <a:off x="1055882" y="1750343"/>
            <a:ext cx="8143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指令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测试防护网：测试命名原则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2000" dirty="0"/>
              <a:t>清晰：命名清晰，可读性好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</a:rPr>
              <a:t>一致：遵循一致的命名规范，例如使用驼峰或下划线，使用动词或名词等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</a:rPr>
              <a:t>描述：能够清晰地描述测试的目的和内容，例如使用</a:t>
            </a:r>
            <a:r>
              <a:rPr lang="en-US" altLang="zh-CN" sz="2000" dirty="0">
                <a:latin typeface="方正兰亭黑简体" panose="02000000000000000000" pitchFamily="2" charset="-122"/>
              </a:rPr>
              <a:t>Expected-Behavior-Condition</a:t>
            </a:r>
            <a:r>
              <a:rPr lang="zh-CN" altLang="en-US" sz="2000" dirty="0">
                <a:latin typeface="方正兰亭黑简体" panose="02000000000000000000" pitchFamily="2" charset="-122"/>
              </a:rPr>
              <a:t>格式或使用</a:t>
            </a:r>
            <a:r>
              <a:rPr lang="en-US" altLang="zh-CN" sz="2000" dirty="0">
                <a:latin typeface="方正兰亭黑简体" panose="02000000000000000000" pitchFamily="2" charset="-122"/>
              </a:rPr>
              <a:t>Given-When-Then</a:t>
            </a:r>
            <a:r>
              <a:rPr lang="zh-CN" altLang="en-US" sz="2000" dirty="0">
                <a:latin typeface="方正兰亭黑简体" panose="02000000000000000000" pitchFamily="2" charset="-122"/>
              </a:rPr>
              <a:t>格式等</a:t>
            </a:r>
            <a:endParaRPr lang="en-US" altLang="zh-CN" sz="2000" dirty="0">
              <a:latin typeface="方正兰亭黑简体" panose="02000000000000000000" pitchFamily="2" charset="-122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</a:rPr>
              <a:t>区分：能够区分不同的测试场景和结果，例如使用不同的前缀或后缀，或者使用不同的参数等</a:t>
            </a:r>
          </a:p>
        </p:txBody>
      </p:sp>
    </p:spTree>
    <p:extLst>
      <p:ext uri="{BB962C8B-B14F-4D97-AF65-F5344CB8AC3E}">
        <p14:creationId xmlns:p14="http://schemas.microsoft.com/office/powerpoint/2010/main" val="2016697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>
            <a:extLst>
              <a:ext uri="{FF2B5EF4-FFF2-40B4-BE49-F238E27FC236}">
                <a16:creationId xmlns:a16="http://schemas.microsoft.com/office/drawing/2014/main" id="{538E0A17-9539-4CFA-B46C-CC0F97A44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7872" y="873607"/>
            <a:ext cx="11646548" cy="5524582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latin typeface="+mn-lt"/>
              </a:rPr>
              <a:t>移动指令</a:t>
            </a:r>
            <a:endParaRPr lang="en-US" altLang="zh-CN" sz="2000" dirty="0">
              <a:latin typeface="+mn-lt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1600" b="0" dirty="0">
                <a:solidFill>
                  <a:srgbClr val="C00000"/>
                </a:solidFill>
                <a:effectLst/>
                <a:latin typeface="+mn-lt"/>
              </a:rPr>
              <a:t>should</a:t>
            </a:r>
            <a:r>
              <a:rPr lang="en-US" altLang="zh-CN" sz="1600" b="0" dirty="0">
                <a:effectLst/>
                <a:latin typeface="+mn-lt"/>
              </a:rPr>
              <a:t>_return_x_plus_1_</a:t>
            </a:r>
            <a:r>
              <a:rPr lang="en-US" altLang="zh-CN" sz="1600" b="0" dirty="0">
                <a:solidFill>
                  <a:srgbClr val="C00000"/>
                </a:solidFill>
                <a:effectLst/>
                <a:latin typeface="+mn-lt"/>
              </a:rPr>
              <a:t>given</a:t>
            </a:r>
            <a:r>
              <a:rPr lang="en-US" altLang="zh-CN" sz="1600" b="0" dirty="0">
                <a:effectLst/>
                <a:latin typeface="+mn-lt"/>
              </a:rPr>
              <a:t>_command_is_m_and_facing_is_e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/>
              <a:t>should_return_y_minus_1_given_command_is_m_and_facing_is_s</a:t>
            </a:r>
            <a:endParaRPr lang="en-US" altLang="zh-CN" sz="1600" b="0" dirty="0">
              <a:effectLst/>
              <a:latin typeface="+mn-lt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1600" b="0" dirty="0">
                <a:effectLst/>
                <a:latin typeface="+mn-lt"/>
              </a:rPr>
              <a:t>should_return_x_minus_1_given_command_is_m_and_</a:t>
            </a:r>
            <a:r>
              <a:rPr lang="en-US" altLang="zh-CN" sz="1600" dirty="0"/>
              <a:t>facing</a:t>
            </a:r>
            <a:r>
              <a:rPr lang="en-US" altLang="zh-CN" sz="1600" b="0" dirty="0">
                <a:effectLst/>
                <a:latin typeface="+mn-lt"/>
              </a:rPr>
              <a:t>_is_w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en-US" altLang="zh-CN" sz="1600" b="0" dirty="0">
                <a:effectLst/>
                <a:latin typeface="+mn-lt"/>
              </a:rPr>
              <a:t>should_return_y_plus_1_given_command_is_m_and_facing_is_n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latin typeface="+mn-lt"/>
              </a:rPr>
              <a:t>左转指令</a:t>
            </a:r>
            <a:endParaRPr lang="en-US" altLang="zh-CN" sz="2000" dirty="0">
              <a:latin typeface="+mn-lt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</a:rPr>
              <a:t>should_return_heading_n_given_command_is_l_and_facing_is_e</a:t>
            </a:r>
            <a:endParaRPr lang="en-US" altLang="zh-CN" sz="1600" dirty="0">
              <a:latin typeface="+mn-lt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/>
              <a:t>should_return_heading_e_given_command_is_l_and_facing_is_s</a:t>
            </a:r>
            <a:endParaRPr lang="en-US" altLang="zh-CN" sz="1600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/>
              <a:t>should_return_heading_s_given_command_is_l_and_facing_is_w</a:t>
            </a:r>
            <a:endParaRPr lang="en-US" altLang="zh-CN" sz="1600" dirty="0">
              <a:latin typeface="+mn-lt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</a:rPr>
              <a:t>should_return_heading_w_given_command_is_l_and_facing_is_n</a:t>
            </a:r>
            <a:endParaRPr lang="en-US" altLang="zh-CN" sz="1600" dirty="0"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000" dirty="0">
                <a:latin typeface="+mn-lt"/>
              </a:rPr>
              <a:t>右转指令</a:t>
            </a:r>
            <a:endParaRPr lang="en-US" altLang="zh-CN" sz="2000" dirty="0">
              <a:latin typeface="+mn-lt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</a:rPr>
              <a:t>should_return_heading_s_given_command_is_r_and_facing_is_e</a:t>
            </a:r>
            <a:endParaRPr lang="en-US" altLang="zh-CN" sz="1600" dirty="0">
              <a:latin typeface="+mn-lt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</a:rPr>
              <a:t>should_return_heading_w_given_command_is_r_and_facing_is_s</a:t>
            </a:r>
            <a:endParaRPr lang="en-US" altLang="zh-CN" sz="1600" dirty="0">
              <a:latin typeface="+mn-lt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</a:rPr>
              <a:t>should_return_heading_n_given_command_is_r_and_facing_is_w</a:t>
            </a:r>
            <a:endParaRPr lang="en-US" altLang="zh-CN" sz="1600" dirty="0">
              <a:latin typeface="+mn-lt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+mn-lt"/>
              </a:rPr>
              <a:t>should_return_heading_e_given_command_is_r_and_facing_is_n</a:t>
            </a:r>
            <a:endParaRPr lang="zh-CN" altLang="en-US" sz="1600" dirty="0">
              <a:latin typeface="+mn-lt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测试用例设计示例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7B47F9-E399-4BF3-9038-9413D8B83B60}"/>
              </a:ext>
            </a:extLst>
          </p:cNvPr>
          <p:cNvSpPr txBox="1"/>
          <p:nvPr/>
        </p:nvSpPr>
        <p:spPr>
          <a:xfrm>
            <a:off x="7520104" y="988028"/>
            <a:ext cx="4564316" cy="4713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测试用例的命名应反映其业务场景，并在出错时能够</a:t>
            </a:r>
            <a:r>
              <a:rPr lang="zh-CN" altLang="en-US" sz="2000" b="0" i="0" dirty="0"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迅速定位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到问题代码：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业务场景明确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：测试用例名称应清晰描述其覆盖的业务场景</a:t>
            </a:r>
            <a:r>
              <a:rPr lang="zh-CN" altLang="en-US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在名称中包含业务场景关键词，便于理解测试目的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清晰</a:t>
            </a:r>
            <a:r>
              <a:rPr lang="zh-CN" altLang="en-US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：命名清晰，可读性好</a:t>
            </a:r>
            <a:endParaRPr lang="zh-CN" altLang="en-US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一致性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：遵循统一的命名风格和格式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可读性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：名称应易于理解，便于团队成员快速识别</a:t>
            </a:r>
            <a:endParaRPr lang="en-US" altLang="zh-CN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易于错误</a:t>
            </a:r>
            <a:r>
              <a:rPr lang="zh-CN" altLang="en-US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定位</a:t>
            </a:r>
            <a:r>
              <a:rPr lang="zh-CN" altLang="en-US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：确保名称中包含足够信息，以便在测试失败时快速定位问题</a:t>
            </a:r>
          </a:p>
        </p:txBody>
      </p:sp>
      <p:cxnSp>
        <p:nvCxnSpPr>
          <p:cNvPr id="5" name="直接连接符 74">
            <a:extLst>
              <a:ext uri="{FF2B5EF4-FFF2-40B4-BE49-F238E27FC236}">
                <a16:creationId xmlns:a16="http://schemas.microsoft.com/office/drawing/2014/main" id="{88FF152B-07BD-4BB3-B31C-753D3A5F205D}"/>
              </a:ext>
            </a:extLst>
          </p:cNvPr>
          <p:cNvCxnSpPr>
            <a:cxnSpLocks/>
          </p:cNvCxnSpPr>
          <p:nvPr/>
        </p:nvCxnSpPr>
        <p:spPr bwMode="auto">
          <a:xfrm>
            <a:off x="7556797" y="888675"/>
            <a:ext cx="0" cy="5448891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3">
            <a:extLst>
              <a:ext uri="{FF2B5EF4-FFF2-40B4-BE49-F238E27FC236}">
                <a16:creationId xmlns:a16="http://schemas.microsoft.com/office/drawing/2014/main" id="{462F66EF-BAEB-4A29-8D0C-CD2AEC3B78B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2400">
                <a:latin typeface="方正兰亭黑简体" panose="02000000000000000000" pitchFamily="2" charset="-122"/>
              </a:rPr>
              <a:t>好的测试防护网：</a:t>
            </a:r>
            <a:endParaRPr lang="en-US" altLang="zh-CN" sz="2400">
              <a:latin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>
                <a:latin typeface="方正兰亭黑简体" panose="02000000000000000000" pitchFamily="2" charset="-122"/>
              </a:rPr>
              <a:t>First</a:t>
            </a:r>
            <a:r>
              <a:rPr lang="zh-CN" altLang="en-US" sz="2000" b="1">
                <a:latin typeface="方正兰亭黑简体" panose="02000000000000000000" pitchFamily="2" charset="-122"/>
              </a:rPr>
              <a:t>原则：</a:t>
            </a:r>
            <a:r>
              <a:rPr lang="zh-CN" altLang="en-US" sz="2000">
                <a:latin typeface="方正兰亭黑简体" panose="02000000000000000000" pitchFamily="2" charset="-122"/>
              </a:rPr>
              <a:t>测试防护网应当易于更新和维护</a:t>
            </a:r>
            <a:endParaRPr lang="en-US" altLang="zh-CN" sz="2000">
              <a:latin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方正兰亭黑简体" panose="02000000000000000000" pitchFamily="2" charset="-122"/>
              </a:rPr>
              <a:t>正交分解法：</a:t>
            </a:r>
            <a:r>
              <a:rPr lang="zh-CN" altLang="en-US" sz="2000">
                <a:latin typeface="方正兰亭黑简体" panose="02000000000000000000" pitchFamily="2" charset="-122"/>
              </a:rPr>
              <a:t>确保测试覆盖尽可能多的代码路径，以最大限度地发现潜在问题</a:t>
            </a:r>
            <a:endParaRPr lang="en-US" altLang="zh-CN" sz="2000">
              <a:latin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>
                <a:latin typeface="方正兰亭黑简体" panose="02000000000000000000" pitchFamily="2" charset="-122"/>
              </a:rPr>
              <a:t>测试命名原则：</a:t>
            </a:r>
            <a:r>
              <a:rPr lang="zh-CN" altLang="en-US" sz="2000">
                <a:latin typeface="方正兰亭黑简体" panose="02000000000000000000" pitchFamily="2" charset="-122"/>
              </a:rPr>
              <a:t>代码和测试用例应当清晰易懂，便于团队成员理解和使用</a:t>
            </a:r>
            <a:endParaRPr lang="en-US" altLang="zh-CN" sz="2000" dirty="0">
              <a:latin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61970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</a:p>
          <a:p>
            <a:pPr>
              <a:lnSpc>
                <a:spcPts val="3600"/>
              </a:lnSpc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3.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3063901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7917" y="1076420"/>
            <a:ext cx="10816163" cy="212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通过合理应用</a:t>
            </a:r>
            <a:r>
              <a:rPr lang="en-US" altLang="zh-CN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Rust</a:t>
            </a: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语言特性，定义了简洁、清晰的接口，并学习了开发者测试的原则、规范和实践，设计了测试防护网。这些措施能帮助我们在开发中高效、高质量地实现需求代码。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然而，在实际开发过程中，我们可能会遇到以下问题：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代码回滚</a:t>
            </a: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：如何在出现代码问题后迅速恢复到之前的稳定状态？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团队高效协作</a:t>
            </a: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：如何实现团队成员之间的高效协作？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B95E08-B5DD-47F1-8E92-7550E1301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755" y="3320210"/>
            <a:ext cx="10728322" cy="28650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522" tIns="0" rIns="9522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在企业软件开发中，Git能够显著提升开发效率，解决上述问题：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快速恢复代码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使用Git的版本控制功能，可以轻松回滚到之前的稳定版本，快速恢复代码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例如，使用git checkout命令可以切换到指定的提交记录，恢复代码状态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zh-CN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高效协作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Git支持多人协作开发，通过分支和合并功能，团队成员可以并行工作，避免代码冲突。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使用git pull和git push命令同步团队成员的代码变更，确保所有人都在最新的代码基础上工作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直接连接符 74">
            <a:extLst>
              <a:ext uri="{FF2B5EF4-FFF2-40B4-BE49-F238E27FC236}">
                <a16:creationId xmlns:a16="http://schemas.microsoft.com/office/drawing/2014/main" id="{4D34C114-8626-417C-8FAE-B6A1534B5772}"/>
              </a:ext>
            </a:extLst>
          </p:cNvPr>
          <p:cNvCxnSpPr>
            <a:cxnSpLocks/>
          </p:cNvCxnSpPr>
          <p:nvPr/>
        </p:nvCxnSpPr>
        <p:spPr bwMode="auto">
          <a:xfrm>
            <a:off x="731838" y="3285067"/>
            <a:ext cx="10728325" cy="0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49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31838" y="264151"/>
            <a:ext cx="10728325" cy="485982"/>
          </a:xfrm>
        </p:spPr>
        <p:txBody>
          <a:bodyPr/>
          <a:lstStyle/>
          <a:p>
            <a:r>
              <a:rPr lang="zh-CN" altLang="en-US" dirty="0"/>
              <a:t>代码管理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F2665E4-F6E2-4D91-8829-E7638A0D2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0690" y="1520452"/>
            <a:ext cx="3518511" cy="4607380"/>
          </a:xfrm>
          <a:prstGeom prst="rect">
            <a:avLst/>
          </a:prstGeom>
        </p:spPr>
      </p:pic>
      <p:cxnSp>
        <p:nvCxnSpPr>
          <p:cNvPr id="11" name="直接连接符 74">
            <a:extLst>
              <a:ext uri="{FF2B5EF4-FFF2-40B4-BE49-F238E27FC236}">
                <a16:creationId xmlns:a16="http://schemas.microsoft.com/office/drawing/2014/main" id="{448F25DD-0A81-49E5-8D5D-F06B67579935}"/>
              </a:ext>
            </a:extLst>
          </p:cNvPr>
          <p:cNvCxnSpPr>
            <a:cxnSpLocks/>
          </p:cNvCxnSpPr>
          <p:nvPr/>
        </p:nvCxnSpPr>
        <p:spPr bwMode="auto">
          <a:xfrm>
            <a:off x="7290690" y="2801603"/>
            <a:ext cx="4212696" cy="91196"/>
          </a:xfrm>
          <a:prstGeom prst="line">
            <a:avLst/>
          </a:prstGeom>
          <a:ln w="19050"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46A4D8D-2FBB-4227-9816-CB6C297470E8}"/>
              </a:ext>
            </a:extLst>
          </p:cNvPr>
          <p:cNvSpPr txBox="1"/>
          <p:nvPr/>
        </p:nvSpPr>
        <p:spPr>
          <a:xfrm>
            <a:off x="10658482" y="2523467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远程仓库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82DDB47-BB17-4C1F-9535-751EF7144AFD}"/>
              </a:ext>
            </a:extLst>
          </p:cNvPr>
          <p:cNvSpPr txBox="1"/>
          <p:nvPr/>
        </p:nvSpPr>
        <p:spPr>
          <a:xfrm>
            <a:off x="10658481" y="289520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本地仓库</a:t>
            </a:r>
          </a:p>
        </p:txBody>
      </p:sp>
      <p:graphicFrame>
        <p:nvGraphicFramePr>
          <p:cNvPr id="6" name="表格 7">
            <a:extLst>
              <a:ext uri="{FF2B5EF4-FFF2-40B4-BE49-F238E27FC236}">
                <a16:creationId xmlns:a16="http://schemas.microsoft.com/office/drawing/2014/main" id="{54FC83D8-EEB7-425D-8DD7-913B1245FE1E}"/>
              </a:ext>
            </a:extLst>
          </p:cNvPr>
          <p:cNvGraphicFramePr>
            <a:graphicFrameLocks noGrp="1"/>
          </p:cNvGraphicFramePr>
          <p:nvPr/>
        </p:nvGraphicFramePr>
        <p:xfrm>
          <a:off x="687082" y="1399433"/>
          <a:ext cx="6469573" cy="470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1079">
                  <a:extLst>
                    <a:ext uri="{9D8B030D-6E8A-4147-A177-3AD203B41FA5}">
                      <a16:colId xmlns:a16="http://schemas.microsoft.com/office/drawing/2014/main" val="2109517347"/>
                    </a:ext>
                  </a:extLst>
                </a:gridCol>
                <a:gridCol w="2144574">
                  <a:extLst>
                    <a:ext uri="{9D8B030D-6E8A-4147-A177-3AD203B41FA5}">
                      <a16:colId xmlns:a16="http://schemas.microsoft.com/office/drawing/2014/main" val="3149235524"/>
                    </a:ext>
                  </a:extLst>
                </a:gridCol>
                <a:gridCol w="825609">
                  <a:extLst>
                    <a:ext uri="{9D8B030D-6E8A-4147-A177-3AD203B41FA5}">
                      <a16:colId xmlns:a16="http://schemas.microsoft.com/office/drawing/2014/main" val="3558501388"/>
                    </a:ext>
                  </a:extLst>
                </a:gridCol>
                <a:gridCol w="766124">
                  <a:extLst>
                    <a:ext uri="{9D8B030D-6E8A-4147-A177-3AD203B41FA5}">
                      <a16:colId xmlns:a16="http://schemas.microsoft.com/office/drawing/2014/main" val="364523112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3399156005"/>
                    </a:ext>
                  </a:extLst>
                </a:gridCol>
                <a:gridCol w="859387">
                  <a:extLst>
                    <a:ext uri="{9D8B030D-6E8A-4147-A177-3AD203B41FA5}">
                      <a16:colId xmlns:a16="http://schemas.microsoft.com/office/drawing/2014/main" val="4251284007"/>
                    </a:ext>
                  </a:extLst>
                </a:gridCol>
              </a:tblGrid>
              <a:tr h="574377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命令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作用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Remote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Repository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Workspace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Index</a:t>
                      </a:r>
                      <a:endParaRPr lang="zh-CN" altLang="en-US" sz="14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442870"/>
                  </a:ext>
                </a:extLst>
              </a:tr>
              <a:tr h="5743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pull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从远程仓库获取最新版本并合并到本地分支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更新并合并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更新并合并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更新并合并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377613"/>
                  </a:ext>
                </a:extLst>
              </a:tr>
              <a:tr h="5743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fetch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从远程仓库获取最新版本，但不合并到本地分支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035011"/>
                  </a:ext>
                </a:extLst>
              </a:tr>
              <a:tr h="319539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clone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克隆远程仓库到本地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新建并初始化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新建并初始化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034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新建并初始化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229052"/>
                  </a:ext>
                </a:extLst>
              </a:tr>
              <a:tr h="5743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push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将本地分支的提交推送到远程仓库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795565"/>
                  </a:ext>
                </a:extLst>
              </a:tr>
              <a:tr h="5743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checkout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切换分支或恢复工作区文件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185698"/>
                  </a:ext>
                </a:extLst>
              </a:tr>
              <a:tr h="574377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add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将工作区的修改添加到暂存区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0317383"/>
                  </a:ext>
                </a:extLst>
              </a:tr>
              <a:tr h="178128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commit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将暂存区的修改提交到本地仓库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更新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清空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503920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ED8E7BE-38E1-4839-A44C-A6AD4438942B}"/>
              </a:ext>
            </a:extLst>
          </p:cNvPr>
          <p:cNvSpPr txBox="1"/>
          <p:nvPr/>
        </p:nvSpPr>
        <p:spPr>
          <a:xfrm>
            <a:off x="575807" y="750133"/>
            <a:ext cx="10884355" cy="465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git</a:t>
            </a:r>
            <a:r>
              <a:rPr lang="zh-CN" altLang="en-US" dirty="0"/>
              <a:t>命令执行后，文件在不同的区域</a:t>
            </a:r>
            <a:r>
              <a:rPr lang="en-US" altLang="zh-CN" dirty="0"/>
              <a:t>(Remote</a:t>
            </a:r>
            <a:r>
              <a:rPr lang="zh-CN" altLang="en-US" dirty="0"/>
              <a:t>、</a:t>
            </a:r>
            <a:r>
              <a:rPr lang="en-US" altLang="zh-CN" dirty="0"/>
              <a:t>Repository</a:t>
            </a:r>
            <a:r>
              <a:rPr lang="zh-CN" altLang="en-US" dirty="0"/>
              <a:t>、</a:t>
            </a:r>
            <a:r>
              <a:rPr lang="en-US" altLang="zh-CN" dirty="0"/>
              <a:t>Workspace</a:t>
            </a:r>
            <a:r>
              <a:rPr lang="zh-CN" altLang="en-US" dirty="0"/>
              <a:t>、</a:t>
            </a:r>
            <a:r>
              <a:rPr lang="en-US" altLang="zh-CN" dirty="0"/>
              <a:t>Index)</a:t>
            </a:r>
            <a:r>
              <a:rPr lang="zh-CN" altLang="en-US" dirty="0"/>
              <a:t>中变化：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常用命令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6FF43B-9723-4180-9D18-4931B5968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033" y="969977"/>
            <a:ext cx="5635095" cy="49180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0784" rIns="0" bIns="50784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新建仓库</a:t>
            </a:r>
            <a:endParaRPr lang="zh-CN" altLang="zh-CN" sz="18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init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初始化仓库，可以发现当前目录下多了一个.git的目录，这个目录是Git来跟踪管理版本库的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 </a:t>
            </a:r>
            <a:endParaRPr lang="en-US" altLang="zh-CN" sz="1400" dirty="0">
              <a:solidFill>
                <a:srgbClr val="21212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16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代码提交</a:t>
            </a:r>
            <a:endParaRPr lang="zh-CN" altLang="zh-CN" sz="16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add . </a:t>
            </a:r>
            <a:r>
              <a:rPr lang="zh-CN" altLang="en-US" sz="1400" dirty="0">
                <a:solidFill>
                  <a:srgbClr val="21212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提交修改过或新增的文件到暂存区</a:t>
            </a:r>
            <a:endParaRPr lang="en-US" altLang="zh-CN" sz="1400" dirty="0">
              <a:solidFill>
                <a:srgbClr val="21212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rgbClr val="C7000B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add &lt;file&gt; </a:t>
            </a:r>
            <a:r>
              <a:rPr lang="zh-CN" altLang="en-US" sz="1400" dirty="0">
                <a:solidFill>
                  <a:srgbClr val="21212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提交指定的修改过或新增的文件到暂存区</a:t>
            </a:r>
            <a:endParaRPr lang="en-US" altLang="zh-CN" sz="1400" dirty="0">
              <a:solidFill>
                <a:srgbClr val="21212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commit -m "commit info"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将暂存区的文件提交到本地仓库中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zh-CN" sz="16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创建和合并分支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checkout -b dev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创建一个新的分支：dev，并且会切换到dev分支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branch dev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，新建分支是新建指针,指向当前commit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checkout dev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切换到dev分支</a:t>
            </a:r>
            <a:endParaRPr kumimoji="0" lang="en-US" altLang="zh-CN" sz="14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A894FE3-E203-4BE5-ABA7-BA7BD59FC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4311" y="662611"/>
            <a:ext cx="4777045" cy="56095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50784" rIns="0" bIns="50784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查询配置信息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config --list 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列出当前配置</a:t>
            </a:r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21212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16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R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zh-CN" sz="16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常用查看指令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status 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查看仓库当前的状态</a:t>
            </a:r>
            <a:endParaRPr lang="en-US" altLang="zh-CN" sz="1600" dirty="0">
              <a:solidFill>
                <a:srgbClr val="212121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600" b="1" i="0" u="none" strike="noStrike" cap="none" normalizeH="0" baseline="0" dirty="0">
              <a:ln>
                <a:noFill/>
              </a:ln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600" b="1" i="0" u="none" strike="noStrike" cap="none" normalizeH="0" baseline="0" dirty="0">
                <a:ln>
                  <a:noFill/>
                </a:ln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bug分支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it还提供了一个stash功能，可以把当前工作现场“储藏”起来，等以后恢复现场后继续工作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stash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保存工作现场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stash list 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查看工作现场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stash apply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恢复工作现场，但是恢复后，stash内容并不删除，有多个工作现场时可以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stash apply stash@{0}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恢复特定的现场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stash drop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删除stash的内容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l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C7000B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 stash pop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恢复的同时也把stas内容删除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uawei Sans" panose="020C0503030203020204" pitchFamily="34" charset="0"/>
            </a:endParaRPr>
          </a:p>
        </p:txBody>
      </p:sp>
      <p:cxnSp>
        <p:nvCxnSpPr>
          <p:cNvPr id="5" name="直接连接符 74">
            <a:extLst>
              <a:ext uri="{FF2B5EF4-FFF2-40B4-BE49-F238E27FC236}">
                <a16:creationId xmlns:a16="http://schemas.microsoft.com/office/drawing/2014/main" id="{C351CFB5-073B-4F81-A93B-EA21F2EE7D3B}"/>
              </a:ext>
            </a:extLst>
          </p:cNvPr>
          <p:cNvCxnSpPr/>
          <p:nvPr/>
        </p:nvCxnSpPr>
        <p:spPr bwMode="auto">
          <a:xfrm>
            <a:off x="6378128" y="868892"/>
            <a:ext cx="0" cy="5650829"/>
          </a:xfrm>
          <a:prstGeom prst="line">
            <a:avLst/>
          </a:prstGeom>
          <a:ln>
            <a:solidFill>
              <a:srgbClr val="C00000"/>
            </a:solidFill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079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代码仓库建立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38480" y="1280160"/>
            <a:ext cx="10480754" cy="4653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解压初始工程</a:t>
            </a:r>
            <a:r>
              <a:rPr lang="en-US" altLang="zh-CN" dirty="0"/>
              <a:t>rust-training-start.zip </a:t>
            </a:r>
            <a:r>
              <a:rPr lang="zh-CN" altLang="en-US" dirty="0"/>
              <a:t>，并重命名目录 </a:t>
            </a:r>
            <a:r>
              <a:rPr lang="en-US" altLang="zh-CN" dirty="0"/>
              <a:t>rust-training-start </a:t>
            </a:r>
            <a:r>
              <a:rPr lang="zh-CN" altLang="en-US" dirty="0"/>
              <a:t>为 </a:t>
            </a:r>
            <a:r>
              <a:rPr lang="en-US" altLang="zh-CN" dirty="0"/>
              <a:t>rust-training-</a:t>
            </a:r>
            <a:r>
              <a:rPr lang="en-US" altLang="zh-CN" dirty="0" err="1"/>
              <a:t>adas</a:t>
            </a:r>
            <a:r>
              <a:rPr lang="en-US" altLang="zh-CN" dirty="0"/>
              <a:t> </a:t>
            </a:r>
            <a:r>
              <a:rPr lang="zh-CN" altLang="en-US" dirty="0"/>
              <a:t>例如：</a:t>
            </a:r>
            <a:endParaRPr lang="en-US" altLang="zh-CN" dirty="0"/>
          </a:p>
        </p:txBody>
      </p:sp>
      <p:graphicFrame>
        <p:nvGraphicFramePr>
          <p:cNvPr id="5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0053037"/>
              </p:ext>
            </p:extLst>
          </p:nvPr>
        </p:nvGraphicFramePr>
        <p:xfrm>
          <a:off x="629919" y="1870632"/>
          <a:ext cx="10913034" cy="111252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758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01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52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操作系统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解压目录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solidFill>
                            <a:schemeClr val="tx1"/>
                          </a:solidFill>
                        </a:rPr>
                        <a:t>代码工程目录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windows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D:\workspace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D:\workspace\rust-training-adas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linux</a:t>
                      </a:r>
                      <a:r>
                        <a:rPr lang="en-US" altLang="zh-CN" dirty="0"/>
                        <a:t>\</a:t>
                      </a:r>
                      <a:r>
                        <a:rPr lang="en-US" altLang="zh-CN" dirty="0" err="1"/>
                        <a:t>macos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/home/training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/home/training/rust-training-</a:t>
                      </a:r>
                      <a:r>
                        <a:rPr lang="en-US" altLang="zh-CN" dirty="0" err="1"/>
                        <a:t>adas</a:t>
                      </a:r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29920" y="3096888"/>
            <a:ext cx="10913034" cy="166199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代码工程目录下打开命令窗口或通过</a:t>
            </a:r>
            <a:r>
              <a:rPr lang="en-US" altLang="zh-CN" dirty="0"/>
              <a:t>Visual Studio Code</a:t>
            </a:r>
            <a:r>
              <a:rPr lang="zh-CN" altLang="en-US" dirty="0"/>
              <a:t>菜单栏</a:t>
            </a:r>
            <a:r>
              <a:rPr lang="en-US" altLang="zh-CN" dirty="0"/>
              <a:t>Terminal-&gt;New Terminal</a:t>
            </a:r>
            <a:r>
              <a:rPr lang="zh-CN" altLang="en-US" dirty="0"/>
              <a:t>打开命令窗口，执行如下命令：</a:t>
            </a:r>
            <a:endParaRPr lang="en-US" altLang="zh-CN" dirty="0"/>
          </a:p>
          <a:p>
            <a:pPr>
              <a:defRPr sz="1600">
                <a:latin typeface="Huawei Sans"/>
              </a:defRPr>
            </a:pPr>
            <a:r>
              <a:rPr lang="en-US" altLang="zh-CN" dirty="0">
                <a:solidFill>
                  <a:srgbClr val="3300AA"/>
                </a:solidFill>
              </a:rPr>
              <a:t>git</a:t>
            </a:r>
            <a:r>
              <a:rPr lang="en-US" altLang="zh-CN" dirty="0">
                <a:solidFill>
                  <a:srgbClr val="AA1111"/>
                </a:solidFill>
              </a:rPr>
              <a:t> </a:t>
            </a:r>
            <a:r>
              <a:rPr lang="en-US" altLang="zh-CN" dirty="0" err="1">
                <a:solidFill>
                  <a:srgbClr val="3300AA"/>
                </a:solidFill>
              </a:rPr>
              <a:t>init</a:t>
            </a:r>
            <a:endParaRPr lang="en-US" altLang="zh-CN" dirty="0">
              <a:solidFill>
                <a:srgbClr val="3300AA"/>
              </a:solidFill>
            </a:endParaRPr>
          </a:p>
          <a:p>
            <a:pPr>
              <a:defRPr sz="1600">
                <a:latin typeface="Huawei Sans"/>
              </a:defRPr>
            </a:pPr>
            <a:r>
              <a:rPr lang="en-US" altLang="zh-CN" dirty="0">
                <a:solidFill>
                  <a:srgbClr val="3300AA"/>
                </a:solidFill>
              </a:rPr>
              <a:t>git</a:t>
            </a:r>
            <a:r>
              <a:rPr lang="en-US" altLang="zh-CN"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3300AA"/>
                </a:solidFill>
              </a:rPr>
              <a:t>add</a:t>
            </a:r>
            <a:r>
              <a:rPr lang="en-US" altLang="zh-CN"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000000"/>
                </a:solidFill>
              </a:rPr>
              <a:t>.</a:t>
            </a:r>
          </a:p>
          <a:p>
            <a:pPr>
              <a:defRPr sz="1600">
                <a:latin typeface="Huawei Sans"/>
              </a:defRPr>
            </a:pPr>
            <a:r>
              <a:rPr lang="en-US" altLang="zh-CN" dirty="0">
                <a:solidFill>
                  <a:srgbClr val="3300AA"/>
                </a:solidFill>
              </a:rPr>
              <a:t>git</a:t>
            </a:r>
            <a:r>
              <a:rPr lang="en-US" altLang="zh-CN"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3300AA"/>
                </a:solidFill>
              </a:rPr>
              <a:t>commit</a:t>
            </a:r>
            <a:r>
              <a:rPr lang="en-US" altLang="zh-CN" dirty="0">
                <a:solidFill>
                  <a:srgbClr val="AA1111"/>
                </a:solidFill>
              </a:rPr>
              <a:t> </a:t>
            </a:r>
            <a:r>
              <a:rPr lang="en-US" altLang="zh-CN" dirty="0">
                <a:solidFill>
                  <a:srgbClr val="3300AA"/>
                </a:solidFill>
              </a:rPr>
              <a:t>-m</a:t>
            </a:r>
            <a:r>
              <a:rPr lang="en-US" altLang="zh-CN" dirty="0">
                <a:solidFill>
                  <a:srgbClr val="AA1111"/>
                </a:solidFill>
              </a:rPr>
              <a:t> "</a:t>
            </a:r>
            <a:r>
              <a:rPr lang="en-US" altLang="zh-CN" dirty="0" err="1">
                <a:solidFill>
                  <a:srgbClr val="AA1111"/>
                </a:solidFill>
              </a:rPr>
              <a:t>init</a:t>
            </a:r>
            <a:r>
              <a:rPr lang="en-US" altLang="zh-CN" dirty="0">
                <a:solidFill>
                  <a:srgbClr val="AA1111"/>
                </a:solidFill>
              </a:rPr>
              <a:t> project"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B7E4B9B-521C-482C-BA7B-533E2B855B3C}"/>
              </a:ext>
            </a:extLst>
          </p:cNvPr>
          <p:cNvSpPr/>
          <p:nvPr/>
        </p:nvSpPr>
        <p:spPr>
          <a:xfrm>
            <a:off x="538480" y="5208508"/>
            <a:ext cx="110044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这样，我们就在目录 D:\workspace\</a:t>
            </a:r>
            <a:r>
              <a:rPr lang="en-US" altLang="zh-CN" dirty="0"/>
              <a:t>rust</a:t>
            </a:r>
            <a:r>
              <a:rPr lang="zh-CN" altLang="en-US" dirty="0"/>
              <a:t>-training-adas 下建立了一个git本地代码仓</a:t>
            </a:r>
          </a:p>
        </p:txBody>
      </p:sp>
    </p:spTree>
    <p:extLst>
      <p:ext uri="{BB962C8B-B14F-4D97-AF65-F5344CB8AC3E}">
        <p14:creationId xmlns:p14="http://schemas.microsoft.com/office/powerpoint/2010/main" val="233965882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3">
            <a:extLst>
              <a:ext uri="{FF2B5EF4-FFF2-40B4-BE49-F238E27FC236}">
                <a16:creationId xmlns:a16="http://schemas.microsoft.com/office/drawing/2014/main" id="{B35124D8-E35E-4EDF-8284-E0177389EEB0}"/>
              </a:ext>
            </a:extLst>
          </p:cNvPr>
          <p:cNvSpPr txBox="1">
            <a:spLocks/>
          </p:cNvSpPr>
          <p:nvPr/>
        </p:nvSpPr>
        <p:spPr bwMode="auto">
          <a:xfrm>
            <a:off x="861637" y="1318664"/>
            <a:ext cx="10536557" cy="456778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80141" tIns="40071" rIns="80141" bIns="40071" numCol="1" anchor="t" anchorCtr="0" compatLnSpc="1"/>
          <a:lstStyle>
            <a:lvl1pPr marL="302260" indent="-302260" algn="just" defTabSz="913765" rtl="0" eaLnBrk="1" fontAlgn="base" latinLnBrk="0" hangingPunct="1">
              <a:lnSpc>
                <a:spcPct val="140000"/>
              </a:lnSpc>
              <a:spcBef>
                <a:spcPts val="790"/>
              </a:spcBef>
              <a:buClr>
                <a:schemeClr val="bg1">
                  <a:lumMod val="50000"/>
                </a:schemeClr>
              </a:buClr>
              <a:buSzPct val="60000"/>
              <a:buFont typeface="Wingdings" panose="05000000000000000000" pitchFamily="2" charset="2"/>
              <a:buChar char="l"/>
              <a:defRPr sz="2800" kern="1200" baseline="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Huawei Sans" panose="020C0503030203020204" pitchFamily="34" charset="0"/>
              </a:defRPr>
            </a:lvl1pPr>
            <a:lvl2pPr marL="654685" indent="-252095" algn="l" defTabSz="913765" rtl="0" eaLnBrk="1" fontAlgn="ctr" latinLnBrk="0" hangingPunct="1">
              <a:lnSpc>
                <a:spcPct val="140000"/>
              </a:lnSpc>
              <a:spcBef>
                <a:spcPts val="720"/>
              </a:spcBef>
              <a:buClrTx/>
              <a:buSzPct val="50000"/>
              <a:buFont typeface="Wingdings" panose="05000000000000000000" pitchFamily="2" charset="2"/>
              <a:buChar char="p"/>
              <a:defRPr sz="2400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2pPr>
            <a:lvl3pPr marL="1003935" indent="-201295" algn="l" defTabSz="913765" rtl="0" eaLnBrk="1" fontAlgn="ctr" latinLnBrk="0" hangingPunct="1">
              <a:lnSpc>
                <a:spcPct val="140000"/>
              </a:lnSpc>
              <a:spcBef>
                <a:spcPts val="650"/>
              </a:spcBef>
              <a:buClrTx/>
              <a:buSzPct val="50000"/>
              <a:buFont typeface="Wingdings" panose="05000000000000000000" pitchFamily="2" charset="2"/>
              <a:buChar char="n"/>
              <a:defRPr sz="2000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3pPr>
            <a:lvl4pPr marL="1399540" indent="-198120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Char char="−"/>
              <a:defRPr sz="1600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4pPr>
            <a:lvl5pPr marL="1802765" indent="-201295" algn="l" defTabSz="913765" rtl="0" eaLnBrk="1" fontAlgn="ctr" latinLnBrk="0" hangingPunct="1">
              <a:lnSpc>
                <a:spcPct val="140000"/>
              </a:lnSpc>
              <a:spcBef>
                <a:spcPts val="575"/>
              </a:spcBef>
              <a:buFont typeface="Huawei Sans" panose="020C0503030203020204" pitchFamily="34" charset="0"/>
              <a:buNone/>
              <a:defRPr sz="1400" kern="1200">
                <a:solidFill>
                  <a:schemeClr val="tx1"/>
                </a:solidFill>
                <a:latin typeface="Huawei Sans" panose="020C0503030203020204" pitchFamily="34" charset="0"/>
                <a:ea typeface="方正兰亭黑简体" panose="02000000000000000000" pitchFamily="2" charset="-122"/>
                <a:cs typeface="+mn-cs"/>
              </a:defRPr>
            </a:lvl5pPr>
            <a:lvl6pPr marL="25133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05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77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4930" indent="-228600" algn="l" defTabSz="913765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方正兰亭黑简体" panose="02000000000000000000" pitchFamily="2" charset="-122"/>
              </a:rPr>
              <a:t>代码版本管理</a:t>
            </a:r>
            <a:endParaRPr lang="en-US" altLang="zh-CN" sz="2400" dirty="0">
              <a:latin typeface="方正兰亭黑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方正兰亭黑简体" panose="02000000000000000000" pitchFamily="2" charset="-122"/>
              </a:rPr>
              <a:t>版本控制：</a:t>
            </a:r>
          </a:p>
          <a:p>
            <a:pPr lvl="1">
              <a:lnSpc>
                <a:spcPct val="150000"/>
              </a:lnSpc>
            </a:pPr>
            <a:r>
              <a:rPr lang="en-US" altLang="zh-CN" sz="1800" dirty="0">
                <a:latin typeface="方正兰亭黑简体" panose="02000000000000000000" pitchFamily="2" charset="-122"/>
              </a:rPr>
              <a:t>Git</a:t>
            </a:r>
            <a:r>
              <a:rPr lang="zh-CN" altLang="en-US" sz="1800" dirty="0">
                <a:latin typeface="方正兰亭黑简体" panose="02000000000000000000" pitchFamily="2" charset="-122"/>
              </a:rPr>
              <a:t>可以跟踪每一次代码变更，方便回溯历史版本，查看代码的变更记录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方正兰亭黑简体" panose="02000000000000000000" pitchFamily="2" charset="-122"/>
              </a:rPr>
              <a:t>通过分支管理，可以同时进行多个功能的开发和测试，而不会影响主分支的稳定性</a:t>
            </a: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方正兰亭黑简体" panose="02000000000000000000" pitchFamily="2" charset="-122"/>
              </a:rPr>
              <a:t>协同工作：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方正兰亭黑简体" panose="02000000000000000000" pitchFamily="2" charset="-122"/>
              </a:rPr>
              <a:t>支持多人协作，多个开发者可以同时对同一个项目进行修改和提交，大大提高了开发效率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方正兰亭黑简体" panose="02000000000000000000" pitchFamily="2" charset="-122"/>
              </a:rPr>
              <a:t>通过</a:t>
            </a:r>
            <a:r>
              <a:rPr lang="en-US" altLang="zh-CN" sz="1800" dirty="0">
                <a:latin typeface="方正兰亭黑简体" panose="02000000000000000000" pitchFamily="2" charset="-122"/>
              </a:rPr>
              <a:t>Pull Request</a:t>
            </a:r>
            <a:r>
              <a:rPr lang="zh-CN" altLang="en-US" sz="1800" dirty="0">
                <a:latin typeface="方正兰亭黑简体" panose="02000000000000000000" pitchFamily="2" charset="-122"/>
              </a:rPr>
              <a:t>功能，团队成员可以进行代码审查，确保代码质量</a:t>
            </a:r>
            <a:endParaRPr lang="en-US" altLang="zh-CN" sz="1800" dirty="0">
              <a:latin typeface="方正兰亭黑简体" panose="020000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86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</a:p>
          <a:p>
            <a:pPr>
              <a:lnSpc>
                <a:spcPts val="3600"/>
              </a:lnSpc>
            </a:pP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3.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26726052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方正兰亭黑简体" panose="02000000000000000000" pitchFamily="2" charset="-122"/>
              </a:rPr>
              <a:t>开发者测试主要环节</a:t>
            </a:r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090168-FB20-4E11-8A5D-98AC3B4F711F}"/>
              </a:ext>
            </a:extLst>
          </p:cNvPr>
          <p:cNvGrpSpPr/>
          <p:nvPr/>
        </p:nvGrpSpPr>
        <p:grpSpPr>
          <a:xfrm>
            <a:off x="700118" y="1181495"/>
            <a:ext cx="11039552" cy="1460197"/>
            <a:chOff x="700118" y="1181495"/>
            <a:chExt cx="11039552" cy="1460197"/>
          </a:xfrm>
        </p:grpSpPr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9B8323F-642C-4349-B3DA-121A04CC5B96}"/>
                </a:ext>
              </a:extLst>
            </p:cNvPr>
            <p:cNvSpPr txBox="1"/>
            <p:nvPr/>
          </p:nvSpPr>
          <p:spPr>
            <a:xfrm>
              <a:off x="6755772" y="2055689"/>
              <a:ext cx="15158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srgbClr val="C00000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测试</a:t>
              </a:r>
              <a:r>
                <a:rPr lang="zh-CN" altLang="en-US" sz="1600" kern="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代码上库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6D271286-FD25-45E2-BF0D-9142D4F80B40}"/>
                </a:ext>
              </a:extLst>
            </p:cNvPr>
            <p:cNvSpPr txBox="1"/>
            <p:nvPr/>
          </p:nvSpPr>
          <p:spPr>
            <a:xfrm>
              <a:off x="9787762" y="2060320"/>
              <a:ext cx="14333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600" kern="0" dirty="0">
                  <a:solidFill>
                    <a:srgbClr val="C00000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功能</a:t>
              </a:r>
              <a:r>
                <a:rPr lang="zh-CN" altLang="en-US" sz="1600" kern="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代码上库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12BA630C-3F91-4C1F-87F5-EFB45458FF1F}"/>
                </a:ext>
              </a:extLst>
            </p:cNvPr>
            <p:cNvGrpSpPr/>
            <p:nvPr/>
          </p:nvGrpSpPr>
          <p:grpSpPr>
            <a:xfrm>
              <a:off x="700118" y="1181495"/>
              <a:ext cx="11039552" cy="1460197"/>
              <a:chOff x="7439755" y="3014502"/>
              <a:chExt cx="4111991" cy="1883071"/>
            </a:xfrm>
          </p:grpSpPr>
          <p:cxnSp>
            <p:nvCxnSpPr>
              <p:cNvPr id="49" name="直接箭头连接符 48">
                <a:extLst>
                  <a:ext uri="{FF2B5EF4-FFF2-40B4-BE49-F238E27FC236}">
                    <a16:creationId xmlns:a16="http://schemas.microsoft.com/office/drawing/2014/main" id="{84EFE660-3964-4AB4-ADAB-1ABCA3A60D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39755" y="3986900"/>
                <a:ext cx="4111991" cy="45764"/>
              </a:xfrm>
              <a:prstGeom prst="straightConnector1">
                <a:avLst/>
              </a:prstGeom>
              <a:noFill/>
              <a:ln w="57150" cap="flat" cmpd="sng" algn="ctr">
                <a:solidFill>
                  <a:srgbClr val="ED7D31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EB75376A-1998-420C-BC17-C25CB455CA95}"/>
                  </a:ext>
                </a:extLst>
              </p:cNvPr>
              <p:cNvSpPr txBox="1"/>
              <p:nvPr/>
            </p:nvSpPr>
            <p:spPr>
              <a:xfrm>
                <a:off x="9815603" y="3014502"/>
                <a:ext cx="633095" cy="436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下一个用例</a:t>
                </a:r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F6A8BEA5-BCFD-4DE1-9B52-FC48AE208A24}"/>
                  </a:ext>
                </a:extLst>
              </p:cNvPr>
              <p:cNvSpPr/>
              <p:nvPr/>
            </p:nvSpPr>
            <p:spPr>
              <a:xfrm>
                <a:off x="7807519" y="3868918"/>
                <a:ext cx="257604" cy="280440"/>
              </a:xfrm>
              <a:prstGeom prst="ellipse">
                <a:avLst/>
              </a:prstGeom>
              <a:solidFill>
                <a:srgbClr val="5B9BD5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1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91A9D243-406A-4A5A-9B54-7F2CB70D9311}"/>
                  </a:ext>
                </a:extLst>
              </p:cNvPr>
              <p:cNvSpPr txBox="1"/>
              <p:nvPr/>
            </p:nvSpPr>
            <p:spPr>
              <a:xfrm>
                <a:off x="7737721" y="3549737"/>
                <a:ext cx="547893" cy="436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kern="0" dirty="0">
                    <a:solidFill>
                      <a:srgbClr val="1D1D1A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需求澄清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34632D42-1F8B-4EE3-8DC0-63AA8BA1710C}"/>
                  </a:ext>
                </a:extLst>
              </p:cNvPr>
              <p:cNvSpPr/>
              <p:nvPr/>
            </p:nvSpPr>
            <p:spPr bwMode="auto">
              <a:xfrm>
                <a:off x="7498486" y="3014502"/>
                <a:ext cx="3933324" cy="188307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ffectLst/>
            </p:spPr>
            <p:txBody>
              <a:bodyPr vert="horz" wrap="square" lIns="91440" tIns="45720" rIns="91440" bIns="45720" numCol="1" rtlCol="0" anchor="t" anchorCtr="0" compatLnSpc="1"/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 typeface="Wingdings" panose="05000000000000000000" pitchFamily="2" charset="2"/>
                  <a:buChar char="n"/>
                  <a:tabLst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EFAE191-F147-46B1-957F-E2AAB16D37E7}"/>
                  </a:ext>
                </a:extLst>
              </p:cNvPr>
              <p:cNvSpPr txBox="1"/>
              <p:nvPr/>
            </p:nvSpPr>
            <p:spPr>
              <a:xfrm>
                <a:off x="10332909" y="4145794"/>
                <a:ext cx="377893" cy="436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dirty="0">
                    <a:solidFill>
                      <a:srgbClr val="000000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实现功能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9F50AED5-2533-413C-B3A7-96B4E8954FAB}"/>
                  </a:ext>
                </a:extLst>
              </p:cNvPr>
              <p:cNvSpPr txBox="1"/>
              <p:nvPr/>
            </p:nvSpPr>
            <p:spPr>
              <a:xfrm>
                <a:off x="8998369" y="4089440"/>
                <a:ext cx="423590" cy="4365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编写</a:t>
                </a:r>
                <a:r>
                  <a:rPr lang="zh-CN" altLang="en-US" sz="1600" kern="0" dirty="0">
                    <a:solidFill>
                      <a:srgbClr val="C00000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用例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cxnSp>
            <p:nvCxnSpPr>
              <p:cNvPr id="56" name="连接符: 肘形 55">
                <a:extLst>
                  <a:ext uri="{FF2B5EF4-FFF2-40B4-BE49-F238E27FC236}">
                    <a16:creationId xmlns:a16="http://schemas.microsoft.com/office/drawing/2014/main" id="{0054CB0D-4042-4E8D-92CD-99C20C883F18}"/>
                  </a:ext>
                </a:extLst>
              </p:cNvPr>
              <p:cNvCxnSpPr>
                <a:cxnSpLocks/>
                <a:endCxn id="57" idx="0"/>
              </p:cNvCxnSpPr>
              <p:nvPr/>
            </p:nvCxnSpPr>
            <p:spPr>
              <a:xfrm rot="10800000">
                <a:off x="9177745" y="3868919"/>
                <a:ext cx="1198016" cy="153861"/>
              </a:xfrm>
              <a:prstGeom prst="bentConnector4">
                <a:avLst>
                  <a:gd name="adj1" fmla="val -60052"/>
                  <a:gd name="adj2" fmla="val 291603"/>
                </a:avLst>
              </a:prstGeom>
              <a:ln w="57150"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C16E59CA-D900-4AC3-B182-046CCF93E871}"/>
                  </a:ext>
                </a:extLst>
              </p:cNvPr>
              <p:cNvSpPr/>
              <p:nvPr/>
            </p:nvSpPr>
            <p:spPr>
              <a:xfrm>
                <a:off x="9046964" y="3868918"/>
                <a:ext cx="261562" cy="220550"/>
              </a:xfrm>
              <a:prstGeom prst="ellipse">
                <a:avLst/>
              </a:prstGeom>
              <a:solidFill>
                <a:srgbClr val="5B9BD5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3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C6496452-8520-4B62-A705-68A35DC5124B}"/>
                  </a:ext>
                </a:extLst>
              </p:cNvPr>
              <p:cNvSpPr/>
              <p:nvPr/>
            </p:nvSpPr>
            <p:spPr>
              <a:xfrm>
                <a:off x="10367844" y="3910675"/>
                <a:ext cx="261562" cy="216387"/>
              </a:xfrm>
              <a:prstGeom prst="ellipse">
                <a:avLst/>
              </a:prstGeom>
              <a:solidFill>
                <a:srgbClr val="5B9BD5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prstClr val="white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5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5D3FDD90-A1DF-4E5A-96E4-3A365DFD6A17}"/>
                  </a:ext>
                </a:extLst>
              </p:cNvPr>
              <p:cNvSpPr/>
              <p:nvPr/>
            </p:nvSpPr>
            <p:spPr>
              <a:xfrm>
                <a:off x="9877020" y="3456964"/>
                <a:ext cx="273858" cy="216387"/>
              </a:xfrm>
              <a:prstGeom prst="ellipse">
                <a:avLst/>
              </a:prstGeom>
              <a:solidFill>
                <a:srgbClr val="5B9BD5">
                  <a:lumMod val="75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wrap="square" rtlCol="0" anchor="ctr"/>
              <a:lstStyle>
                <a:lvl1pPr marL="0" indent="0">
                  <a:defRPr sz="1100">
                    <a:latin typeface="+mn-lt"/>
                    <a:ea typeface="+mn-ea"/>
                    <a:cs typeface="+mn-cs"/>
                  </a:defRPr>
                </a:lvl1pPr>
                <a:lvl2pPr marL="457200" indent="0">
                  <a:defRPr sz="1100">
                    <a:latin typeface="+mn-lt"/>
                    <a:ea typeface="+mn-ea"/>
                    <a:cs typeface="+mn-cs"/>
                  </a:defRPr>
                </a:lvl2pPr>
                <a:lvl3pPr marL="914400" indent="0">
                  <a:defRPr sz="1100">
                    <a:latin typeface="+mn-lt"/>
                    <a:ea typeface="+mn-ea"/>
                    <a:cs typeface="+mn-cs"/>
                  </a:defRPr>
                </a:lvl3pPr>
                <a:lvl4pPr marL="1371600" indent="0">
                  <a:defRPr sz="1100">
                    <a:latin typeface="+mn-lt"/>
                    <a:ea typeface="+mn-ea"/>
                    <a:cs typeface="+mn-cs"/>
                  </a:defRPr>
                </a:lvl4pPr>
                <a:lvl5pPr marL="1828800" indent="0">
                  <a:defRPr sz="1100">
                    <a:latin typeface="+mn-lt"/>
                    <a:ea typeface="+mn-ea"/>
                    <a:cs typeface="+mn-cs"/>
                  </a:defRPr>
                </a:lvl5pPr>
                <a:lvl6pPr marL="2286000" indent="0">
                  <a:defRPr sz="1100">
                    <a:latin typeface="+mn-lt"/>
                    <a:ea typeface="+mn-ea"/>
                    <a:cs typeface="+mn-cs"/>
                  </a:defRPr>
                </a:lvl6pPr>
                <a:lvl7pPr marL="2743200" indent="0">
                  <a:defRPr sz="1100">
                    <a:latin typeface="+mn-lt"/>
                    <a:ea typeface="+mn-ea"/>
                    <a:cs typeface="+mn-cs"/>
                  </a:defRPr>
                </a:lvl7pPr>
                <a:lvl8pPr marL="3200400" indent="0">
                  <a:defRPr sz="1100">
                    <a:latin typeface="+mn-lt"/>
                    <a:ea typeface="+mn-ea"/>
                    <a:cs typeface="+mn-cs"/>
                  </a:defRPr>
                </a:lvl8pPr>
                <a:lvl9pPr marL="3657600" indent="0">
                  <a:defRPr sz="1100"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kern="0" dirty="0">
                    <a:solidFill>
                      <a:prstClr val="white"/>
                    </a:solidFill>
                    <a:latin typeface="方正兰亭黑简体" panose="02000000000000000000" pitchFamily="2" charset="-122"/>
                    <a:ea typeface="方正兰亭黑简体" panose="02000000000000000000" pitchFamily="2" charset="-122"/>
                  </a:rPr>
                  <a:t>7</a:t>
                </a: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endParaRPr>
              </a:p>
            </p:txBody>
          </p:sp>
        </p:grp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EFFA91F2-6518-407E-921E-30FA6E6ABCAA}"/>
                </a:ext>
              </a:extLst>
            </p:cNvPr>
            <p:cNvSpPr/>
            <p:nvPr/>
          </p:nvSpPr>
          <p:spPr>
            <a:xfrm>
              <a:off x="7063139" y="1890797"/>
              <a:ext cx="702221" cy="153415"/>
            </a:xfrm>
            <a:prstGeom prst="ellipse">
              <a:avLst/>
            </a:prstGeom>
            <a:solidFill>
              <a:srgbClr val="5B9BD5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kern="0" dirty="0">
                  <a:solidFill>
                    <a:prstClr val="white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4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B2DBC000-8427-42FF-B564-9EDA63059EB4}"/>
                </a:ext>
              </a:extLst>
            </p:cNvPr>
            <p:cNvSpPr/>
            <p:nvPr/>
          </p:nvSpPr>
          <p:spPr>
            <a:xfrm>
              <a:off x="10153348" y="1879771"/>
              <a:ext cx="702221" cy="153415"/>
            </a:xfrm>
            <a:prstGeom prst="ellipse">
              <a:avLst/>
            </a:prstGeom>
            <a:solidFill>
              <a:srgbClr val="5B9BD5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1600" kern="0" dirty="0">
                  <a:solidFill>
                    <a:prstClr val="white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6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DEB488A6-835D-4581-9B2F-BE4E596E6384}"/>
                </a:ext>
              </a:extLst>
            </p:cNvPr>
            <p:cNvSpPr txBox="1"/>
            <p:nvPr/>
          </p:nvSpPr>
          <p:spPr>
            <a:xfrm>
              <a:off x="3406254" y="1960261"/>
              <a:ext cx="143596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用例设计</a:t>
              </a:r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81F71593-7D95-4E0D-BDC9-A0D6CA71B7CB}"/>
                </a:ext>
              </a:extLst>
            </p:cNvPr>
            <p:cNvSpPr/>
            <p:nvPr/>
          </p:nvSpPr>
          <p:spPr>
            <a:xfrm>
              <a:off x="3548632" y="1826061"/>
              <a:ext cx="702221" cy="218053"/>
            </a:xfrm>
            <a:prstGeom prst="ellipse">
              <a:avLst/>
            </a:prstGeom>
            <a:solidFill>
              <a:srgbClr val="5B9BD5">
                <a:lumMod val="75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2</a:t>
              </a:r>
              <a:endPara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E347240B-5132-403D-9C99-0B90104EA679}"/>
              </a:ext>
            </a:extLst>
          </p:cNvPr>
          <p:cNvGrpSpPr/>
          <p:nvPr/>
        </p:nvGrpSpPr>
        <p:grpSpPr>
          <a:xfrm>
            <a:off x="817655" y="2918824"/>
            <a:ext cx="10809901" cy="3280210"/>
            <a:chOff x="817655" y="2954311"/>
            <a:chExt cx="10809901" cy="3280210"/>
          </a:xfrm>
        </p:grpSpPr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32FCD159-CA92-4DE0-8775-C53749FF3FCF}"/>
                </a:ext>
              </a:extLst>
            </p:cNvPr>
            <p:cNvSpPr txBox="1"/>
            <p:nvPr/>
          </p:nvSpPr>
          <p:spPr>
            <a:xfrm>
              <a:off x="2708310" y="3405871"/>
              <a:ext cx="3184832" cy="2780084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marL="174625" marR="0" lvl="0" algn="l" defTabSz="997585" latinLnBrk="0">
                <a:lnSpc>
                  <a:spcPct val="120000"/>
                </a:lnSpc>
                <a:buClrTx/>
                <a:buSzTx/>
                <a:buFontTx/>
                <a:buNone/>
                <a:tabLst/>
                <a:defRPr kumimoji="1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首先用例设计（</a:t>
              </a:r>
              <a:r>
                <a:rPr kumimoji="0" lang="zh-CN" altLang="en-US" sz="160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正交分解法</a:t>
              </a:r>
              <a:r>
                <a:rPr kumimoji="0" lang="en-US" altLang="zh-CN" sz="160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+</a:t>
              </a:r>
              <a:r>
                <a:rPr kumimoji="0" lang="zh-CN" altLang="en-US" sz="1600" dirty="0">
                  <a:solidFill>
                    <a:schemeClr val="tx1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最小等价类</a:t>
              </a: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），</a:t>
              </a:r>
              <a:endParaRPr kumimoji="0" lang="en-US" altLang="zh-CN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  <a:p>
              <a:pPr>
                <a:lnSpc>
                  <a:spcPct val="150000"/>
                </a:lnSpc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然后编写测试用例，</a:t>
              </a: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只关注需求，测试程序的输入输出，不关注中间过程</a:t>
              </a: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。这一步确保了开发过程中的每个功能都能满足需求，并且减少了后期发现问题的风险</a:t>
              </a:r>
              <a:endParaRPr lang="en-US" altLang="zh-CN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8680A6CF-6911-4320-B70C-5DE6FC87571A}"/>
                </a:ext>
              </a:extLst>
            </p:cNvPr>
            <p:cNvSpPr txBox="1"/>
            <p:nvPr/>
          </p:nvSpPr>
          <p:spPr>
            <a:xfrm>
              <a:off x="2709994" y="2954311"/>
              <a:ext cx="3184832" cy="4290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87313" lvl="0" defTabSz="91447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用例</a:t>
              </a:r>
              <a:r>
                <a:rPr lang="zh-CN" altLang="en-US" sz="16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设计及编写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10342CBA-2C48-4B76-99B7-85340A6E6DFA}"/>
                </a:ext>
              </a:extLst>
            </p:cNvPr>
            <p:cNvSpPr txBox="1"/>
            <p:nvPr/>
          </p:nvSpPr>
          <p:spPr>
            <a:xfrm>
              <a:off x="7964549" y="3405871"/>
              <a:ext cx="1730200" cy="282865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marL="174625" marR="0" lvl="0" algn="l" defTabSz="997585" latinLnBrk="0">
                <a:lnSpc>
                  <a:spcPct val="120000"/>
                </a:lnSpc>
                <a:buClrTx/>
                <a:buSzTx/>
                <a:buFontTx/>
                <a:buNone/>
                <a:tabLst/>
                <a:defRPr kumimoji="1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kumimoji="0" lang="zh-CN" altLang="zh-CN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用最简单的方式满足当前需求，不考虑其他需求</a:t>
              </a:r>
              <a:endParaRPr lang="en-US" altLang="zh-CN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6C9EEAA5-0FF4-471C-A966-B75FBC6E214A}"/>
                </a:ext>
              </a:extLst>
            </p:cNvPr>
            <p:cNvSpPr txBox="1"/>
            <p:nvPr/>
          </p:nvSpPr>
          <p:spPr>
            <a:xfrm>
              <a:off x="7978730" y="2954311"/>
              <a:ext cx="1739070" cy="4290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87313" lvl="0" defTabSz="91447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zh-CN" altLang="en-US" sz="160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实现功能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928727E1-BAD7-43E9-B0AA-9140D60FB570}"/>
                </a:ext>
              </a:extLst>
            </p:cNvPr>
            <p:cNvSpPr txBox="1"/>
            <p:nvPr/>
          </p:nvSpPr>
          <p:spPr>
            <a:xfrm>
              <a:off x="6031742" y="3405871"/>
              <a:ext cx="1795894" cy="280540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marL="174625" marR="0" lvl="0" algn="l" defTabSz="997585" latinLnBrk="0">
                <a:lnSpc>
                  <a:spcPct val="120000"/>
                </a:lnSpc>
                <a:buClrTx/>
                <a:buSzTx/>
                <a:buFontTx/>
                <a:buNone/>
                <a:tabLst/>
                <a:defRPr kumimoji="1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编写</a:t>
              </a: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rgbClr val="C00000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测试用例，编译通过</a:t>
              </a: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后，代码入库，确保测试用例的独立性</a:t>
              </a:r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DAD25359-F745-41E3-947F-A51E33AAC96F}"/>
                </a:ext>
              </a:extLst>
            </p:cNvPr>
            <p:cNvSpPr txBox="1"/>
            <p:nvPr/>
          </p:nvSpPr>
          <p:spPr>
            <a:xfrm>
              <a:off x="6031740" y="2954311"/>
              <a:ext cx="1795896" cy="4290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87313" lvl="0" defTabSz="91447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测试代码上库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80626690-DFE9-4F10-9B5D-098DFB925C24}"/>
                </a:ext>
              </a:extLst>
            </p:cNvPr>
            <p:cNvSpPr txBox="1"/>
            <p:nvPr/>
          </p:nvSpPr>
          <p:spPr>
            <a:xfrm>
              <a:off x="9831662" y="3405871"/>
              <a:ext cx="1795894" cy="280540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marL="174625" marR="0" lvl="0" algn="l" defTabSz="997585" latinLnBrk="0">
                <a:lnSpc>
                  <a:spcPct val="120000"/>
                </a:lnSpc>
                <a:buClrTx/>
                <a:buSzTx/>
                <a:buFontTx/>
                <a:buNone/>
                <a:tabLst/>
                <a:defRPr kumimoji="1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实现功能，编译运行通过后，代码入库，确保功能代码和测试代码的修改是分开的</a:t>
              </a:r>
              <a:endParaRPr lang="en-US" altLang="zh-CN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3D153279-2B16-43B0-9980-380591698111}"/>
                </a:ext>
              </a:extLst>
            </p:cNvPr>
            <p:cNvSpPr txBox="1"/>
            <p:nvPr/>
          </p:nvSpPr>
          <p:spPr>
            <a:xfrm>
              <a:off x="9831659" y="2954311"/>
              <a:ext cx="1795897" cy="4290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87313" lvl="0" defTabSz="91447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功能</a:t>
              </a:r>
              <a:r>
                <a:rPr lang="zh-CN" altLang="en-US" sz="1600" b="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代码上库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21ABB3FE-33E8-4721-86D2-43D6A6C27FDD}"/>
                </a:ext>
              </a:extLst>
            </p:cNvPr>
            <p:cNvSpPr txBox="1"/>
            <p:nvPr/>
          </p:nvSpPr>
          <p:spPr>
            <a:xfrm>
              <a:off x="817655" y="2954311"/>
              <a:ext cx="1779209" cy="42906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wrap="square" lIns="36000" tIns="36000" rIns="36000" bIns="36000" rtlCol="0" anchor="ctr">
              <a:noAutofit/>
            </a:bodyPr>
            <a:lstStyle/>
            <a:p>
              <a:pPr marL="87313" lvl="0" defTabSz="914478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600" b="0" dirty="0">
                  <a:solidFill>
                    <a:srgbClr val="1D1D1A"/>
                  </a:solidFill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需求澄清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AEE25767-D458-4546-87F2-F38B6A03F841}"/>
                </a:ext>
              </a:extLst>
            </p:cNvPr>
            <p:cNvSpPr txBox="1"/>
            <p:nvPr/>
          </p:nvSpPr>
          <p:spPr>
            <a:xfrm>
              <a:off x="817655" y="3405871"/>
              <a:ext cx="1795894" cy="2805405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txBody>
            <a:bodyPr wrap="square" lIns="0" tIns="0" rIns="0" bIns="0" rtlCol="0" anchor="ctr">
              <a:noAutofit/>
            </a:bodyPr>
            <a:lstStyle>
              <a:defPPr>
                <a:defRPr lang="en-US"/>
              </a:defPPr>
              <a:lvl1pPr marL="174625" marR="0" lvl="0" algn="l" defTabSz="997585" latinLnBrk="0">
                <a:lnSpc>
                  <a:spcPct val="120000"/>
                </a:lnSpc>
                <a:buClrTx/>
                <a:buSzTx/>
                <a:buFontTx/>
                <a:buNone/>
                <a:tabLst/>
                <a:defRPr kumimoji="1" sz="1400" b="0" i="0" u="none" strike="noStrike" cap="none" spc="0" normalizeH="0" baseline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50000"/>
                </a:lnSpc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需求澄清确保团队和客户对项目目标和期望</a:t>
              </a: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一致</a:t>
              </a: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方正兰亭黑简体" panose="02000000000000000000" pitchFamily="2" charset="-122"/>
                  <a:ea typeface="方正兰亭黑简体" panose="02000000000000000000" pitchFamily="2" charset="-122"/>
                </a:rPr>
                <a:t>，从而提高效率和质量，减少风险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83121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 </a:t>
            </a:r>
            <a:r>
              <a:rPr lang="en-US" altLang="zh-CN" dirty="0"/>
              <a:t>Rust </a:t>
            </a:r>
            <a:r>
              <a:rPr lang="zh-CN" altLang="en-US" dirty="0"/>
              <a:t>语言编写测试用例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33B6FF-C0FA-418B-B97E-EE05390C377A}"/>
              </a:ext>
            </a:extLst>
          </p:cNvPr>
          <p:cNvSpPr/>
          <p:nvPr/>
        </p:nvSpPr>
        <p:spPr>
          <a:xfrm>
            <a:off x="731838" y="1231900"/>
            <a:ext cx="10862468" cy="4961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测试用例文件命名</a:t>
            </a:r>
          </a:p>
          <a:p>
            <a:pPr lvl="1">
              <a:lnSpc>
                <a:spcPct val="160000"/>
              </a:lnSpc>
            </a:pPr>
            <a:r>
              <a:rPr lang="zh-CN" altLang="en-US" sz="2000" dirty="0"/>
              <a:t>文件名通常命名为 xxx</a:t>
            </a:r>
            <a:r>
              <a:rPr lang="en-US" altLang="zh-CN" sz="2000" dirty="0"/>
              <a:t>_t</a:t>
            </a:r>
            <a:r>
              <a:rPr lang="zh-CN" altLang="en-US" sz="2000" dirty="0"/>
              <a:t>est.</a:t>
            </a:r>
            <a:r>
              <a:rPr lang="en-US" altLang="zh-CN" sz="2000" dirty="0" err="1"/>
              <a:t>rs</a:t>
            </a:r>
            <a:r>
              <a:rPr lang="zh-CN" altLang="en-US" sz="2000" dirty="0"/>
              <a:t>，例如 </a:t>
            </a:r>
            <a:r>
              <a:rPr lang="en-US" altLang="zh-CN" sz="2000" dirty="0"/>
              <a:t>e</a:t>
            </a:r>
            <a:r>
              <a:rPr lang="zh-CN" altLang="en-US" sz="2000" dirty="0"/>
              <a:t>xecutor</a:t>
            </a:r>
            <a:r>
              <a:rPr lang="en-US" altLang="zh-CN" sz="2000" dirty="0"/>
              <a:t>_t</a:t>
            </a:r>
            <a:r>
              <a:rPr lang="zh-CN" altLang="en-US" sz="2000" dirty="0"/>
              <a:t>est.</a:t>
            </a:r>
            <a:r>
              <a:rPr lang="en-US" altLang="zh-CN" sz="2000" dirty="0"/>
              <a:t>rs</a:t>
            </a:r>
          </a:p>
          <a:p>
            <a:pPr marL="285750" lvl="1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测试模块命名</a:t>
            </a:r>
            <a:endParaRPr lang="en-US" altLang="zh-CN" sz="2000" dirty="0"/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方正兰亭黑简体" panose="02000000000000000000" pitchFamily="2" charset="-122"/>
              </a:rPr>
              <a:t>表示一组相关测试的名字，命名体现测试对象或测试的功能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测试函数命名</a:t>
            </a:r>
            <a:endParaRPr lang="en-US" altLang="zh-CN" sz="2000" dirty="0"/>
          </a:p>
          <a:p>
            <a:pPr lvl="1">
              <a:lnSpc>
                <a:spcPct val="160000"/>
              </a:lnSpc>
            </a:pPr>
            <a:r>
              <a:rPr lang="zh-CN" altLang="en-US" sz="2000" dirty="0"/>
              <a:t>表示单个测试函数的名字，一个测试用例一个测试函数</a:t>
            </a:r>
            <a:endParaRPr lang="en-US" altLang="zh-CN" sz="2000" dirty="0"/>
          </a:p>
          <a:p>
            <a:pPr marL="285750" lvl="1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测试函数体</a:t>
            </a:r>
            <a:endParaRPr lang="en-US" altLang="zh-CN" sz="2000" dirty="0"/>
          </a:p>
          <a:p>
            <a:pPr lvl="1">
              <a:lnSpc>
                <a:spcPct val="160000"/>
              </a:lnSpc>
            </a:pPr>
            <a:r>
              <a:rPr lang="zh-CN" altLang="en-US" sz="2000" dirty="0">
                <a:latin typeface="方正兰亭黑简体" panose="02000000000000000000" pitchFamily="2" charset="-122"/>
              </a:rPr>
              <a:t>按</a:t>
            </a:r>
            <a:r>
              <a:rPr lang="en-US" altLang="zh-CN" sz="2000" dirty="0"/>
              <a:t>Given-When-Then</a:t>
            </a:r>
            <a:r>
              <a:rPr lang="zh-CN" altLang="en-US" sz="2000" dirty="0"/>
              <a:t>三段式的顺序写测试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断言宏</a:t>
            </a:r>
            <a:endParaRPr lang="en-US" altLang="zh-CN" sz="2000" dirty="0"/>
          </a:p>
          <a:p>
            <a:pPr lvl="1">
              <a:lnSpc>
                <a:spcPct val="160000"/>
              </a:lnSpc>
            </a:pPr>
            <a:r>
              <a:rPr lang="en-US" altLang="zh-CN" sz="2000" dirty="0"/>
              <a:t>assert_eq!</a:t>
            </a:r>
            <a:r>
              <a:rPr lang="zh-CN" altLang="en-US" sz="2000" dirty="0"/>
              <a:t>（</a:t>
            </a:r>
            <a:r>
              <a:rPr lang="en-US" altLang="zh-CN" sz="2000" dirty="0"/>
              <a:t>val1</a:t>
            </a:r>
            <a:r>
              <a:rPr lang="zh-CN" altLang="en-US" sz="2000" dirty="0"/>
              <a:t>，</a:t>
            </a:r>
            <a:r>
              <a:rPr lang="en-US" altLang="zh-CN" sz="2000" dirty="0"/>
              <a:t>val2</a:t>
            </a:r>
            <a:r>
              <a:rPr lang="zh-CN" altLang="en-US" sz="2000" dirty="0"/>
              <a:t>）：断言两个值是否相等，如果不相等，则用例执行失败</a:t>
            </a:r>
          </a:p>
        </p:txBody>
      </p:sp>
    </p:spTree>
    <p:extLst>
      <p:ext uri="{BB962C8B-B14F-4D97-AF65-F5344CB8AC3E}">
        <p14:creationId xmlns:p14="http://schemas.microsoft.com/office/powerpoint/2010/main" val="39741794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测试用例</a:t>
            </a:r>
            <a:r>
              <a:rPr lang="en-US" altLang="zh-CN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r>
              <a:rPr lang="zh-CN" altLang="en-US" dirty="0">
                <a:solidFill>
                  <a:srgbClr val="000000"/>
                </a:solidFill>
                <a:latin typeface="+mn-ea"/>
                <a:ea typeface="+mn-ea"/>
              </a:rPr>
              <a:t>：移动指令支持</a:t>
            </a:r>
            <a:r>
              <a:rPr lang="zh-CN" altLang="en-US" dirty="0"/>
              <a:t>，向东移动</a:t>
            </a:r>
            <a:r>
              <a:rPr lang="en-US" altLang="zh-CN" dirty="0"/>
              <a:t>1</a:t>
            </a:r>
            <a:r>
              <a:rPr lang="zh-CN" altLang="en-US" dirty="0"/>
              <a:t>步</a:t>
            </a:r>
            <a:r>
              <a:rPr lang="en-US" altLang="zh-CN" dirty="0"/>
              <a:t>-</a:t>
            </a:r>
            <a:r>
              <a:rPr lang="zh-CN" altLang="en-US" dirty="0"/>
              <a:t>测试用例设计</a:t>
            </a:r>
            <a:endParaRPr lang="zh-CN" altLang="en-US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31838" y="965079"/>
            <a:ext cx="8214888" cy="425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tests</a:t>
            </a:r>
            <a:r>
              <a:rPr lang="zh-CN" altLang="en-US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目录下：创建测试文件</a:t>
            </a:r>
            <a:r>
              <a:rPr lang="en-US" altLang="zh-CN" sz="16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executor_test.rs</a:t>
            </a:r>
            <a:endParaRPr lang="zh-CN" altLang="en-US" sz="16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50EBEC-FB0C-4B3D-B800-9923D2BFBC6E}"/>
              </a:ext>
            </a:extLst>
          </p:cNvPr>
          <p:cNvSpPr/>
          <p:nvPr/>
        </p:nvSpPr>
        <p:spPr>
          <a:xfrm>
            <a:off x="731838" y="1481028"/>
            <a:ext cx="10494962" cy="4770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59900"/>
                </a:solidFill>
              </a:rPr>
              <a:t>use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657B83"/>
                </a:solidFill>
              </a:rPr>
              <a:t>{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657B83"/>
                </a:solidFill>
              </a:rPr>
              <a:t>};</a:t>
            </a:r>
            <a:r>
              <a:rPr lang="en-US" altLang="zh-CN" sz="1600" i="1" dirty="0">
                <a:solidFill>
                  <a:srgbClr val="93A1A1"/>
                </a:solidFill>
              </a:rPr>
              <a:t> // </a:t>
            </a:r>
            <a:r>
              <a:rPr lang="zh-CN" altLang="en-US" sz="1600" i="1" dirty="0">
                <a:solidFill>
                  <a:srgbClr val="93A1A1"/>
                </a:solidFill>
              </a:rPr>
              <a:t>优先最细粒度的引用方式，如果存在名字冲突，再使用引入模块的方式</a:t>
            </a:r>
            <a:endParaRPr lang="zh-CN" altLang="en-US" sz="1600" dirty="0">
              <a:solidFill>
                <a:srgbClr val="657B83"/>
              </a:solidFill>
            </a:endParaRPr>
          </a:p>
          <a:p>
            <a:br>
              <a:rPr lang="zh-CN" altLang="en-US" sz="1600" dirty="0">
                <a:solidFill>
                  <a:srgbClr val="657B83"/>
                </a:solidFill>
              </a:rPr>
            </a:br>
            <a:r>
              <a:rPr lang="en-US" altLang="zh-CN" sz="1600" b="1" dirty="0">
                <a:solidFill>
                  <a:srgbClr val="859900"/>
                </a:solidFill>
              </a:rPr>
              <a:t>mod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 err="1">
                <a:solidFill>
                  <a:srgbClr val="CB4B16"/>
                </a:solidFill>
              </a:rPr>
              <a:t>move_tests</a:t>
            </a:r>
            <a:r>
              <a:rPr lang="en-US" altLang="zh-CN" sz="1600" dirty="0">
                <a:solidFill>
                  <a:srgbClr val="657B83"/>
                </a:solidFill>
              </a:rPr>
              <a:t> {</a:t>
            </a:r>
            <a:r>
              <a:rPr lang="en-US" altLang="zh-CN" sz="1600" i="1" dirty="0">
                <a:solidFill>
                  <a:srgbClr val="93A1A1"/>
                </a:solidFill>
              </a:rPr>
              <a:t> // </a:t>
            </a:r>
            <a:r>
              <a:rPr lang="zh-CN" altLang="en-US" sz="1600" i="1" dirty="0">
                <a:solidFill>
                  <a:srgbClr val="93A1A1"/>
                </a:solidFill>
              </a:rPr>
              <a:t>通过测试的功能对测试用例进行分组</a:t>
            </a:r>
            <a:endParaRPr lang="zh-CN" altLang="en-US" sz="1600" dirty="0">
              <a:solidFill>
                <a:srgbClr val="657B83"/>
              </a:solidFill>
            </a:endParaRPr>
          </a:p>
          <a:p>
            <a:r>
              <a:rPr lang="zh-CN" altLang="en-US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dirty="0">
                <a:solidFill>
                  <a:srgbClr val="859900"/>
                </a:solidFill>
              </a:rPr>
              <a:t>use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super::*</a:t>
            </a:r>
            <a:r>
              <a:rPr lang="en-US" altLang="zh-CN" sz="1600" dirty="0">
                <a:solidFill>
                  <a:srgbClr val="657B83"/>
                </a:solidFill>
              </a:rPr>
              <a:t>;</a:t>
            </a:r>
            <a:r>
              <a:rPr lang="en-US" altLang="zh-CN" sz="1600" i="1" dirty="0">
                <a:solidFill>
                  <a:srgbClr val="93A1A1"/>
                </a:solidFill>
              </a:rPr>
              <a:t> // </a:t>
            </a:r>
            <a:r>
              <a:rPr lang="zh-CN" altLang="en-US" sz="1600" i="1" dirty="0">
                <a:solidFill>
                  <a:srgbClr val="93A1A1"/>
                </a:solidFill>
              </a:rPr>
              <a:t>通过通配符方式导入项目很容易导致名字冲突，一般只允许在小范围内使用</a:t>
            </a:r>
            <a:endParaRPr lang="zh-CN" altLang="en-US" sz="1600" dirty="0">
              <a:solidFill>
                <a:srgbClr val="657B83"/>
              </a:solidFill>
            </a:endParaRPr>
          </a:p>
          <a:p>
            <a:br>
              <a:rPr lang="zh-CN" altLang="en-US" sz="1600" dirty="0">
                <a:solidFill>
                  <a:srgbClr val="657B83"/>
                </a:solidFill>
              </a:rPr>
            </a:br>
            <a:r>
              <a:rPr lang="zh-CN" altLang="en-US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dirty="0">
                <a:solidFill>
                  <a:srgbClr val="657B83"/>
                </a:solidFill>
              </a:rPr>
              <a:t>#[</a:t>
            </a:r>
            <a:r>
              <a:rPr lang="en-US" altLang="zh-CN" sz="1600" dirty="0">
                <a:solidFill>
                  <a:srgbClr val="268BD2"/>
                </a:solidFill>
              </a:rPr>
              <a:t>test</a:t>
            </a:r>
            <a:r>
              <a:rPr lang="en-US" altLang="zh-CN" sz="1600" dirty="0">
                <a:solidFill>
                  <a:srgbClr val="657B83"/>
                </a:solidFill>
              </a:rPr>
              <a:t>]</a:t>
            </a:r>
          </a:p>
          <a:p>
            <a:r>
              <a:rPr lang="en-US" altLang="zh-CN" sz="1600" i="1" dirty="0">
                <a:solidFill>
                  <a:srgbClr val="93A1A1"/>
                </a:solidFill>
              </a:rPr>
              <a:t>    // </a:t>
            </a:r>
            <a:r>
              <a:rPr lang="zh-CN" altLang="en-US" sz="1600" i="1" dirty="0">
                <a:solidFill>
                  <a:srgbClr val="93A1A1"/>
                </a:solidFill>
              </a:rPr>
              <a:t>测试用例名清晰地描述了预期行为和测试的条件，更容易理解测试在验证什么</a:t>
            </a:r>
            <a:endParaRPr lang="zh-CN" altLang="en-US" sz="1600" dirty="0">
              <a:solidFill>
                <a:srgbClr val="657B83"/>
              </a:solidFill>
            </a:endParaRPr>
          </a:p>
          <a:p>
            <a:r>
              <a:rPr lang="zh-CN" altLang="en-US" sz="1600" dirty="0">
                <a:solidFill>
                  <a:srgbClr val="657B83"/>
                </a:solidFill>
              </a:rPr>
              <a:t>    </a:t>
            </a:r>
            <a:r>
              <a:rPr lang="en-US" altLang="zh-CN" sz="1600" dirty="0" err="1">
                <a:solidFill>
                  <a:srgbClr val="859900"/>
                </a:solidFill>
              </a:rPr>
              <a:t>fn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should_return_x_plus_1_given_command_is_m_and_facing_is_e</a:t>
            </a:r>
            <a:r>
              <a:rPr lang="en-US" altLang="zh-CN" sz="1600" dirty="0">
                <a:solidFill>
                  <a:srgbClr val="657B83"/>
                </a:solidFill>
              </a:rPr>
              <a:t>() {</a:t>
            </a:r>
          </a:p>
          <a:p>
            <a:r>
              <a:rPr lang="en-US" altLang="zh-CN" sz="1600" i="1" dirty="0">
                <a:solidFill>
                  <a:srgbClr val="93A1A1"/>
                </a:solidFill>
              </a:rPr>
              <a:t>        // given  </a:t>
            </a:r>
            <a:r>
              <a:rPr lang="zh-CN" altLang="en-US" sz="1600" i="1" dirty="0">
                <a:solidFill>
                  <a:srgbClr val="93A1A1"/>
                </a:solidFill>
              </a:rPr>
              <a:t>测试函数体采用</a:t>
            </a:r>
            <a:r>
              <a:rPr lang="en-US" altLang="zh-CN" sz="1600" i="1" dirty="0">
                <a:solidFill>
                  <a:srgbClr val="93A1A1"/>
                </a:solidFill>
              </a:rPr>
              <a:t>Given-When-Then</a:t>
            </a:r>
            <a:r>
              <a:rPr lang="zh-CN" altLang="en-US" sz="1600" i="1" dirty="0">
                <a:solidFill>
                  <a:srgbClr val="93A1A1"/>
                </a:solidFill>
              </a:rPr>
              <a:t>三段式写法</a:t>
            </a:r>
            <a:endParaRPr lang="zh-CN" altLang="en-US" sz="1600" dirty="0">
              <a:solidFill>
                <a:srgbClr val="657B83"/>
              </a:solidFill>
            </a:endParaRPr>
          </a:p>
          <a:p>
            <a:r>
              <a:rPr lang="zh-CN" altLang="en-US" sz="1600" dirty="0">
                <a:solidFill>
                  <a:srgbClr val="657B83"/>
                </a:solidFill>
              </a:rPr>
              <a:t>    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268BD2"/>
                </a:solidFill>
              </a:rPr>
              <a:t>new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2AA198"/>
                </a:solidFill>
              </a:rPr>
              <a:t>'E'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i="1" dirty="0">
                <a:solidFill>
                  <a:srgbClr val="93A1A1"/>
                </a:solidFill>
              </a:rPr>
              <a:t>        // </a:t>
            </a:r>
            <a:r>
              <a:rPr lang="zh-CN" altLang="en-US" sz="1600" i="1" dirty="0">
                <a:solidFill>
                  <a:srgbClr val="93A1A1"/>
                </a:solidFill>
              </a:rPr>
              <a:t>需要改变执行器的内部状态，需要定义为可变变量</a:t>
            </a:r>
            <a:endParaRPr lang="zh-CN" altLang="en-US" sz="1600" dirty="0">
              <a:solidFill>
                <a:srgbClr val="657B83"/>
              </a:solidFill>
            </a:endParaRPr>
          </a:p>
          <a:p>
            <a:r>
              <a:rPr lang="zh-CN" altLang="en-US" sz="1600" dirty="0">
                <a:solidFill>
                  <a:srgbClr val="657B83"/>
                </a:solidFill>
              </a:rPr>
              <a:t>    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b="1" dirty="0" err="1">
                <a:solidFill>
                  <a:srgbClr val="859900"/>
                </a:solidFill>
              </a:rPr>
              <a:t>mut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268BD2"/>
                </a:solidFill>
              </a:rPr>
              <a:t>executor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Executor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268BD2"/>
                </a:solidFill>
              </a:rPr>
              <a:t>new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 err="1">
                <a:solidFill>
                  <a:srgbClr val="268BD2"/>
                </a:solidFill>
              </a:rPr>
              <a:t>original_pose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i="1" dirty="0">
                <a:solidFill>
                  <a:srgbClr val="93A1A1"/>
                </a:solidFill>
              </a:rPr>
              <a:t>        // when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    </a:t>
            </a:r>
            <a:r>
              <a:rPr lang="en-US" altLang="zh-CN" sz="1600" dirty="0" err="1">
                <a:solidFill>
                  <a:srgbClr val="268BD2"/>
                </a:solidFill>
              </a:rPr>
              <a:t>executor</a:t>
            </a:r>
            <a:r>
              <a:rPr lang="en-US" altLang="zh-CN" sz="1600" dirty="0" err="1">
                <a:solidFill>
                  <a:srgbClr val="859900"/>
                </a:solidFill>
              </a:rPr>
              <a:t>.</a:t>
            </a:r>
            <a:r>
              <a:rPr lang="en-US" altLang="zh-CN" sz="1600" dirty="0" err="1">
                <a:solidFill>
                  <a:srgbClr val="268BD2"/>
                </a:solidFill>
              </a:rPr>
              <a:t>execute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2AA198"/>
                </a:solidFill>
              </a:rPr>
              <a:t>"M"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i="1" dirty="0">
                <a:solidFill>
                  <a:srgbClr val="93A1A1"/>
                </a:solidFill>
              </a:rPr>
              <a:t>        // then</a:t>
            </a:r>
            <a:endParaRPr lang="en-US" altLang="zh-CN" sz="1600" dirty="0">
              <a:solidFill>
                <a:srgbClr val="657B83"/>
              </a:solidFill>
            </a:endParaRPr>
          </a:p>
          <a:p>
            <a:r>
              <a:rPr lang="en-US" altLang="zh-CN" sz="1600" dirty="0">
                <a:solidFill>
                  <a:srgbClr val="657B83"/>
                </a:solidFill>
              </a:rPr>
              <a:t>        </a:t>
            </a:r>
            <a:r>
              <a:rPr lang="en-US" altLang="zh-CN" sz="1600" b="1" dirty="0">
                <a:solidFill>
                  <a:srgbClr val="859900"/>
                </a:solidFill>
              </a:rPr>
              <a:t>let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859900"/>
                </a:solidFill>
              </a:rPr>
              <a:t>=</a:t>
            </a:r>
            <a:r>
              <a:rPr lang="en-US" altLang="zh-CN" sz="1600" dirty="0">
                <a:solidFill>
                  <a:srgbClr val="657B83"/>
                </a:solidFill>
              </a:rPr>
              <a:t> </a:t>
            </a:r>
            <a:r>
              <a:rPr lang="en-US" altLang="zh-CN" sz="1600" dirty="0">
                <a:solidFill>
                  <a:srgbClr val="CB4B16"/>
                </a:solidFill>
              </a:rPr>
              <a:t>Pose</a:t>
            </a:r>
            <a:r>
              <a:rPr lang="en-US" altLang="zh-CN" sz="1600" dirty="0">
                <a:solidFill>
                  <a:srgbClr val="859900"/>
                </a:solidFill>
              </a:rPr>
              <a:t>::</a:t>
            </a:r>
            <a:r>
              <a:rPr lang="en-US" altLang="zh-CN" sz="1600" dirty="0">
                <a:solidFill>
                  <a:srgbClr val="268BD2"/>
                </a:solidFill>
              </a:rPr>
              <a:t>new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>
                <a:solidFill>
                  <a:srgbClr val="D33682"/>
                </a:solidFill>
              </a:rPr>
              <a:t>1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D33682"/>
                </a:solidFill>
              </a:rPr>
              <a:t>0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>
                <a:solidFill>
                  <a:srgbClr val="2AA198"/>
                </a:solidFill>
              </a:rPr>
              <a:t>'E'</a:t>
            </a:r>
            <a:r>
              <a:rPr lang="en-US" altLang="zh-CN" sz="1600" dirty="0">
                <a:solidFill>
                  <a:srgbClr val="657B83"/>
                </a:solidFill>
              </a:rPr>
              <a:t>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        </a:t>
            </a:r>
            <a:r>
              <a:rPr lang="en-US" altLang="zh-CN" sz="1600" dirty="0">
                <a:solidFill>
                  <a:srgbClr val="268BD2"/>
                </a:solidFill>
              </a:rPr>
              <a:t>assert_eq!</a:t>
            </a:r>
            <a:r>
              <a:rPr lang="en-US" altLang="zh-CN" sz="1600" dirty="0">
                <a:solidFill>
                  <a:srgbClr val="657B83"/>
                </a:solidFill>
              </a:rPr>
              <a:t>(</a:t>
            </a:r>
            <a:r>
              <a:rPr lang="en-US" altLang="zh-CN" sz="1600" dirty="0" err="1">
                <a:solidFill>
                  <a:srgbClr val="268BD2"/>
                </a:solidFill>
              </a:rPr>
              <a:t>expected_pose</a:t>
            </a:r>
            <a:r>
              <a:rPr lang="en-US" altLang="zh-CN" sz="1600" dirty="0">
                <a:solidFill>
                  <a:srgbClr val="657B83"/>
                </a:solidFill>
              </a:rPr>
              <a:t>, </a:t>
            </a:r>
            <a:r>
              <a:rPr lang="en-US" altLang="zh-CN" sz="1600" dirty="0" err="1">
                <a:solidFill>
                  <a:srgbClr val="268BD2"/>
                </a:solidFill>
              </a:rPr>
              <a:t>executor</a:t>
            </a:r>
            <a:r>
              <a:rPr lang="en-US" altLang="zh-CN" sz="1600" dirty="0" err="1">
                <a:solidFill>
                  <a:srgbClr val="859900"/>
                </a:solidFill>
              </a:rPr>
              <a:t>.</a:t>
            </a:r>
            <a:r>
              <a:rPr lang="en-US" altLang="zh-CN" sz="1600" dirty="0" err="1">
                <a:solidFill>
                  <a:srgbClr val="268BD2"/>
                </a:solidFill>
              </a:rPr>
              <a:t>query</a:t>
            </a:r>
            <a:r>
              <a:rPr lang="en-US" altLang="zh-CN" sz="1600" dirty="0">
                <a:solidFill>
                  <a:srgbClr val="657B83"/>
                </a:solidFill>
              </a:rPr>
              <a:t>());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    }</a:t>
            </a:r>
          </a:p>
          <a:p>
            <a:r>
              <a:rPr lang="en-US" altLang="zh-CN" sz="1600" dirty="0">
                <a:solidFill>
                  <a:srgbClr val="657B83"/>
                </a:solidFill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F54AB44-2E8A-40B0-BFD3-6A63D2A0A0F8}"/>
              </a:ext>
            </a:extLst>
          </p:cNvPr>
          <p:cNvSpPr txBox="1"/>
          <p:nvPr/>
        </p:nvSpPr>
        <p:spPr>
          <a:xfrm>
            <a:off x="6847288" y="4313387"/>
            <a:ext cx="4198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测试</a:t>
            </a:r>
            <a:r>
              <a:rPr lang="zh-CN" altLang="en-US" dirty="0">
                <a:solidFill>
                  <a:srgbClr val="C00000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用例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简单明了，易于理解和维护</a:t>
            </a:r>
            <a:endParaRPr lang="zh-CN" altLang="en-US" dirty="0">
              <a:solidFill>
                <a:srgbClr val="C00000"/>
              </a:solidFill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269668"/>
            <a:ext cx="10901362" cy="497095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测试用例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zh-CN" altLang="en-US" dirty="0"/>
              <a:t>编译运行测试，得到预期的失败，确保用例有效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B7A4800-8DF0-44A3-8FD1-499997A5CE37}"/>
              </a:ext>
            </a:extLst>
          </p:cNvPr>
          <p:cNvSpPr/>
          <p:nvPr/>
        </p:nvSpPr>
        <p:spPr>
          <a:xfrm>
            <a:off x="651933" y="1136864"/>
            <a:ext cx="10728325" cy="477053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dirty="0"/>
              <a:t>PS D:\RustCode\rust-training-</a:t>
            </a:r>
            <a:r>
              <a:rPr lang="en-US" altLang="zh-CN" sz="1600" dirty="0" err="1"/>
              <a:t>adas</a:t>
            </a:r>
            <a:r>
              <a:rPr lang="zh-CN" altLang="en-US" sz="1600" dirty="0"/>
              <a:t>&gt; </a:t>
            </a:r>
            <a:r>
              <a:rPr lang="zh-CN" altLang="en-US" sz="1600" b="1" dirty="0">
                <a:solidFill>
                  <a:srgbClr val="C00000"/>
                </a:solidFill>
              </a:rPr>
              <a:t>cargo </a:t>
            </a:r>
            <a:r>
              <a:rPr lang="en-US" altLang="zh-CN" sz="1600" b="1" dirty="0">
                <a:solidFill>
                  <a:srgbClr val="C00000"/>
                </a:solidFill>
              </a:rPr>
              <a:t>test</a:t>
            </a:r>
            <a:endParaRPr lang="zh-CN" altLang="en-US" sz="1600" b="1" dirty="0">
              <a:solidFill>
                <a:srgbClr val="C00000"/>
              </a:solidFill>
            </a:endParaRPr>
          </a:p>
          <a:p>
            <a:r>
              <a:rPr lang="zh-CN" altLang="en-US" sz="1600" dirty="0"/>
              <a:t>     </a:t>
            </a:r>
            <a:r>
              <a:rPr lang="en-US" altLang="zh-CN" sz="1600" b="1" dirty="0">
                <a:solidFill>
                  <a:srgbClr val="859900"/>
                </a:solidFill>
              </a:rPr>
              <a:t>...</a:t>
            </a:r>
            <a:endParaRPr lang="zh-CN" altLang="en-US" sz="1600" dirty="0"/>
          </a:p>
          <a:p>
            <a:r>
              <a:rPr lang="zh-CN" altLang="en-US" sz="1600" dirty="0"/>
              <a:t>     </a:t>
            </a:r>
            <a:r>
              <a:rPr lang="zh-CN" altLang="en-US" sz="1600" dirty="0">
                <a:solidFill>
                  <a:srgbClr val="00B050"/>
                </a:solidFill>
              </a:rPr>
              <a:t>Running</a:t>
            </a:r>
            <a:r>
              <a:rPr lang="zh-CN" altLang="en-US" sz="1600" dirty="0"/>
              <a:t> tests\executor_test.rs (target\debug\deps\executor_test-176dc656550f0e51.exe)</a:t>
            </a:r>
          </a:p>
          <a:p>
            <a:endParaRPr lang="zh-CN" altLang="en-US" sz="1600" dirty="0"/>
          </a:p>
          <a:p>
            <a:r>
              <a:rPr lang="zh-CN" altLang="en-US" sz="1600" dirty="0"/>
              <a:t>running 1 test </a:t>
            </a:r>
            <a:r>
              <a:rPr lang="en-US" altLang="zh-CN" sz="1600" dirty="0">
                <a:solidFill>
                  <a:srgbClr val="C00000"/>
                </a:solidFill>
              </a:rPr>
              <a:t># </a:t>
            </a:r>
            <a:r>
              <a:rPr lang="zh-CN" altLang="en-US" sz="1600" dirty="0">
                <a:solidFill>
                  <a:srgbClr val="C00000"/>
                </a:solidFill>
                <a:ea typeface="方正兰亭黑简体" panose="02000000000000000000" pitchFamily="2" charset="-122"/>
              </a:rPr>
              <a:t>测试执行结果展示测试，包括成功和失败的用例</a:t>
            </a:r>
            <a:endParaRPr lang="zh-CN" altLang="en-US" sz="1600" dirty="0">
              <a:solidFill>
                <a:srgbClr val="C00000"/>
              </a:solidFill>
            </a:endParaRPr>
          </a:p>
          <a:p>
            <a:r>
              <a:rPr lang="zh-CN" altLang="en-US" sz="1600" dirty="0"/>
              <a:t>test move_tests::should_return_x_plus_1_given_command_is_m_and_</a:t>
            </a:r>
            <a:r>
              <a:rPr lang="en-US" altLang="zh-CN" sz="1600" dirty="0"/>
              <a:t>fac</a:t>
            </a:r>
            <a:r>
              <a:rPr lang="zh-CN" altLang="en-US" sz="1600" dirty="0"/>
              <a:t>ing_is_e ... </a:t>
            </a:r>
            <a:r>
              <a:rPr lang="zh-CN" altLang="en-US" sz="1600" b="1" dirty="0">
                <a:solidFill>
                  <a:srgbClr val="C00000"/>
                </a:solidFill>
              </a:rPr>
              <a:t>FAILED</a:t>
            </a:r>
          </a:p>
          <a:p>
            <a:endParaRPr lang="zh-CN" altLang="en-US" sz="1600" dirty="0"/>
          </a:p>
          <a:p>
            <a:r>
              <a:rPr lang="zh-CN" altLang="en-US" sz="1600" dirty="0"/>
              <a:t>failures:  </a:t>
            </a:r>
            <a:r>
              <a:rPr lang="en-US" altLang="zh-CN" sz="1600" dirty="0">
                <a:solidFill>
                  <a:srgbClr val="C00000"/>
                </a:solidFill>
              </a:rPr>
              <a:t># </a:t>
            </a:r>
            <a:r>
              <a:rPr lang="zh-CN" altLang="en-US" sz="1600" dirty="0">
                <a:solidFill>
                  <a:srgbClr val="C00000"/>
                </a:solidFill>
                <a:ea typeface="方正兰亭黑简体" panose="02000000000000000000" pitchFamily="2" charset="-122"/>
              </a:rPr>
              <a:t>展示失败用例的原因，方便问题定位</a:t>
            </a:r>
            <a:endParaRPr lang="zh-CN" altLang="en-US" sz="1600" dirty="0">
              <a:solidFill>
                <a:srgbClr val="C00000"/>
              </a:solidFill>
            </a:endParaRPr>
          </a:p>
          <a:p>
            <a:r>
              <a:rPr lang="zh-CN" altLang="en-US" sz="1600" dirty="0"/>
              <a:t>---- move_tests::should_return_x_plus_1_given_command_is_m_and_</a:t>
            </a:r>
            <a:r>
              <a:rPr lang="en-US" altLang="zh-CN" sz="1600" dirty="0"/>
              <a:t>fac</a:t>
            </a:r>
            <a:r>
              <a:rPr lang="zh-CN" altLang="en-US" sz="1600" dirty="0"/>
              <a:t>ing_is_e stdout ----</a:t>
            </a:r>
          </a:p>
          <a:p>
            <a:r>
              <a:rPr lang="zh-CN" altLang="en-US" sz="1600" dirty="0"/>
              <a:t>thread 'move_tests::should_return_x_plus_1_given_command_is_m_and_heading_is_e' panicked at tests\executor_test.rs:15:9:</a:t>
            </a:r>
          </a:p>
          <a:p>
            <a:r>
              <a:rPr lang="zh-CN" altLang="en-US" sz="1600" dirty="0"/>
              <a:t>assertion `left == right` failed</a:t>
            </a:r>
          </a:p>
          <a:p>
            <a:r>
              <a:rPr lang="zh-CN" altLang="en-US" sz="1600" dirty="0"/>
              <a:t>  left: Pose { x: 1, y: 0, heading: 'E' }</a:t>
            </a:r>
          </a:p>
          <a:p>
            <a:r>
              <a:rPr lang="zh-CN" altLang="en-US" sz="1600" dirty="0"/>
              <a:t> right: Pose { x: 0, y: 0, heading: 'E' }</a:t>
            </a:r>
          </a:p>
          <a:p>
            <a:r>
              <a:rPr lang="en-US" altLang="zh-CN" sz="1600" b="1" dirty="0">
                <a:solidFill>
                  <a:srgbClr val="859900"/>
                </a:solidFill>
              </a:rPr>
              <a:t>... </a:t>
            </a:r>
          </a:p>
          <a:p>
            <a:r>
              <a:rPr lang="en-US" altLang="zh-CN" sz="1600" dirty="0">
                <a:solidFill>
                  <a:srgbClr val="C00000"/>
                </a:solidFill>
              </a:rPr>
              <a:t># </a:t>
            </a:r>
            <a:r>
              <a:rPr lang="zh-CN" altLang="en-US" sz="1600" dirty="0">
                <a:solidFill>
                  <a:srgbClr val="C00000"/>
                </a:solidFill>
                <a:ea typeface="方正兰亭黑简体" panose="02000000000000000000" pitchFamily="2" charset="-122"/>
              </a:rPr>
              <a:t>展示测试执行汇总信息，只要有一个失败用例则结果为</a:t>
            </a:r>
            <a:r>
              <a:rPr lang="en-US" altLang="zh-CN" sz="1600" dirty="0">
                <a:solidFill>
                  <a:srgbClr val="C00000"/>
                </a:solidFill>
                <a:ea typeface="方正兰亭黑简体" panose="02000000000000000000" pitchFamily="2" charset="-122"/>
              </a:rPr>
              <a:t>FAILED</a:t>
            </a:r>
            <a:endParaRPr lang="zh-CN" altLang="en-US" sz="1600" dirty="0">
              <a:solidFill>
                <a:srgbClr val="C00000"/>
              </a:solidFill>
            </a:endParaRPr>
          </a:p>
          <a:p>
            <a:r>
              <a:rPr lang="zh-CN" altLang="en-US" sz="1600" dirty="0"/>
              <a:t>test result: </a:t>
            </a:r>
            <a:r>
              <a:rPr lang="zh-CN" altLang="en-US" sz="1600" b="1" dirty="0">
                <a:solidFill>
                  <a:srgbClr val="C00000"/>
                </a:solidFill>
              </a:rPr>
              <a:t>FAILED</a:t>
            </a:r>
            <a:r>
              <a:rPr lang="zh-CN" altLang="en-US" sz="1600" dirty="0"/>
              <a:t>. 0 passed; 1 failed; 0 ignored; 0 measured; 0 filtered out; finished in 0.00s</a:t>
            </a:r>
          </a:p>
          <a:p>
            <a:r>
              <a:rPr lang="en-US" altLang="zh-CN" sz="1600" dirty="0">
                <a:solidFill>
                  <a:srgbClr val="C00000"/>
                </a:solidFill>
              </a:rPr>
              <a:t># </a:t>
            </a:r>
            <a:r>
              <a:rPr lang="zh-CN" altLang="en-US" sz="1600" dirty="0">
                <a:solidFill>
                  <a:srgbClr val="C00000"/>
                </a:solidFill>
                <a:ea typeface="方正兰亭黑简体" panose="02000000000000000000" pitchFamily="2" charset="-122"/>
              </a:rPr>
              <a:t>展示测试结果为测试失败</a:t>
            </a:r>
            <a:endParaRPr lang="zh-CN" altLang="en-US" sz="1600" dirty="0">
              <a:solidFill>
                <a:srgbClr val="C00000"/>
              </a:solidFill>
            </a:endParaRPr>
          </a:p>
          <a:p>
            <a:r>
              <a:rPr lang="zh-CN" altLang="en-US" sz="1600" b="1" dirty="0">
                <a:solidFill>
                  <a:srgbClr val="C00000"/>
                </a:solidFill>
              </a:rPr>
              <a:t>error</a:t>
            </a:r>
            <a:r>
              <a:rPr lang="zh-CN" altLang="en-US" sz="1600" dirty="0"/>
              <a:t>: test failed, to rerun pass `--test executor_test`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0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0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024" y="385996"/>
            <a:ext cx="10728325" cy="74053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测试用例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：测试用例上库，</a:t>
            </a:r>
            <a:r>
              <a:rPr lang="zh-CN" altLang="en-US" sz="3600" dirty="0">
                <a:latin typeface="方正兰亭黑简体" panose="02000000000000000000" pitchFamily="2" charset="-122"/>
              </a:rPr>
              <a:t>确保测试用例的独立性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74BBB1-017D-4ECE-A89E-8384A58377F8}"/>
              </a:ext>
            </a:extLst>
          </p:cNvPr>
          <p:cNvSpPr/>
          <p:nvPr/>
        </p:nvSpPr>
        <p:spPr>
          <a:xfrm>
            <a:off x="777875" y="2529139"/>
            <a:ext cx="10728325" cy="9634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lvl="0" defTabSz="914400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ea typeface="FZLanTingHeiS-R-GB"/>
              </a:rPr>
              <a:t>git add .</a:t>
            </a:r>
          </a:p>
          <a:p>
            <a:pPr lvl="0" defTabSz="914400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ea typeface="FZLanTingHeiS-R-GB"/>
              </a:rPr>
              <a:t>git commit -m </a:t>
            </a:r>
            <a:r>
              <a:rPr lang="en-US" altLang="zh-CN" dirty="0">
                <a:ea typeface="FZLanTingHeiS-R-GB"/>
              </a:rPr>
              <a:t>'add test case: should_return_x_plus_1_given_command_is_m_and_facing_is_e'</a:t>
            </a:r>
          </a:p>
        </p:txBody>
      </p:sp>
    </p:spTree>
    <p:extLst>
      <p:ext uri="{BB962C8B-B14F-4D97-AF65-F5344CB8AC3E}">
        <p14:creationId xmlns:p14="http://schemas.microsoft.com/office/powerpoint/2010/main" val="9068080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0728325" cy="74053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dirty="0">
                <a:solidFill>
                  <a:srgbClr val="000000"/>
                </a:solidFill>
              </a:rPr>
              <a:t>测试用例</a:t>
            </a:r>
            <a:r>
              <a:rPr lang="en-US" altLang="zh-CN" dirty="0">
                <a:solidFill>
                  <a:srgbClr val="000000"/>
                </a:solidFill>
              </a:rPr>
              <a:t>1</a:t>
            </a:r>
            <a:r>
              <a:rPr lang="zh-CN" altLang="en-US" dirty="0">
                <a:solidFill>
                  <a:srgbClr val="000000"/>
                </a:solidFill>
              </a:rPr>
              <a:t>：</a:t>
            </a:r>
            <a:r>
              <a:rPr lang="zh-CN" altLang="en-US" i="0" dirty="0">
                <a:solidFill>
                  <a:srgbClr val="000000"/>
                </a:solidFill>
              </a:rPr>
              <a:t>编写</a:t>
            </a:r>
            <a:r>
              <a:rPr lang="zh-CN" altLang="en-US" dirty="0">
                <a:solidFill>
                  <a:srgbClr val="000000"/>
                </a:solidFill>
              </a:rPr>
              <a:t>刚好让测试</a:t>
            </a:r>
            <a:r>
              <a:rPr lang="zh-CN" altLang="en-US" i="0" dirty="0">
                <a:solidFill>
                  <a:srgbClr val="000000"/>
                </a:solidFill>
              </a:rPr>
              <a:t>通过的功能代码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D570E089-6112-4F07-AF2B-C8BB60F1048F}"/>
              </a:ext>
            </a:extLst>
          </p:cNvPr>
          <p:cNvSpPr txBox="1"/>
          <p:nvPr/>
        </p:nvSpPr>
        <p:spPr>
          <a:xfrm>
            <a:off x="731837" y="1077934"/>
            <a:ext cx="11160000" cy="5332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i="0" dirty="0">
                <a:solidFill>
                  <a:srgbClr val="000000"/>
                </a:solidFill>
              </a:rPr>
              <a:t>src/</a:t>
            </a:r>
            <a:r>
              <a:rPr lang="en-US" altLang="zh-CN" i="0" dirty="0">
                <a:solidFill>
                  <a:srgbClr val="000000"/>
                </a:solidFill>
              </a:rPr>
              <a:t>e</a:t>
            </a:r>
            <a:r>
              <a:rPr i="0" dirty="0">
                <a:solidFill>
                  <a:srgbClr val="000000"/>
                </a:solidFill>
              </a:rPr>
              <a:t>xecutor.</a:t>
            </a:r>
            <a:r>
              <a:rPr lang="en-US" altLang="zh-CN" i="0" dirty="0">
                <a:solidFill>
                  <a:srgbClr val="000000"/>
                </a:solidFill>
              </a:rPr>
              <a:t>rs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3D7C4D5-3575-4A49-9AFB-0B27E8754BD6}"/>
              </a:ext>
            </a:extLst>
          </p:cNvPr>
          <p:cNvSpPr/>
          <p:nvPr/>
        </p:nvSpPr>
        <p:spPr>
          <a:xfrm>
            <a:off x="731838" y="1611158"/>
            <a:ext cx="10638895" cy="48013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859900"/>
                </a:solidFill>
                <a:latin typeface="Consolas" panose="020B0609020204030204" pitchFamily="49" charset="0"/>
              </a:rPr>
              <a:t>impl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CB4B16"/>
                </a:solidFill>
                <a:latin typeface="Consolas" panose="020B0609020204030204" pitchFamily="49" charset="0"/>
              </a:rPr>
              <a:t>Executor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859900"/>
                </a:solidFill>
              </a:rPr>
              <a:t>...</a:t>
            </a:r>
            <a:b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</a:br>
            <a:r>
              <a:rPr lang="en-US" altLang="zh-CN" i="1" dirty="0">
                <a:solidFill>
                  <a:srgbClr val="93A1A1"/>
                </a:solidFill>
                <a:latin typeface="Consolas" panose="020B0609020204030204" pitchFamily="49" charset="0"/>
              </a:rPr>
              <a:t>    // </a:t>
            </a:r>
            <a:r>
              <a:rPr lang="zh-CN" altLang="en-US" i="1" dirty="0">
                <a:solidFill>
                  <a:srgbClr val="93A1A1"/>
                </a:solidFill>
                <a:latin typeface="Consolas" panose="020B0609020204030204" pitchFamily="49" charset="0"/>
              </a:rPr>
              <a:t>编写刚好让测试通过的代码：最简单方式满足当前需求，不考虑其它需求</a:t>
            </a:r>
            <a:endParaRPr lang="zh-CN" altLang="en-US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657B8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pub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859900"/>
                </a:solidFill>
                <a:latin typeface="Consolas" panose="020B0609020204030204" pitchFamily="49" charset="0"/>
              </a:rPr>
              <a:t>fn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268BD2"/>
                </a:solidFill>
                <a:latin typeface="Consolas" panose="020B0609020204030204" pitchFamily="49" charset="0"/>
              </a:rPr>
              <a:t>execute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&amp;</a:t>
            </a:r>
            <a:r>
              <a:rPr lang="en-US" altLang="zh-CN" b="1" dirty="0" err="1">
                <a:solidFill>
                  <a:srgbClr val="859900"/>
                </a:solidFill>
                <a:latin typeface="Consolas" panose="020B0609020204030204" pitchFamily="49" charset="0"/>
              </a:rPr>
              <a:t>mut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cmds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: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&amp;str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altLang="zh-CN" i="1" dirty="0">
                <a:solidFill>
                  <a:srgbClr val="93A1A1"/>
                </a:solidFill>
                <a:latin typeface="Consolas" panose="020B0609020204030204" pitchFamily="49" charset="0"/>
              </a:rPr>
              <a:t>        // </a:t>
            </a:r>
            <a:r>
              <a:rPr lang="zh-CN" altLang="en-US" i="1" dirty="0">
                <a:solidFill>
                  <a:srgbClr val="93A1A1"/>
                </a:solidFill>
                <a:latin typeface="Consolas" panose="020B0609020204030204" pitchFamily="49" charset="0"/>
              </a:rPr>
              <a:t>字符串不支持索引访问，调用标准库的接口转换为</a:t>
            </a:r>
            <a:r>
              <a:rPr lang="en-US" altLang="zh-CN" i="1" dirty="0">
                <a:solidFill>
                  <a:srgbClr val="93A1A1"/>
                </a:solidFill>
                <a:latin typeface="Consolas" panose="020B0609020204030204" pitchFamily="49" charset="0"/>
              </a:rPr>
              <a:t>char</a:t>
            </a:r>
            <a:r>
              <a:rPr lang="zh-CN" altLang="en-US" i="1" dirty="0">
                <a:solidFill>
                  <a:srgbClr val="93A1A1"/>
                </a:solidFill>
                <a:latin typeface="Consolas" panose="020B0609020204030204" pitchFamily="49" charset="0"/>
              </a:rPr>
              <a:t>类型</a:t>
            </a:r>
            <a:endParaRPr lang="zh-CN" altLang="en-US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657B83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in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cmds</a:t>
            </a:r>
            <a:r>
              <a:rPr lang="en-US" altLang="zh-CN" dirty="0" err="1">
                <a:solidFill>
                  <a:srgbClr val="8599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chars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match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cmd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zh-CN" dirty="0">
                <a:solidFill>
                  <a:srgbClr val="2AA198"/>
                </a:solidFill>
                <a:latin typeface="Consolas" panose="020B0609020204030204" pitchFamily="49" charset="0"/>
              </a:rPr>
              <a:t>'M'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=&gt;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match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859900"/>
                </a:solidFill>
                <a:latin typeface="Consolas" panose="020B0609020204030204" pitchFamily="49" charset="0"/>
              </a:rPr>
              <a:t>self.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pose</a:t>
            </a:r>
            <a:r>
              <a:rPr lang="en-US" altLang="zh-CN" dirty="0" err="1">
                <a:solidFill>
                  <a:srgbClr val="8599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heading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zh-CN" dirty="0">
                <a:solidFill>
                  <a:srgbClr val="2AA198"/>
                </a:solidFill>
                <a:latin typeface="Consolas" panose="020B0609020204030204" pitchFamily="49" charset="0"/>
              </a:rPr>
              <a:t>'E'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=&gt;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859900"/>
                </a:solidFill>
                <a:latin typeface="Consolas" panose="020B0609020204030204" pitchFamily="49" charset="0"/>
              </a:rPr>
              <a:t>self.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pose</a:t>
            </a:r>
            <a:r>
              <a:rPr lang="en-US" altLang="zh-CN" dirty="0" err="1">
                <a:solidFill>
                  <a:srgbClr val="8599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dirty="0" err="1">
                <a:solidFill>
                  <a:srgbClr val="268BD2"/>
                </a:solidFill>
                <a:latin typeface="Consolas" panose="020B0609020204030204" pitchFamily="49" charset="0"/>
              </a:rPr>
              <a:t>x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+=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D33682"/>
                </a:solidFill>
                <a:latin typeface="Consolas" panose="020B0609020204030204" pitchFamily="49" charset="0"/>
              </a:rPr>
              <a:t>1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zh-CN" dirty="0">
                <a:solidFill>
                  <a:srgbClr val="268BD2"/>
                </a:solidFill>
                <a:latin typeface="Consolas" panose="020B0609020204030204" pitchFamily="49" charset="0"/>
              </a:rPr>
              <a:t>_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=&gt;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(),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            },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zh-CN" dirty="0">
                <a:solidFill>
                  <a:srgbClr val="268BD2"/>
                </a:solidFill>
                <a:latin typeface="Consolas" panose="020B0609020204030204" pitchFamily="49" charset="0"/>
              </a:rPr>
              <a:t>_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>
                <a:solidFill>
                  <a:srgbClr val="859900"/>
                </a:solidFill>
                <a:latin typeface="Consolas" panose="020B0609020204030204" pitchFamily="49" charset="0"/>
              </a:rPr>
              <a:t>=&gt;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 (),</a:t>
            </a:r>
            <a:r>
              <a:rPr lang="en-US" altLang="zh-CN" i="1" dirty="0">
                <a:solidFill>
                  <a:srgbClr val="93A1A1"/>
                </a:solidFill>
                <a:latin typeface="Consolas" panose="020B0609020204030204" pitchFamily="49" charset="0"/>
              </a:rPr>
              <a:t> // match</a:t>
            </a:r>
            <a:r>
              <a:rPr lang="zh-CN" altLang="en-US" i="1" dirty="0">
                <a:solidFill>
                  <a:srgbClr val="93A1A1"/>
                </a:solidFill>
                <a:latin typeface="Consolas" panose="020B0609020204030204" pitchFamily="49" charset="0"/>
              </a:rPr>
              <a:t>匹配要求必须穷尽，体现安全设计</a:t>
            </a:r>
            <a:endParaRPr lang="zh-CN" altLang="en-US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zh-CN" altLang="en-US" dirty="0">
                <a:solidFill>
                  <a:srgbClr val="657B83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    }</a:t>
            </a: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}</a:t>
            </a:r>
            <a:b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</a:br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    </a:t>
            </a:r>
            <a:r>
              <a:rPr lang="en-US" altLang="zh-CN" b="1" dirty="0">
                <a:solidFill>
                  <a:srgbClr val="859900"/>
                </a:solidFill>
              </a:rPr>
              <a:t>... </a:t>
            </a:r>
            <a:endParaRPr lang="en-US" altLang="zh-CN" dirty="0">
              <a:solidFill>
                <a:srgbClr val="657B83"/>
              </a:solidFill>
              <a:latin typeface="Consolas" panose="020B0609020204030204" pitchFamily="49" charset="0"/>
            </a:endParaRPr>
          </a:p>
          <a:p>
            <a:r>
              <a:rPr lang="en-US" altLang="zh-CN" dirty="0">
                <a:solidFill>
                  <a:srgbClr val="657B83"/>
                </a:solidFill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1398250" cy="497095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i="0" dirty="0">
                <a:solidFill>
                  <a:srgbClr val="000000"/>
                </a:solidFill>
              </a:rPr>
              <a:t>测试用例</a:t>
            </a:r>
            <a:r>
              <a:rPr lang="en-US" altLang="zh-CN" i="0" dirty="0">
                <a:solidFill>
                  <a:srgbClr val="000000"/>
                </a:solidFill>
              </a:rPr>
              <a:t>1</a:t>
            </a:r>
            <a:r>
              <a:rPr i="0" dirty="0">
                <a:solidFill>
                  <a:srgbClr val="000000"/>
                </a:solidFill>
              </a:rPr>
              <a:t>-</a:t>
            </a:r>
            <a:r>
              <a:rPr lang="zh-CN" altLang="en-US" i="0" dirty="0">
                <a:solidFill>
                  <a:srgbClr val="000000"/>
                </a:solidFill>
              </a:rPr>
              <a:t>用例执行通过，确保功能实现的正确性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3C0FA5-F59B-4D50-A05F-76DE75A37A8C}"/>
              </a:ext>
            </a:extLst>
          </p:cNvPr>
          <p:cNvSpPr/>
          <p:nvPr/>
        </p:nvSpPr>
        <p:spPr>
          <a:xfrm>
            <a:off x="731838" y="1788529"/>
            <a:ext cx="10503429" cy="34163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dirty="0"/>
              <a:t>PS D:\RustCode\rust-training-req0&gt; </a:t>
            </a:r>
            <a:r>
              <a:rPr lang="en-US" altLang="zh-CN" b="1" dirty="0">
                <a:solidFill>
                  <a:srgbClr val="C00000"/>
                </a:solidFill>
              </a:rPr>
              <a:t>cargo test </a:t>
            </a:r>
          </a:p>
          <a:p>
            <a:r>
              <a:rPr lang="en-US" altLang="zh-CN" dirty="0"/>
              <a:t>   Compiling executor v0.1.0 (D:\</a:t>
            </a:r>
            <a:r>
              <a:rPr lang="en-US" altLang="zh-CN" dirty="0" err="1"/>
              <a:t>RustCode</a:t>
            </a:r>
            <a:r>
              <a:rPr lang="en-US" altLang="zh-CN" dirty="0"/>
              <a:t>\rust-training-req0)</a:t>
            </a:r>
          </a:p>
          <a:p>
            <a:r>
              <a:rPr lang="en-US" altLang="zh-CN" dirty="0"/>
              <a:t>    Finished `test` profile [unoptimized + </a:t>
            </a:r>
            <a:r>
              <a:rPr lang="en-US" altLang="zh-CN" dirty="0" err="1"/>
              <a:t>debuginfo</a:t>
            </a:r>
            <a:r>
              <a:rPr lang="en-US" altLang="zh-CN" dirty="0"/>
              <a:t>] target(s) in 0.69s</a:t>
            </a:r>
          </a:p>
          <a:p>
            <a:r>
              <a:rPr lang="en-US" altLang="zh-CN" dirty="0"/>
              <a:t>     </a:t>
            </a:r>
            <a:r>
              <a:rPr lang="en-US" altLang="zh-CN" b="1" dirty="0">
                <a:solidFill>
                  <a:srgbClr val="859900"/>
                </a:solidFill>
              </a:rPr>
              <a:t>... </a:t>
            </a:r>
            <a:endParaRPr lang="en-US" altLang="zh-CN" dirty="0"/>
          </a:p>
          <a:p>
            <a:r>
              <a:rPr lang="en-US" altLang="zh-CN" dirty="0"/>
              <a:t>     </a:t>
            </a:r>
            <a:r>
              <a:rPr lang="en-US" altLang="zh-CN" b="1" dirty="0">
                <a:solidFill>
                  <a:srgbClr val="00B050"/>
                </a:solidFill>
              </a:rPr>
              <a:t>Running</a:t>
            </a:r>
            <a:r>
              <a:rPr lang="en-US" altLang="zh-CN" dirty="0"/>
              <a:t> tests\executor_test.rs (target\debug\deps\executor_test-176dc656550f0e51.exe)   </a:t>
            </a:r>
          </a:p>
          <a:p>
            <a:endParaRPr lang="en-US" altLang="zh-CN" dirty="0"/>
          </a:p>
          <a:p>
            <a:r>
              <a:rPr lang="en-US" altLang="zh-CN" dirty="0"/>
              <a:t>running 1 test</a:t>
            </a:r>
          </a:p>
          <a:p>
            <a:r>
              <a:rPr lang="en-US" altLang="zh-CN" dirty="0"/>
              <a:t>test </a:t>
            </a:r>
            <a:r>
              <a:rPr lang="en-US" altLang="zh-CN" dirty="0" err="1"/>
              <a:t>move_tests</a:t>
            </a:r>
            <a:r>
              <a:rPr lang="en-US" altLang="zh-CN" dirty="0"/>
              <a:t>::should_return_x_plus_1_given_command_is_m_and_facing_is_e ... </a:t>
            </a:r>
            <a:r>
              <a:rPr lang="en-US" altLang="zh-CN" b="1" dirty="0">
                <a:solidFill>
                  <a:srgbClr val="00B050"/>
                </a:solidFill>
              </a:rPr>
              <a:t>ok</a:t>
            </a:r>
          </a:p>
          <a:p>
            <a:endParaRPr lang="en-US" altLang="zh-CN" dirty="0"/>
          </a:p>
          <a:p>
            <a:r>
              <a:rPr lang="en-US" altLang="zh-CN" dirty="0"/>
              <a:t>test result: </a:t>
            </a:r>
            <a:r>
              <a:rPr lang="en-US" altLang="zh-CN" b="1" dirty="0">
                <a:solidFill>
                  <a:srgbClr val="00B050"/>
                </a:solidFill>
              </a:rPr>
              <a:t>ok</a:t>
            </a:r>
            <a:r>
              <a:rPr lang="en-US" altLang="zh-CN" dirty="0"/>
              <a:t>. 1 passed; 0 failed; 0 ignored; 0 measured; 0 filtered out; finished in 0.00s</a:t>
            </a:r>
          </a:p>
          <a:p>
            <a:endParaRPr lang="en-US" altLang="zh-CN" dirty="0"/>
          </a:p>
          <a:p>
            <a:r>
              <a:rPr lang="en-US" altLang="zh-CN" dirty="0"/>
              <a:t>   Doc-tests executor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838" y="447468"/>
            <a:ext cx="11255375" cy="497095"/>
          </a:xfrm>
        </p:spPr>
        <p:txBody>
          <a:bodyPr>
            <a:normAutofit fontScale="90000"/>
          </a:bodyPr>
          <a:lstStyle/>
          <a:p>
            <a:pPr>
              <a:lnSpc>
                <a:spcPct val="140000"/>
              </a:lnSpc>
              <a:defRPr sz="3600">
                <a:latin typeface="方正兰亭黑简体"/>
              </a:defRPr>
            </a:pPr>
            <a:r>
              <a:rPr lang="zh-CN" altLang="en-US" i="0" dirty="0">
                <a:solidFill>
                  <a:srgbClr val="000000"/>
                </a:solidFill>
              </a:rPr>
              <a:t>测试用例</a:t>
            </a:r>
            <a:r>
              <a:rPr lang="en-US" altLang="zh-CN" i="0" dirty="0">
                <a:solidFill>
                  <a:srgbClr val="000000"/>
                </a:solidFill>
              </a:rPr>
              <a:t>1</a:t>
            </a:r>
            <a:r>
              <a:rPr i="0" dirty="0">
                <a:solidFill>
                  <a:srgbClr val="000000"/>
                </a:solidFill>
              </a:rPr>
              <a:t>-</a:t>
            </a:r>
            <a:r>
              <a:rPr lang="zh-CN" altLang="en-US" dirty="0">
                <a:solidFill>
                  <a:srgbClr val="000000"/>
                </a:solidFill>
              </a:rPr>
              <a:t>功能代码提交</a:t>
            </a:r>
            <a:endParaRPr i="0" dirty="0">
              <a:solidFill>
                <a:srgbClr val="000000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0EB2C3-14FE-4DB4-AC08-07F31DE64FCE}"/>
              </a:ext>
            </a:extLst>
          </p:cNvPr>
          <p:cNvSpPr/>
          <p:nvPr/>
        </p:nvSpPr>
        <p:spPr>
          <a:xfrm>
            <a:off x="731838" y="1928006"/>
            <a:ext cx="10562695" cy="96346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lvl="0" defTabSz="914400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ea typeface="FZLanTingHeiS-R-GB"/>
              </a:rPr>
              <a:t>git add .</a:t>
            </a:r>
          </a:p>
          <a:p>
            <a:pPr lvl="0" defTabSz="914400">
              <a:lnSpc>
                <a:spcPct val="150000"/>
              </a:lnSpc>
            </a:pPr>
            <a:r>
              <a:rPr lang="en-US" altLang="zh-CN" sz="2000" b="1" dirty="0">
                <a:solidFill>
                  <a:srgbClr val="C00000"/>
                </a:solidFill>
                <a:ea typeface="FZLanTingHeiS-R-GB"/>
              </a:rPr>
              <a:t>git commit -m</a:t>
            </a:r>
            <a:r>
              <a:rPr lang="en-US" altLang="zh-CN" sz="2000" b="1" dirty="0">
                <a:solidFill>
                  <a:prstClr val="white"/>
                </a:solidFill>
                <a:ea typeface="FZLanTingHeiS-R-GB"/>
              </a:rPr>
              <a:t> </a:t>
            </a:r>
            <a:r>
              <a:rPr lang="en-US" altLang="zh-CN" dirty="0">
                <a:ea typeface="FZLanTingHeiS-R-GB"/>
              </a:rPr>
              <a:t>'pass test case should_return_x_plus_1_given_command_is_m_and_facing_is_e'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8B2770D-8E6B-4F42-BE25-2E38EF10ED04}"/>
              </a:ext>
            </a:extLst>
          </p:cNvPr>
          <p:cNvSpPr txBox="1"/>
          <p:nvPr/>
        </p:nvSpPr>
        <p:spPr>
          <a:xfrm>
            <a:off x="731838" y="3861869"/>
            <a:ext cx="8897393" cy="1296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小结：</a:t>
            </a:r>
            <a:endParaRPr lang="en-US" altLang="zh-CN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小步提交：每次提交应包含一个小的、独立的功能或修复，便于回溯和管理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清晰的提交信息：提交信息应简洁明了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>
              <a:lnSpc>
                <a:spcPct val="140000"/>
              </a:lnSpc>
              <a:defRPr sz="3600">
                <a:latin typeface="方正兰亭黑简体"/>
              </a:defRPr>
            </a:pPr>
            <a:r>
              <a:rPr i="0" dirty="0">
                <a:solidFill>
                  <a:srgbClr val="000000"/>
                </a:solidFill>
              </a:rPr>
              <a:t>★ 课堂演练：请</a:t>
            </a:r>
            <a:r>
              <a:rPr lang="zh-CN" altLang="en-US" i="0" dirty="0">
                <a:solidFill>
                  <a:srgbClr val="000000"/>
                </a:solidFill>
              </a:rPr>
              <a:t>完成移动指令剩余三个用例</a:t>
            </a:r>
            <a:r>
              <a:rPr i="0" dirty="0">
                <a:solidFill>
                  <a:srgbClr val="000000"/>
                </a:solidFill>
              </a:rPr>
              <a:t>，时间20分钟。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3596" y="1509733"/>
            <a:ext cx="10728325" cy="1555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用例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1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</a:t>
            </a:r>
            <a:r>
              <a:rPr sz="2000" i="0" dirty="0" err="1">
                <a:solidFill>
                  <a:srgbClr val="000000"/>
                </a:solidFill>
                <a:latin typeface="+mn-ea"/>
              </a:rPr>
              <a:t>当位置方向在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0, 0,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S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</a:t>
            </a:r>
            <a:r>
              <a:rPr sz="2000" i="0" dirty="0" err="1">
                <a:solidFill>
                  <a:srgbClr val="000000"/>
                </a:solidFill>
                <a:latin typeface="+mn-ea"/>
              </a:rPr>
              <a:t>时，执行指令</a:t>
            </a:r>
            <a:r>
              <a:rPr sz="2000" i="0" dirty="0">
                <a:solidFill>
                  <a:srgbClr val="000000"/>
                </a:solidFill>
                <a:latin typeface="+mn-ea"/>
              </a:rPr>
              <a:t> "M"</a:t>
            </a:r>
            <a:endParaRPr lang="en-US" altLang="zh-CN" sz="2000" i="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用例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2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：当位置方向在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0, 0, W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时，执行指令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"M“</a:t>
            </a:r>
          </a:p>
          <a:p>
            <a:pPr>
              <a:lnSpc>
                <a:spcPct val="140000"/>
              </a:lnSpc>
              <a:defRPr sz="2200">
                <a:latin typeface="方正兰亭黑简体"/>
              </a:defRPr>
            </a:pPr>
            <a:r>
              <a:rPr lang="zh-CN" altLang="en-US" sz="2000" i="0" dirty="0">
                <a:solidFill>
                  <a:srgbClr val="000000"/>
                </a:solidFill>
                <a:latin typeface="+mn-ea"/>
              </a:rPr>
              <a:t>用例</a:t>
            </a:r>
            <a:r>
              <a:rPr lang="en-US" altLang="zh-CN" sz="2000" i="0" dirty="0">
                <a:solidFill>
                  <a:srgbClr val="000000"/>
                </a:solidFill>
                <a:latin typeface="+mn-ea"/>
              </a:rPr>
              <a:t>3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：当位置方向在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0, 0, N</a:t>
            </a:r>
            <a:r>
              <a:rPr lang="zh-CN" altLang="en-US" sz="2000" dirty="0">
                <a:solidFill>
                  <a:srgbClr val="000000"/>
                </a:solidFill>
                <a:latin typeface="+mn-ea"/>
              </a:rPr>
              <a:t> 时，执行指令 </a:t>
            </a:r>
            <a:r>
              <a:rPr lang="en-US" altLang="zh-CN" sz="2000" dirty="0">
                <a:solidFill>
                  <a:srgbClr val="000000"/>
                </a:solidFill>
                <a:latin typeface="+mn-ea"/>
              </a:rPr>
              <a:t>"M"</a:t>
            </a:r>
            <a:endParaRPr sz="20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7D54DA9-D465-46AE-980E-ACCF4B54D1D3}"/>
              </a:ext>
            </a:extLst>
          </p:cNvPr>
          <p:cNvSpPr txBox="1"/>
          <p:nvPr/>
        </p:nvSpPr>
        <p:spPr>
          <a:xfrm>
            <a:off x="643596" y="4056160"/>
            <a:ext cx="8897393" cy="143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要求：</a:t>
            </a:r>
            <a:endParaRPr lang="en-US" altLang="zh-CN" sz="2000" b="1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命名规范，包括业务代码、测试代码和提交备注信息</a:t>
            </a:r>
            <a:endParaRPr lang="en-US" altLang="zh-CN" sz="2000" dirty="0"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按前面的演示步骤，践行测试设计原则，小步提交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4852970-E224-41B0-9987-D98CFF99148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019175" y="1528586"/>
            <a:ext cx="10153650" cy="4669014"/>
          </a:xfrm>
        </p:spPr>
        <p:txBody>
          <a:bodyPr/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测试失败的意义</a:t>
            </a:r>
            <a:r>
              <a:rPr lang="zh-CN" altLang="en-US" sz="2000" b="1" dirty="0">
                <a:solidFill>
                  <a:srgbClr val="111111"/>
                </a:solidFill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</a:t>
            </a:r>
            <a:r>
              <a:rPr lang="zh-CN" altLang="en-US" sz="20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确认我们对代码行为的假设是否正确</a:t>
            </a:r>
            <a:endParaRPr lang="zh-CN" altLang="en-US" sz="2000" b="1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小步迭代虽然看似缓慢，但有助于：</a:t>
            </a:r>
          </a:p>
          <a:p>
            <a:pPr lvl="1" algn="l">
              <a:lnSpc>
                <a:spcPct val="150000"/>
              </a:lnSpc>
            </a:pPr>
            <a:r>
              <a:rPr lang="zh-CN" altLang="en-US" sz="18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降低风险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：每次变更都较小，容易定位问题</a:t>
            </a:r>
          </a:p>
          <a:p>
            <a:pPr lvl="1" algn="l">
              <a:lnSpc>
                <a:spcPct val="150000"/>
              </a:lnSpc>
            </a:pPr>
            <a:r>
              <a:rPr lang="zh-CN" altLang="en-US" sz="18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提高代码质量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：每次提交都经过充分测试，确保稳定性</a:t>
            </a:r>
            <a:endParaRPr lang="en-US" altLang="zh-CN" sz="1800" b="0" i="0" dirty="0">
              <a:solidFill>
                <a:srgbClr val="111111"/>
              </a:solidFill>
              <a:effectLst/>
              <a:latin typeface="方正兰亭黑简体" panose="02000000000000000000" pitchFamily="2" charset="-122"/>
              <a:ea typeface="方正兰亭黑简体" panose="02000000000000000000" pitchFamily="2" charset="-122"/>
            </a:endParaRPr>
          </a:p>
          <a:p>
            <a:pPr lvl="1" algn="l">
              <a:lnSpc>
                <a:spcPct val="150000"/>
              </a:lnSpc>
            </a:pPr>
            <a:r>
              <a:rPr lang="zh-CN" altLang="en-US" sz="18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养成良好习惯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：在实训阶段，小步迭代有助于培养良好的开发习惯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代码命名的重要性</a:t>
            </a:r>
          </a:p>
          <a:p>
            <a:pPr lvl="1" algn="l">
              <a:lnSpc>
                <a:spcPct val="150000"/>
              </a:lnSpc>
            </a:pPr>
            <a:r>
              <a:rPr lang="zh-CN" altLang="en-US" sz="18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功能</a:t>
            </a:r>
            <a:r>
              <a:rPr lang="zh-CN" altLang="en-US" sz="18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代码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：清晰的命名有助于理解代码逻辑和功能</a:t>
            </a:r>
          </a:p>
          <a:p>
            <a:pPr lvl="1" algn="l">
              <a:lnSpc>
                <a:spcPct val="150000"/>
              </a:lnSpc>
            </a:pPr>
            <a:r>
              <a:rPr lang="zh-CN" altLang="en-US" sz="18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测试代码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：明确的测试命名可以帮助快速定位和理解测试目的</a:t>
            </a:r>
          </a:p>
          <a:p>
            <a:pPr lvl="1" algn="l">
              <a:lnSpc>
                <a:spcPct val="150000"/>
              </a:lnSpc>
            </a:pPr>
            <a:r>
              <a:rPr lang="en-US" altLang="zh-CN" sz="18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Git</a:t>
            </a:r>
            <a:r>
              <a:rPr lang="zh-CN" altLang="en-US" sz="1800" b="1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提交注释</a:t>
            </a:r>
            <a:r>
              <a:rPr lang="zh-CN" altLang="en-US" sz="1800" b="0" i="0" dirty="0">
                <a:solidFill>
                  <a:srgbClr val="111111"/>
                </a:solidFill>
                <a:effectLst/>
                <a:latin typeface="方正兰亭黑简体" panose="02000000000000000000" pitchFamily="2" charset="-122"/>
                <a:ea typeface="方正兰亭黑简体" panose="02000000000000000000" pitchFamily="2" charset="-122"/>
              </a:rPr>
              <a:t>：详细的提交注释可以记录每次变更的业务背景和目的，方便日后追溯</a:t>
            </a:r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240416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课程导读</a:t>
            </a:r>
          </a:p>
          <a:p>
            <a:pPr>
              <a:lnSpc>
                <a:spcPts val="3600"/>
              </a:lnSpc>
            </a:pP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项目实践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2.1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需求澄清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2.2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接口设计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2.3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2.4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开发者测试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2.5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</a:t>
            </a:r>
          </a:p>
          <a:p>
            <a:pPr marL="782638" lvl="1" indent="-381000">
              <a:lnSpc>
                <a:spcPct val="150000"/>
              </a:lnSpc>
              <a:buSzTx/>
              <a:buNone/>
            </a:pPr>
            <a:r>
              <a:rPr lang="en-US" altLang="zh-CN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2.6 </a:t>
            </a:r>
            <a:r>
              <a:rPr lang="zh-CN" altLang="en-US" sz="2200" dirty="0">
                <a:solidFill>
                  <a:schemeClr val="bg1">
                    <a:lumMod val="50000"/>
                  </a:schemeClr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编码实践</a:t>
            </a:r>
          </a:p>
          <a:p>
            <a:pPr marL="0" indent="0">
              <a:lnSpc>
                <a:spcPts val="3600"/>
              </a:lnSpc>
              <a:buNone/>
            </a:pPr>
            <a:r>
              <a:rPr lang="en-US" altLang="zh-CN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3. </a:t>
            </a:r>
            <a:r>
              <a:rPr lang="zh-CN" altLang="en-US" sz="22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1422351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1019175" y="1601782"/>
            <a:ext cx="10153650" cy="436909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通过本课程的学习，您已经掌握了高质量编程的基础知识，特别是在以下几个方面：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b="1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开发者自测试：</a:t>
            </a:r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学会了如何确保需求的完整性和代码的正确性，掌握了测试的基本理论和方法，并实践了有效的开发者测试技术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b="1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命名规范：</a:t>
            </a:r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您了解并实践了提高代码可读性的命名原则、规范</a:t>
            </a:r>
            <a:endParaRPr lang="en-US" altLang="zh-CN" sz="18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b="1" dirty="0">
                <a:solidFill>
                  <a:srgbClr val="C7000B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代码版本管理：</a:t>
            </a:r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学习了使用</a:t>
            </a:r>
            <a:r>
              <a:rPr lang="en-US" altLang="zh-CN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git</a:t>
            </a:r>
            <a:r>
              <a:rPr lang="zh-CN" altLang="en-US" sz="18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进行代码管理，查看代码的历史版本</a:t>
            </a:r>
            <a:endParaRPr lang="en-US" altLang="zh-CN" sz="18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这些技能和知识将为您在未来的企业软件开发中打下坚实的基础，帮助您成为一名更加专业和高效的软件开发者。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感谢您参与本课程，期待您在未来的软件开发工作中取得更大的成就！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6BF9E3-AFF0-4827-878C-091970C5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731838" y="898653"/>
            <a:ext cx="10728326" cy="3670833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按照移动指令实现的步骤，完成需求</a:t>
            </a:r>
            <a:r>
              <a:rPr lang="en-US" altLang="zh-CN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1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的所有功能（</a:t>
            </a:r>
            <a:r>
              <a:rPr lang="zh-CN" altLang="en-US" sz="2400" dirty="0">
                <a:solidFill>
                  <a:srgbClr val="C00000"/>
                </a:solidFill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转向指令</a:t>
            </a:r>
            <a:r>
              <a:rPr lang="zh-CN" altLang="en-US" sz="24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） ：</a:t>
            </a:r>
            <a:endParaRPr lang="en-US" altLang="zh-CN" sz="24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pPr algn="l"/>
            <a:r>
              <a:rPr lang="zh-CN" altLang="en-US" sz="24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测试先行</a:t>
            </a:r>
            <a:r>
              <a:rPr lang="zh-CN" altLang="en-US" sz="24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：优先编写测试代码，确保每一步都有测试覆盖</a:t>
            </a:r>
          </a:p>
          <a:p>
            <a:pPr algn="l"/>
            <a:r>
              <a:rPr lang="zh-CN" altLang="en-US" sz="24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小步提交</a:t>
            </a:r>
            <a:r>
              <a:rPr lang="zh-CN" altLang="en-US" sz="24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：每次提交代码时，确保变更小且独立，便于回溯和审查</a:t>
            </a:r>
          </a:p>
          <a:p>
            <a:pPr algn="l"/>
            <a:r>
              <a:rPr lang="zh-CN" altLang="en-US" sz="24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清晰的提交注释</a:t>
            </a:r>
            <a:r>
              <a:rPr lang="zh-CN" altLang="en-US" sz="24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：每次提交时，使用明确且无歧义的注释，准确描述本次提交的业务逻辑和变更内容</a:t>
            </a:r>
          </a:p>
          <a:p>
            <a:pPr algn="l"/>
            <a:r>
              <a:rPr lang="zh-CN" altLang="en-US" sz="2400" b="1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一周内完成</a:t>
            </a:r>
            <a:r>
              <a:rPr lang="zh-CN" altLang="en-US" sz="2400" dirty="0">
                <a:solidFill>
                  <a:srgbClr val="111111"/>
                </a:solidFill>
                <a:latin typeface="方正兰亭黑简体" panose="02000000000000000000" pitchFamily="2" charset="-122"/>
              </a:rPr>
              <a:t>：确保在一周内完成所有作业并提交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66FDDE8B-B4D7-43AC-A926-3D900F0CF679}"/>
              </a:ext>
            </a:extLst>
          </p:cNvPr>
          <p:cNvSpPr txBox="1"/>
          <p:nvPr/>
        </p:nvSpPr>
        <p:spPr>
          <a:xfrm>
            <a:off x="792676" y="5010062"/>
            <a:ext cx="10606647" cy="12723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 algn="l">
              <a:lnSpc>
                <a:spcPct val="140000"/>
              </a:lnSpc>
              <a:buFont typeface="Wingdings" panose="05000000000000000000" pitchFamily="2" charset="2"/>
              <a:buChar char="Ø"/>
              <a:defRPr sz="2800">
                <a:latin typeface="方正兰亭黑简体"/>
              </a:defRPr>
            </a:pPr>
            <a:r>
              <a:rPr lang="zh-CN" altLang="en-US" sz="2400" i="0" dirty="0">
                <a:solidFill>
                  <a:srgbClr val="000000"/>
                </a:solidFill>
                <a:latin typeface="+mn-ea"/>
              </a:rPr>
              <a:t>编写的测试代码要符合命名规范</a:t>
            </a:r>
            <a:endParaRPr lang="en-US" altLang="zh-CN" sz="2400" i="0" dirty="0">
              <a:solidFill>
                <a:srgbClr val="000000"/>
              </a:solidFill>
              <a:latin typeface="+mn-ea"/>
            </a:endParaRPr>
          </a:p>
          <a:p>
            <a:pPr marL="342900" indent="-342900">
              <a:lnSpc>
                <a:spcPct val="140000"/>
              </a:lnSpc>
              <a:buFont typeface="Wingdings" panose="05000000000000000000" pitchFamily="2" charset="2"/>
              <a:buChar char="Ø"/>
              <a:defRPr sz="2800">
                <a:latin typeface="方正兰亭黑简体"/>
              </a:defRPr>
            </a:pPr>
            <a:r>
              <a:rPr lang="zh-CN" altLang="en-US" sz="2400" dirty="0">
                <a:solidFill>
                  <a:srgbClr val="000000"/>
                </a:solidFill>
                <a:latin typeface="+mn-ea"/>
              </a:rPr>
              <a:t>编写的业务代码要符合命名规范</a:t>
            </a:r>
            <a:endParaRPr lang="en-US" altLang="zh-CN" sz="2400" i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E49C15-0683-4B78-B6DA-AF40DE4CF97F}"/>
              </a:ext>
            </a:extLst>
          </p:cNvPr>
          <p:cNvSpPr/>
          <p:nvPr/>
        </p:nvSpPr>
        <p:spPr>
          <a:xfrm>
            <a:off x="731838" y="4562506"/>
            <a:ext cx="149701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/>
              <a:t>▲提醒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官网参考资料：</a:t>
            </a:r>
            <a:endParaRPr lang="en-US" altLang="zh-CN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书籍：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2"/>
              </a:rPr>
              <a:t>https://doc.rust-lang.org/stable/book/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手册：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3"/>
              </a:rPr>
              <a:t>https://doc.rust-lang.org/reference/introduction.html</a:t>
            </a:r>
            <a:endParaRPr lang="en-US" altLang="zh-CN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  <a:p>
            <a:r>
              <a:rPr lang="zh-CN" altLang="en-US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</a:rPr>
              <a:t>标准库：</a:t>
            </a:r>
            <a:r>
              <a:rPr lang="en-US" altLang="zh-CN" sz="2000" dirty="0">
                <a:latin typeface="方正兰亭黑简体" panose="02000000000000000000" pitchFamily="2" charset="-122"/>
                <a:cs typeface="+mn-ea"/>
                <a:sym typeface="Huawei Sans" panose="020C0503030203020204" pitchFamily="34" charset="0"/>
                <a:hlinkClick r:id="rId4"/>
              </a:rPr>
              <a:t>https://doc.rust-lang.org/stable/std/</a:t>
            </a:r>
            <a:endParaRPr lang="zh-CN" altLang="en-US" sz="2000" dirty="0">
              <a:latin typeface="方正兰亭黑简体" panose="02000000000000000000" pitchFamily="2" charset="-122"/>
              <a:cs typeface="+mn-ea"/>
              <a:sym typeface="Huawei Sans" panose="020C0503030203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6011685"/>
      </p:ext>
    </p:extLst>
  </p:cSld>
  <p:clrMapOvr>
    <a:masterClrMapping/>
  </p:clrMapOvr>
</p:sld>
</file>

<file path=ppt/theme/theme1.xml><?xml version="1.0" encoding="utf-8"?>
<a:theme xmlns:a="http://schemas.openxmlformats.org/drawingml/2006/main" name="1_标题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功能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内容页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感谢页模板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方正+Huawei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9592</TotalTime>
  <Words>8546</Words>
  <Application>Microsoft Office PowerPoint</Application>
  <PresentationFormat>宽屏</PresentationFormat>
  <Paragraphs>870</Paragraphs>
  <Slides>52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52</vt:i4>
      </vt:variant>
    </vt:vector>
  </HeadingPairs>
  <TitlesOfParts>
    <vt:vector size="63" baseType="lpstr">
      <vt:lpstr>Consolas</vt:lpstr>
      <vt:lpstr>微软雅黑</vt:lpstr>
      <vt:lpstr>方正兰亭黑简体</vt:lpstr>
      <vt:lpstr>微软雅黑</vt:lpstr>
      <vt:lpstr>Wingdings</vt:lpstr>
      <vt:lpstr>Huawei Sans</vt:lpstr>
      <vt:lpstr>Arial</vt:lpstr>
      <vt:lpstr>1_标题页模板</vt:lpstr>
      <vt:lpstr>2_功能页模板</vt:lpstr>
      <vt:lpstr>3_内容页模板</vt:lpstr>
      <vt:lpstr>4_感谢页模板</vt:lpstr>
      <vt:lpstr>Rust语言企业软件开发实践</vt:lpstr>
      <vt:lpstr>前言</vt:lpstr>
      <vt:lpstr>目标</vt:lpstr>
      <vt:lpstr>PowerPoint 演示文稿</vt:lpstr>
      <vt:lpstr>企业软件开发的特点</vt:lpstr>
      <vt:lpstr>课程整体框架</vt:lpstr>
      <vt:lpstr>PowerPoint 演示文稿</vt:lpstr>
      <vt:lpstr>课程实训案例引导</vt:lpstr>
      <vt:lpstr>课程实训需求1：支持基本控制指令</vt:lpstr>
      <vt:lpstr>需求示意图</vt:lpstr>
      <vt:lpstr>PowerPoint 演示文稿</vt:lpstr>
      <vt:lpstr>Executor对外接口如何设计？</vt:lpstr>
      <vt:lpstr>分享时刻</vt:lpstr>
      <vt:lpstr>课程实训需求1 支持基本控制指令</vt:lpstr>
      <vt:lpstr>接口设计</vt:lpstr>
      <vt:lpstr>PowerPoint 演示文稿</vt:lpstr>
      <vt:lpstr>命名规范</vt:lpstr>
      <vt:lpstr>命名实践：接口定义</vt:lpstr>
      <vt:lpstr>PowerPoint 演示文稿</vt:lpstr>
      <vt:lpstr>思考</vt:lpstr>
      <vt:lpstr>PowerPoint 演示文稿</vt:lpstr>
      <vt:lpstr>测试防护网：FIRST原则</vt:lpstr>
      <vt:lpstr>测试防护网：FIRST原则</vt:lpstr>
      <vt:lpstr>测试防护网：FIRST原则</vt:lpstr>
      <vt:lpstr>测试防护网：FIRST原则</vt:lpstr>
      <vt:lpstr>测试防护网：FIRST原则</vt:lpstr>
      <vt:lpstr>测试防护网：正交分解</vt:lpstr>
      <vt:lpstr>测试防护网：测试命名原则</vt:lpstr>
      <vt:lpstr>测试用例设计示例</vt:lpstr>
      <vt:lpstr>PowerPoint 演示文稿</vt:lpstr>
      <vt:lpstr>PowerPoint 演示文稿</vt:lpstr>
      <vt:lpstr>思考</vt:lpstr>
      <vt:lpstr>代码管理</vt:lpstr>
      <vt:lpstr>git常用命令</vt:lpstr>
      <vt:lpstr>代码仓库建立</vt:lpstr>
      <vt:lpstr>PowerPoint 演示文稿</vt:lpstr>
      <vt:lpstr>PowerPoint 演示文稿</vt:lpstr>
      <vt:lpstr>开发者测试主要环节</vt:lpstr>
      <vt:lpstr>如何使用 Rust 语言编写测试用例</vt:lpstr>
      <vt:lpstr>测试用例1：移动指令支持，向东移动1步-测试用例设计</vt:lpstr>
      <vt:lpstr>测试用例1：编译运行测试，得到预期的失败，确保用例有效</vt:lpstr>
      <vt:lpstr>测试用例1：测试用例上库，确保测试用例的独立性</vt:lpstr>
      <vt:lpstr>测试用例1：编写刚好让测试通过的功能代码</vt:lpstr>
      <vt:lpstr>测试用例1-用例执行通过，确保功能实现的正确性</vt:lpstr>
      <vt:lpstr>测试用例1-功能代码提交</vt:lpstr>
      <vt:lpstr>★ 课堂演练：请完成移动指令剩余三个用例，时间20分钟。</vt:lpstr>
      <vt:lpstr>PowerPoint 演示文稿</vt:lpstr>
      <vt:lpstr>PowerPoint 演示文稿</vt:lpstr>
      <vt:lpstr>PowerPoint 演示文稿</vt:lpstr>
      <vt:lpstr>课后作业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fanyan (A)</dc:creator>
  <cp:lastModifiedBy>Zhangyandong (ben)</cp:lastModifiedBy>
  <cp:revision>650</cp:revision>
  <dcterms:created xsi:type="dcterms:W3CDTF">2018-11-29T10:16:29Z</dcterms:created>
  <dcterms:modified xsi:type="dcterms:W3CDTF">2024-10-31T01:02:23Z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(3)VPhih1ZsS+H1fNLsZZ/RKTbFf1faGX072FMObxypwHQN9UT0hthhpmkXLpLt95Bmz/v8/H7C
n0HYUTAFc670b7IyqMXbV9xT9XMELCH+XaTNH/F/QdbN4S725RWimTX4ZHWb0+YEm3Zk1rO7
n44Sd8+skvXia6kdCXassD3cuwPmCd72ux4noj04L2roZGvv9ZX6JfFnYjCjxViHETng4saJ
FQ4CWCb6md+9rFpWQn</vt:lpwstr>
  </property>
  <property fmtid="{D5CDD505-2E9C-101B-9397-08002B2CF9AE}" pid="3" name="_2015_ms_pID_7253431">
    <vt:lpwstr>h8k+HwwpsahpmLeSpcOo9c6KKsNBNx/vMiWjmO8UM8hGsFSWw7Ffae
7jGOZ5cJtPe1PKtf6O1eUw1jRNKAKM+z6HjJbFyTmwspWipP2cHQ+3OvrncJ+FmnOfntTuAp
SP0XUIWw6cENiMRt5yagI6bnWHxgAJLShxrdGwUSWnOuc9lrraw6Z95k4lq1OrMtHUbQ2JhF
/6uPxtA470Qdp/xGTek87AVS1SIqpYY/kQR9</vt:lpwstr>
  </property>
  <property fmtid="{D5CDD505-2E9C-101B-9397-08002B2CF9AE}" pid="4" name="_2015_ms_pID_7253432">
    <vt:lpwstr>fQ==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1730251269</vt:lpwstr>
  </property>
</Properties>
</file>